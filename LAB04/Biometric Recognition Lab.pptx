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9" r:id="rId1"/>
  </p:sldMasterIdLst>
  <p:sldIdLst>
    <p:sldId id="256" r:id="rId2"/>
    <p:sldId id="257" r:id="rId3"/>
    <p:sldId id="258" r:id="rId4"/>
    <p:sldId id="259" r:id="rId5"/>
    <p:sldId id="260" r:id="rId6"/>
    <p:sldId id="261" r:id="rId7"/>
    <p:sldId id="262" r:id="rId8"/>
    <p:sldId id="263" r:id="rId9"/>
    <p:sldId id="265" r:id="rId10"/>
    <p:sldId id="267" r:id="rId11"/>
    <p:sldId id="268" r:id="rId12"/>
    <p:sldId id="269" r:id="rId13"/>
    <p:sldId id="270" r:id="rId14"/>
    <p:sldId id="271" r:id="rId15"/>
    <p:sldId id="272" r:id="rId16"/>
    <p:sldId id="273" r:id="rId17"/>
    <p:sldId id="266" r:id="rId18"/>
    <p:sldId id="274" r:id="rId19"/>
    <p:sldId id="276" r:id="rId20"/>
    <p:sldId id="275" r:id="rId21"/>
    <p:sldId id="277" r:id="rId22"/>
  </p:sldIdLst>
  <p:sldSz cx="9144000" cy="6858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21" autoAdjust="0"/>
    <p:restoredTop sz="94660"/>
  </p:normalViewPr>
  <p:slideViewPr>
    <p:cSldViewPr snapToGrid="0">
      <p:cViewPr varScale="1">
        <p:scale>
          <a:sx n="117" d="100"/>
          <a:sy n="117" d="100"/>
        </p:scale>
        <p:origin x="1552"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Toiflhart" userId="6cce3e90-9446-4f28-9ab2-8ffb105866b3" providerId="ADAL" clId="{13835CF6-0D60-5D43-A1EA-672224264875}"/>
    <pc:docChg chg="modSld">
      <pc:chgData name="Marc Toiflhart" userId="6cce3e90-9446-4f28-9ab2-8ffb105866b3" providerId="ADAL" clId="{13835CF6-0D60-5D43-A1EA-672224264875}" dt="2025-10-26T15:50:12.351" v="2" actId="1036"/>
      <pc:docMkLst>
        <pc:docMk/>
      </pc:docMkLst>
      <pc:sldChg chg="modSp mod">
        <pc:chgData name="Marc Toiflhart" userId="6cce3e90-9446-4f28-9ab2-8ffb105866b3" providerId="ADAL" clId="{13835CF6-0D60-5D43-A1EA-672224264875}" dt="2025-10-26T15:50:12.351" v="2" actId="1036"/>
        <pc:sldMkLst>
          <pc:docMk/>
          <pc:sldMk cId="3423548906" sldId="275"/>
        </pc:sldMkLst>
        <pc:spChg chg="mod">
          <ac:chgData name="Marc Toiflhart" userId="6cce3e90-9446-4f28-9ab2-8ffb105866b3" providerId="ADAL" clId="{13835CF6-0D60-5D43-A1EA-672224264875}" dt="2025-10-26T15:50:12.351" v="2" actId="1036"/>
          <ac:spMkLst>
            <pc:docMk/>
            <pc:sldMk cId="3423548906" sldId="275"/>
            <ac:spMk id="2" creationId="{F2075BA7-BE2F-42BB-AE2A-1C76634B1B54}"/>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Rubrikbild">
    <p:spTree>
      <p:nvGrpSpPr>
        <p:cNvPr id="1" name=""/>
        <p:cNvGrpSpPr/>
        <p:nvPr/>
      </p:nvGrpSpPr>
      <p:grpSpPr>
        <a:xfrm>
          <a:off x="0" y="0"/>
          <a:ext cx="0" cy="0"/>
          <a:chOff x="0" y="0"/>
          <a:chExt cx="0" cy="0"/>
        </a:xfrm>
      </p:grpSpPr>
      <p:pic>
        <p:nvPicPr>
          <p:cNvPr id="10" name="Bildobjekt 9" descr="HH_ENG_Liggande.png"/>
          <p:cNvPicPr>
            <a:picLocks noChangeAspect="1"/>
          </p:cNvPicPr>
          <p:nvPr userDrawn="1"/>
        </p:nvPicPr>
        <p:blipFill>
          <a:blip r:embed="rId2"/>
          <a:stretch>
            <a:fillRect/>
          </a:stretch>
        </p:blipFill>
        <p:spPr>
          <a:xfrm>
            <a:off x="318093" y="223136"/>
            <a:ext cx="1780736" cy="587681"/>
          </a:xfrm>
          <a:prstGeom prst="rect">
            <a:avLst/>
          </a:prstGeom>
        </p:spPr>
      </p:pic>
      <p:pic>
        <p:nvPicPr>
          <p:cNvPr id="7" name="Bildobjekt 6" descr="Mönster ppt.png"/>
          <p:cNvPicPr>
            <a:picLocks noChangeAspect="1"/>
          </p:cNvPicPr>
          <p:nvPr userDrawn="1"/>
        </p:nvPicPr>
        <p:blipFill>
          <a:blip r:embed="rId3"/>
          <a:srcRect t="20093" r="4333" b="28800"/>
          <a:stretch>
            <a:fillRect/>
          </a:stretch>
        </p:blipFill>
        <p:spPr>
          <a:xfrm>
            <a:off x="325651" y="1031279"/>
            <a:ext cx="8513549" cy="5217122"/>
          </a:xfrm>
          <a:prstGeom prst="rect">
            <a:avLst/>
          </a:prstGeom>
        </p:spPr>
      </p:pic>
      <p:sp>
        <p:nvSpPr>
          <p:cNvPr id="2" name="Rubrik 1"/>
          <p:cNvSpPr>
            <a:spLocks noGrp="1"/>
          </p:cNvSpPr>
          <p:nvPr>
            <p:ph type="ctrTitle"/>
          </p:nvPr>
        </p:nvSpPr>
        <p:spPr>
          <a:xfrm>
            <a:off x="685800" y="2130425"/>
            <a:ext cx="7772400" cy="1470025"/>
          </a:xfrm>
        </p:spPr>
        <p:txBody>
          <a:bodyPr/>
          <a:lstStyle>
            <a:lvl1pPr algn="ctr">
              <a:defRPr>
                <a:solidFill>
                  <a:schemeClr val="bg1"/>
                </a:solidFill>
              </a:defRPr>
            </a:lvl1pPr>
          </a:lstStyle>
          <a:p>
            <a:r>
              <a:rPr lang="en-US"/>
              <a:t>Click to edit Master title style</a:t>
            </a:r>
            <a:endParaRPr lang="sv-SE"/>
          </a:p>
        </p:txBody>
      </p:sp>
      <p:sp>
        <p:nvSpPr>
          <p:cNvPr id="3" name="Underrubrik 2"/>
          <p:cNvSpPr>
            <a:spLocks noGrp="1"/>
          </p:cNvSpPr>
          <p:nvPr>
            <p:ph type="subTitle" idx="1"/>
          </p:nvPr>
        </p:nvSpPr>
        <p:spPr>
          <a:xfrm>
            <a:off x="1371600" y="3886200"/>
            <a:ext cx="6400800" cy="1752600"/>
          </a:xfrm>
        </p:spPr>
        <p:txBody>
          <a:bodyPr/>
          <a:lstStyle>
            <a:lvl1pPr marL="0" indent="0" algn="ctr">
              <a:buNone/>
              <a:defRPr>
                <a:solidFill>
                  <a:schemeClr val="bg1">
                    <a:lumMod val="9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sv-SE" dirty="0"/>
          </a:p>
        </p:txBody>
      </p:sp>
      <p:sp>
        <p:nvSpPr>
          <p:cNvPr id="4" name="Platshållare för datum 3"/>
          <p:cNvSpPr>
            <a:spLocks noGrp="1"/>
          </p:cNvSpPr>
          <p:nvPr>
            <p:ph type="dt" sz="half" idx="10"/>
          </p:nvPr>
        </p:nvSpPr>
        <p:spPr/>
        <p:txBody>
          <a:bodyPr/>
          <a:lstStyle/>
          <a:p>
            <a:fld id="{E77EB496-ABEF-44ED-A2F0-F0CF274C688E}" type="datetimeFigureOut">
              <a:rPr lang="sv-SE" smtClean="0"/>
              <a:t>2025-10-26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7F1778D9-81D2-4496-A352-7CD7B16C1ED3}" type="slidenum">
              <a:rPr lang="sv-SE" smtClean="0"/>
              <a:t>‹#›</a:t>
            </a:fld>
            <a:endParaRPr lang="sv-SE"/>
          </a:p>
        </p:txBody>
      </p:sp>
      <p:pic>
        <p:nvPicPr>
          <p:cNvPr id="9" name="Bildobjekt 8" descr="Sidfot_lång.png"/>
          <p:cNvPicPr>
            <a:picLocks noChangeAspect="1"/>
          </p:cNvPicPr>
          <p:nvPr userDrawn="1"/>
        </p:nvPicPr>
        <p:blipFill>
          <a:blip r:embed="rId4"/>
          <a:stretch>
            <a:fillRect/>
          </a:stretch>
        </p:blipFill>
        <p:spPr>
          <a:xfrm>
            <a:off x="1" y="6480431"/>
            <a:ext cx="1600200" cy="241044"/>
          </a:xfrm>
          <a:prstGeom prst="rect">
            <a:avLst/>
          </a:prstGeom>
        </p:spPr>
      </p:pic>
    </p:spTree>
    <p:extLst>
      <p:ext uri="{BB962C8B-B14F-4D97-AF65-F5344CB8AC3E}">
        <p14:creationId xmlns:p14="http://schemas.microsoft.com/office/powerpoint/2010/main" val="3042203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a:xfrm>
            <a:off x="457199" y="273600"/>
            <a:ext cx="8368749" cy="1143000"/>
          </a:xfrm>
        </p:spPr>
        <p:txBody>
          <a:bodyPr/>
          <a:lstStyle/>
          <a:p>
            <a:r>
              <a:rPr lang="en-US"/>
              <a:t>Click to edit Master title style</a:t>
            </a:r>
            <a:endParaRPr lang="sv-SE"/>
          </a:p>
        </p:txBody>
      </p:sp>
      <p:sp>
        <p:nvSpPr>
          <p:cNvPr id="3" name="Platshållare för innehåll 2"/>
          <p:cNvSpPr>
            <a:spLocks noGrp="1"/>
          </p:cNvSpPr>
          <p:nvPr>
            <p:ph idx="1"/>
          </p:nvPr>
        </p:nvSpPr>
        <p:spPr>
          <a:xfrm>
            <a:off x="457200" y="1602000"/>
            <a:ext cx="8368748"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t>2025-10-26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7F1778D9-81D2-4496-A352-7CD7B16C1ED3}" type="slidenum">
              <a:rPr lang="sv-SE" smtClean="0"/>
              <a:t>‹#›</a:t>
            </a:fld>
            <a:endParaRPr lang="sv-SE"/>
          </a:p>
        </p:txBody>
      </p:sp>
    </p:spTree>
    <p:extLst>
      <p:ext uri="{BB962C8B-B14F-4D97-AF65-F5344CB8AC3E}">
        <p14:creationId xmlns:p14="http://schemas.microsoft.com/office/powerpoint/2010/main" val="4258067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Rubrikbild - Blå">
    <p:spTree>
      <p:nvGrpSpPr>
        <p:cNvPr id="1" name=""/>
        <p:cNvGrpSpPr/>
        <p:nvPr/>
      </p:nvGrpSpPr>
      <p:grpSpPr>
        <a:xfrm>
          <a:off x="0" y="0"/>
          <a:ext cx="0" cy="0"/>
          <a:chOff x="0" y="0"/>
          <a:chExt cx="0" cy="0"/>
        </a:xfrm>
      </p:grpSpPr>
      <p:pic>
        <p:nvPicPr>
          <p:cNvPr id="11" name="Bildobjekt 10" descr="HH_ENG_Liggande.png"/>
          <p:cNvPicPr>
            <a:picLocks noChangeAspect="1"/>
          </p:cNvPicPr>
          <p:nvPr userDrawn="1"/>
        </p:nvPicPr>
        <p:blipFill>
          <a:blip r:embed="rId2"/>
          <a:stretch>
            <a:fillRect/>
          </a:stretch>
        </p:blipFill>
        <p:spPr>
          <a:xfrm>
            <a:off x="318093" y="223136"/>
            <a:ext cx="1780736" cy="587681"/>
          </a:xfrm>
          <a:prstGeom prst="rect">
            <a:avLst/>
          </a:prstGeom>
        </p:spPr>
      </p:pic>
      <p:sp>
        <p:nvSpPr>
          <p:cNvPr id="8" name="Rektangel 7"/>
          <p:cNvSpPr/>
          <p:nvPr userDrawn="1"/>
        </p:nvSpPr>
        <p:spPr>
          <a:xfrm>
            <a:off x="325651" y="1031279"/>
            <a:ext cx="8513549" cy="5217122"/>
          </a:xfrm>
          <a:prstGeom prst="rect">
            <a:avLst/>
          </a:prstGeom>
          <a:solidFill>
            <a:srgbClr val="004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2" name="Rubrik 1"/>
          <p:cNvSpPr>
            <a:spLocks noGrp="1"/>
          </p:cNvSpPr>
          <p:nvPr>
            <p:ph type="ctrTitle"/>
          </p:nvPr>
        </p:nvSpPr>
        <p:spPr>
          <a:xfrm>
            <a:off x="685800" y="2130425"/>
            <a:ext cx="7772400" cy="1470025"/>
          </a:xfrm>
        </p:spPr>
        <p:txBody>
          <a:bodyPr/>
          <a:lstStyle>
            <a:lvl1pPr algn="ctr">
              <a:defRPr>
                <a:solidFill>
                  <a:schemeClr val="bg1"/>
                </a:solidFill>
              </a:defRPr>
            </a:lvl1pPr>
          </a:lstStyle>
          <a:p>
            <a:r>
              <a:rPr lang="en-US"/>
              <a:t>Click to edit Master title style</a:t>
            </a:r>
            <a:endParaRPr lang="sv-SE" dirty="0"/>
          </a:p>
        </p:txBody>
      </p:sp>
      <p:sp>
        <p:nvSpPr>
          <p:cNvPr id="3" name="Underrubrik 2"/>
          <p:cNvSpPr>
            <a:spLocks noGrp="1"/>
          </p:cNvSpPr>
          <p:nvPr>
            <p:ph type="subTitle" idx="1"/>
          </p:nvPr>
        </p:nvSpPr>
        <p:spPr>
          <a:xfrm>
            <a:off x="1371600" y="3886200"/>
            <a:ext cx="6400800" cy="1752600"/>
          </a:xfrm>
        </p:spPr>
        <p:txBody>
          <a:bodyPr/>
          <a:lstStyle>
            <a:lvl1pPr marL="0" indent="0" algn="ctr">
              <a:buNone/>
              <a:defRPr>
                <a:solidFill>
                  <a:schemeClr val="bg1">
                    <a:lumMod val="9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t>2025-10-26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7F1778D9-81D2-4496-A352-7CD7B16C1ED3}" type="slidenum">
              <a:rPr lang="sv-SE" smtClean="0"/>
              <a:t>‹#›</a:t>
            </a:fld>
            <a:endParaRPr lang="sv-SE"/>
          </a:p>
        </p:txBody>
      </p:sp>
      <p:pic>
        <p:nvPicPr>
          <p:cNvPr id="9" name="Bildobjekt 8" descr="Sidfot_lång.png"/>
          <p:cNvPicPr>
            <a:picLocks noChangeAspect="1"/>
          </p:cNvPicPr>
          <p:nvPr userDrawn="1"/>
        </p:nvPicPr>
        <p:blipFill>
          <a:blip r:embed="rId3"/>
          <a:stretch>
            <a:fillRect/>
          </a:stretch>
        </p:blipFill>
        <p:spPr>
          <a:xfrm>
            <a:off x="1" y="6480431"/>
            <a:ext cx="1600200" cy="241044"/>
          </a:xfrm>
          <a:prstGeom prst="rect">
            <a:avLst/>
          </a:prstGeom>
        </p:spPr>
      </p:pic>
    </p:spTree>
    <p:extLst>
      <p:ext uri="{BB962C8B-B14F-4D97-AF65-F5344CB8AC3E}">
        <p14:creationId xmlns:p14="http://schemas.microsoft.com/office/powerpoint/2010/main" val="2711832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Rubrikbild - Vit">
    <p:spTree>
      <p:nvGrpSpPr>
        <p:cNvPr id="1" name=""/>
        <p:cNvGrpSpPr/>
        <p:nvPr/>
      </p:nvGrpSpPr>
      <p:grpSpPr>
        <a:xfrm>
          <a:off x="0" y="0"/>
          <a:ext cx="0" cy="0"/>
          <a:chOff x="0" y="0"/>
          <a:chExt cx="0" cy="0"/>
        </a:xfrm>
      </p:grpSpPr>
      <p:pic>
        <p:nvPicPr>
          <p:cNvPr id="9" name="Bildobjekt 8" descr="HH_ENG_Liggande.png"/>
          <p:cNvPicPr>
            <a:picLocks noChangeAspect="1"/>
          </p:cNvPicPr>
          <p:nvPr userDrawn="1"/>
        </p:nvPicPr>
        <p:blipFill>
          <a:blip r:embed="rId2"/>
          <a:stretch>
            <a:fillRect/>
          </a:stretch>
        </p:blipFill>
        <p:spPr>
          <a:xfrm>
            <a:off x="318093" y="223136"/>
            <a:ext cx="1780736" cy="587681"/>
          </a:xfrm>
          <a:prstGeom prst="rect">
            <a:avLst/>
          </a:prstGeom>
        </p:spPr>
      </p:pic>
      <p:sp>
        <p:nvSpPr>
          <p:cNvPr id="2" name="Rubrik 1"/>
          <p:cNvSpPr>
            <a:spLocks noGrp="1"/>
          </p:cNvSpPr>
          <p:nvPr>
            <p:ph type="ctrTitle"/>
          </p:nvPr>
        </p:nvSpPr>
        <p:spPr>
          <a:xfrm>
            <a:off x="685800" y="2130425"/>
            <a:ext cx="7772400" cy="1470025"/>
          </a:xfrm>
        </p:spPr>
        <p:txBody>
          <a:bodyPr/>
          <a:lstStyle>
            <a:lvl1pPr algn="ctr">
              <a:defRPr>
                <a:solidFill>
                  <a:schemeClr val="tx1"/>
                </a:solidFill>
              </a:defRPr>
            </a:lvl1pPr>
          </a:lstStyle>
          <a:p>
            <a:r>
              <a:rPr lang="en-US"/>
              <a:t>Click to edit Master title style</a:t>
            </a:r>
            <a:endParaRPr lang="sv-SE" dirty="0"/>
          </a:p>
        </p:txBody>
      </p:sp>
      <p:sp>
        <p:nvSpPr>
          <p:cNvPr id="3" name="Underrubrik 2"/>
          <p:cNvSpPr>
            <a:spLocks noGrp="1"/>
          </p:cNvSpPr>
          <p:nvPr>
            <p:ph type="subTitle" idx="1"/>
          </p:nvPr>
        </p:nvSpPr>
        <p:spPr>
          <a:xfrm>
            <a:off x="1371600" y="3886200"/>
            <a:ext cx="6400800" cy="1752600"/>
          </a:xfrm>
        </p:spPr>
        <p:txBody>
          <a:bodyPr/>
          <a:lstStyle>
            <a:lvl1pPr marL="0" indent="0" algn="ctr">
              <a:buNone/>
              <a:defRPr>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t>2025-10-26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7F1778D9-81D2-4496-A352-7CD7B16C1ED3}" type="slidenum">
              <a:rPr lang="sv-SE" smtClean="0"/>
              <a:t>‹#›</a:t>
            </a:fld>
            <a:endParaRPr lang="sv-SE"/>
          </a:p>
        </p:txBody>
      </p:sp>
      <p:pic>
        <p:nvPicPr>
          <p:cNvPr id="8" name="Bildobjekt 7" descr="Sidfot_lång.png"/>
          <p:cNvPicPr>
            <a:picLocks noChangeAspect="1"/>
          </p:cNvPicPr>
          <p:nvPr userDrawn="1"/>
        </p:nvPicPr>
        <p:blipFill>
          <a:blip r:embed="rId3"/>
          <a:stretch>
            <a:fillRect/>
          </a:stretch>
        </p:blipFill>
        <p:spPr>
          <a:xfrm>
            <a:off x="1" y="6480431"/>
            <a:ext cx="1600200" cy="241044"/>
          </a:xfrm>
          <a:prstGeom prst="rect">
            <a:avLst/>
          </a:prstGeom>
        </p:spPr>
      </p:pic>
    </p:spTree>
    <p:extLst>
      <p:ext uri="{BB962C8B-B14F-4D97-AF65-F5344CB8AC3E}">
        <p14:creationId xmlns:p14="http://schemas.microsoft.com/office/powerpoint/2010/main" val="683922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a:t>Click to edit Master title style</a:t>
            </a:r>
            <a:endParaRPr lang="sv-SE"/>
          </a:p>
        </p:txBody>
      </p:sp>
      <p:sp>
        <p:nvSpPr>
          <p:cNvPr id="3" name="Platshållare för innehåll 2"/>
          <p:cNvSpPr>
            <a:spLocks noGrp="1"/>
          </p:cNvSpPr>
          <p:nvPr>
            <p:ph sz="half" idx="1"/>
          </p:nvPr>
        </p:nvSpPr>
        <p:spPr>
          <a:xfrm>
            <a:off x="457200" y="1602000"/>
            <a:ext cx="4104000" cy="452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innehåll 3"/>
          <p:cNvSpPr>
            <a:spLocks noGrp="1"/>
          </p:cNvSpPr>
          <p:nvPr>
            <p:ph sz="half" idx="2"/>
          </p:nvPr>
        </p:nvSpPr>
        <p:spPr>
          <a:xfrm>
            <a:off x="4715310" y="1602000"/>
            <a:ext cx="4104000" cy="452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p:cNvSpPr>
            <a:spLocks noGrp="1"/>
          </p:cNvSpPr>
          <p:nvPr>
            <p:ph type="dt" sz="half" idx="10"/>
          </p:nvPr>
        </p:nvSpPr>
        <p:spPr/>
        <p:txBody>
          <a:bodyPr/>
          <a:lstStyle/>
          <a:p>
            <a:fld id="{E77EB496-ABEF-44ED-A2F0-F0CF274C688E}" type="datetimeFigureOut">
              <a:rPr lang="sv-SE" smtClean="0"/>
              <a:t>2025-10-26</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7F1778D9-81D2-4496-A352-7CD7B16C1ED3}" type="slidenum">
              <a:rPr lang="sv-SE" smtClean="0"/>
              <a:t>‹#›</a:t>
            </a:fld>
            <a:endParaRPr lang="sv-SE"/>
          </a:p>
        </p:txBody>
      </p:sp>
    </p:spTree>
    <p:extLst>
      <p:ext uri="{BB962C8B-B14F-4D97-AF65-F5344CB8AC3E}">
        <p14:creationId xmlns:p14="http://schemas.microsoft.com/office/powerpoint/2010/main" val="501715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457200" y="273600"/>
            <a:ext cx="8368749" cy="1143000"/>
          </a:xfrm>
        </p:spPr>
        <p:txBody>
          <a:bodyPr/>
          <a:lstStyle>
            <a:lvl1pPr>
              <a:defRPr/>
            </a:lvl1pPr>
          </a:lstStyle>
          <a:p>
            <a:r>
              <a:rPr lang="en-US"/>
              <a:t>Click to edit Master title style</a:t>
            </a:r>
            <a:endParaRPr lang="sv-SE" dirty="0"/>
          </a:p>
        </p:txBody>
      </p:sp>
      <p:sp>
        <p:nvSpPr>
          <p:cNvPr id="3" name="Platshållare för text 2"/>
          <p:cNvSpPr>
            <a:spLocks noGrp="1"/>
          </p:cNvSpPr>
          <p:nvPr>
            <p:ph type="body" idx="1"/>
          </p:nvPr>
        </p:nvSpPr>
        <p:spPr>
          <a:xfrm>
            <a:off x="457200" y="1485143"/>
            <a:ext cx="4104000" cy="531604"/>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Platshållare för innehåll 3"/>
          <p:cNvSpPr>
            <a:spLocks noGrp="1"/>
          </p:cNvSpPr>
          <p:nvPr>
            <p:ph sz="half" idx="2"/>
          </p:nvPr>
        </p:nvSpPr>
        <p:spPr>
          <a:xfrm>
            <a:off x="457200" y="2084400"/>
            <a:ext cx="4104000" cy="4018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p:cNvSpPr>
            <a:spLocks noGrp="1"/>
          </p:cNvSpPr>
          <p:nvPr>
            <p:ph type="body" sz="quarter" idx="3"/>
          </p:nvPr>
        </p:nvSpPr>
        <p:spPr>
          <a:xfrm>
            <a:off x="4708822" y="1485143"/>
            <a:ext cx="4104000" cy="531604"/>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Platshållare för innehåll 5"/>
          <p:cNvSpPr>
            <a:spLocks noGrp="1"/>
          </p:cNvSpPr>
          <p:nvPr>
            <p:ph sz="quarter" idx="4"/>
          </p:nvPr>
        </p:nvSpPr>
        <p:spPr>
          <a:xfrm>
            <a:off x="4708822" y="2084400"/>
            <a:ext cx="4104000" cy="4018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Platshållare för datum 6"/>
          <p:cNvSpPr>
            <a:spLocks noGrp="1"/>
          </p:cNvSpPr>
          <p:nvPr>
            <p:ph type="dt" sz="half" idx="10"/>
          </p:nvPr>
        </p:nvSpPr>
        <p:spPr/>
        <p:txBody>
          <a:bodyPr/>
          <a:lstStyle/>
          <a:p>
            <a:fld id="{E77EB496-ABEF-44ED-A2F0-F0CF274C688E}" type="datetimeFigureOut">
              <a:rPr lang="sv-SE" smtClean="0"/>
              <a:t>2025-10-26</a:t>
            </a:fld>
            <a:endParaRPr lang="sv-SE"/>
          </a:p>
        </p:txBody>
      </p:sp>
      <p:sp>
        <p:nvSpPr>
          <p:cNvPr id="8" name="Platshållare för sidfot 7"/>
          <p:cNvSpPr>
            <a:spLocks noGrp="1"/>
          </p:cNvSpPr>
          <p:nvPr>
            <p:ph type="ftr" sz="quarter" idx="11"/>
          </p:nvPr>
        </p:nvSpPr>
        <p:spPr/>
        <p:txBody>
          <a:bodyPr/>
          <a:lstStyle/>
          <a:p>
            <a:endParaRPr lang="sv-SE"/>
          </a:p>
        </p:txBody>
      </p:sp>
      <p:sp>
        <p:nvSpPr>
          <p:cNvPr id="9" name="Platshållare för bildnummer 8"/>
          <p:cNvSpPr>
            <a:spLocks noGrp="1"/>
          </p:cNvSpPr>
          <p:nvPr>
            <p:ph type="sldNum" sz="quarter" idx="12"/>
          </p:nvPr>
        </p:nvSpPr>
        <p:spPr/>
        <p:txBody>
          <a:bodyPr/>
          <a:lstStyle/>
          <a:p>
            <a:fld id="{7F1778D9-81D2-4496-A352-7CD7B16C1ED3}" type="slidenum">
              <a:rPr lang="sv-SE" smtClean="0"/>
              <a:t>‹#›</a:t>
            </a:fld>
            <a:endParaRPr lang="sv-SE"/>
          </a:p>
        </p:txBody>
      </p:sp>
    </p:spTree>
    <p:extLst>
      <p:ext uri="{BB962C8B-B14F-4D97-AF65-F5344CB8AC3E}">
        <p14:creationId xmlns:p14="http://schemas.microsoft.com/office/powerpoint/2010/main" val="3450309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a:t>Click to edit Master title style</a:t>
            </a:r>
            <a:endParaRPr lang="sv-SE" dirty="0"/>
          </a:p>
        </p:txBody>
      </p:sp>
      <p:sp>
        <p:nvSpPr>
          <p:cNvPr id="3" name="Platshållare för datum 2"/>
          <p:cNvSpPr>
            <a:spLocks noGrp="1"/>
          </p:cNvSpPr>
          <p:nvPr>
            <p:ph type="dt" sz="half" idx="10"/>
          </p:nvPr>
        </p:nvSpPr>
        <p:spPr/>
        <p:txBody>
          <a:bodyPr/>
          <a:lstStyle/>
          <a:p>
            <a:fld id="{E77EB496-ABEF-44ED-A2F0-F0CF274C688E}" type="datetimeFigureOut">
              <a:rPr lang="sv-SE" smtClean="0"/>
              <a:t>2025-10-26</a:t>
            </a:fld>
            <a:endParaRPr lang="sv-SE"/>
          </a:p>
        </p:txBody>
      </p:sp>
      <p:sp>
        <p:nvSpPr>
          <p:cNvPr id="4" name="Platshållare för sidfot 3"/>
          <p:cNvSpPr>
            <a:spLocks noGrp="1"/>
          </p:cNvSpPr>
          <p:nvPr>
            <p:ph type="ftr" sz="quarter" idx="11"/>
          </p:nvPr>
        </p:nvSpPr>
        <p:spPr/>
        <p:txBody>
          <a:bodyPr/>
          <a:lstStyle/>
          <a:p>
            <a:endParaRPr lang="sv-SE"/>
          </a:p>
        </p:txBody>
      </p:sp>
      <p:sp>
        <p:nvSpPr>
          <p:cNvPr id="5" name="Platshållare för bildnummer 4"/>
          <p:cNvSpPr>
            <a:spLocks noGrp="1"/>
          </p:cNvSpPr>
          <p:nvPr>
            <p:ph type="sldNum" sz="quarter" idx="12"/>
          </p:nvPr>
        </p:nvSpPr>
        <p:spPr/>
        <p:txBody>
          <a:bodyPr/>
          <a:lstStyle/>
          <a:p>
            <a:fld id="{7F1778D9-81D2-4496-A352-7CD7B16C1ED3}" type="slidenum">
              <a:rPr lang="sv-SE" smtClean="0"/>
              <a:t>‹#›</a:t>
            </a:fld>
            <a:endParaRPr lang="sv-SE"/>
          </a:p>
        </p:txBody>
      </p:sp>
    </p:spTree>
    <p:extLst>
      <p:ext uri="{BB962C8B-B14F-4D97-AF65-F5344CB8AC3E}">
        <p14:creationId xmlns:p14="http://schemas.microsoft.com/office/powerpoint/2010/main" val="3811237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E77EB496-ABEF-44ED-A2F0-F0CF274C688E}" type="datetimeFigureOut">
              <a:rPr lang="sv-SE" smtClean="0"/>
              <a:t>2025-10-26</a:t>
            </a:fld>
            <a:endParaRPr lang="sv-SE"/>
          </a:p>
        </p:txBody>
      </p:sp>
      <p:sp>
        <p:nvSpPr>
          <p:cNvPr id="3" name="Platshållare för sidfot 2"/>
          <p:cNvSpPr>
            <a:spLocks noGrp="1"/>
          </p:cNvSpPr>
          <p:nvPr>
            <p:ph type="ftr" sz="quarter" idx="11"/>
          </p:nvPr>
        </p:nvSpPr>
        <p:spPr/>
        <p:txBody>
          <a:bodyPr/>
          <a:lstStyle/>
          <a:p>
            <a:endParaRPr lang="sv-SE"/>
          </a:p>
        </p:txBody>
      </p:sp>
      <p:sp>
        <p:nvSpPr>
          <p:cNvPr id="4" name="Platshållare för bildnummer 3"/>
          <p:cNvSpPr>
            <a:spLocks noGrp="1"/>
          </p:cNvSpPr>
          <p:nvPr>
            <p:ph type="sldNum" sz="quarter" idx="12"/>
          </p:nvPr>
        </p:nvSpPr>
        <p:spPr/>
        <p:txBody>
          <a:bodyPr/>
          <a:lstStyle/>
          <a:p>
            <a:fld id="{7F1778D9-81D2-4496-A352-7CD7B16C1ED3}" type="slidenum">
              <a:rPr lang="sv-SE" smtClean="0"/>
              <a:t>‹#›</a:t>
            </a:fld>
            <a:endParaRPr lang="sv-SE"/>
          </a:p>
        </p:txBody>
      </p:sp>
    </p:spTree>
    <p:extLst>
      <p:ext uri="{BB962C8B-B14F-4D97-AF65-F5344CB8AC3E}">
        <p14:creationId xmlns:p14="http://schemas.microsoft.com/office/powerpoint/2010/main" val="4184103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sv-SE"/>
          </a:p>
        </p:txBody>
      </p:sp>
      <p:sp>
        <p:nvSpPr>
          <p:cNvPr id="3" name="Platshållare för innehåll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Platshållare för datum 4"/>
          <p:cNvSpPr>
            <a:spLocks noGrp="1"/>
          </p:cNvSpPr>
          <p:nvPr>
            <p:ph type="dt" sz="half" idx="10"/>
          </p:nvPr>
        </p:nvSpPr>
        <p:spPr/>
        <p:txBody>
          <a:bodyPr/>
          <a:lstStyle/>
          <a:p>
            <a:fld id="{E77EB496-ABEF-44ED-A2F0-F0CF274C688E}" type="datetimeFigureOut">
              <a:rPr lang="sv-SE" smtClean="0"/>
              <a:t>2025-10-26</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7F1778D9-81D2-4496-A352-7CD7B16C1ED3}" type="slidenum">
              <a:rPr lang="sv-SE" smtClean="0"/>
              <a:t>‹#›</a:t>
            </a:fld>
            <a:endParaRPr lang="sv-SE"/>
          </a:p>
        </p:txBody>
      </p:sp>
    </p:spTree>
    <p:extLst>
      <p:ext uri="{BB962C8B-B14F-4D97-AF65-F5344CB8AC3E}">
        <p14:creationId xmlns:p14="http://schemas.microsoft.com/office/powerpoint/2010/main" val="669796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sv-SE"/>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sv-SE"/>
          </a:p>
        </p:txBody>
      </p:sp>
      <p:sp>
        <p:nvSpPr>
          <p:cNvPr id="4" name="Platshållare för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Platshållare för datum 4"/>
          <p:cNvSpPr>
            <a:spLocks noGrp="1"/>
          </p:cNvSpPr>
          <p:nvPr>
            <p:ph type="dt" sz="half" idx="10"/>
          </p:nvPr>
        </p:nvSpPr>
        <p:spPr/>
        <p:txBody>
          <a:bodyPr/>
          <a:lstStyle/>
          <a:p>
            <a:fld id="{E77EB496-ABEF-44ED-A2F0-F0CF274C688E}" type="datetimeFigureOut">
              <a:rPr lang="sv-SE" smtClean="0"/>
              <a:t>2025-10-26</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7F1778D9-81D2-4496-A352-7CD7B16C1ED3}" type="slidenum">
              <a:rPr lang="sv-SE" smtClean="0"/>
              <a:t>‹#›</a:t>
            </a:fld>
            <a:endParaRPr lang="sv-SE"/>
          </a:p>
        </p:txBody>
      </p:sp>
    </p:spTree>
    <p:extLst>
      <p:ext uri="{BB962C8B-B14F-4D97-AF65-F5344CB8AC3E}">
        <p14:creationId xmlns:p14="http://schemas.microsoft.com/office/powerpoint/2010/main" val="4268526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a:t>Click to edit Master title style</a:t>
            </a:r>
            <a:endParaRPr lang="sv-SE"/>
          </a:p>
        </p:txBody>
      </p:sp>
      <p:sp>
        <p:nvSpPr>
          <p:cNvPr id="3" name="Platshållare för lodrät text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t>2025-10-26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7F1778D9-81D2-4496-A352-7CD7B16C1ED3}" type="slidenum">
              <a:rPr lang="sv-SE" smtClean="0"/>
              <a:t>‹#›</a:t>
            </a:fld>
            <a:endParaRPr lang="sv-SE"/>
          </a:p>
        </p:txBody>
      </p:sp>
    </p:spTree>
    <p:extLst>
      <p:ext uri="{BB962C8B-B14F-4D97-AF65-F5344CB8AC3E}">
        <p14:creationId xmlns:p14="http://schemas.microsoft.com/office/powerpoint/2010/main" val="3103061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629400" y="274638"/>
            <a:ext cx="2057400" cy="5851525"/>
          </a:xfrm>
        </p:spPr>
        <p:txBody>
          <a:bodyPr vert="eaVert"/>
          <a:lstStyle/>
          <a:p>
            <a:r>
              <a:rPr lang="en-US"/>
              <a:t>Click to edit Master title style</a:t>
            </a:r>
            <a:endParaRPr lang="sv-SE"/>
          </a:p>
        </p:txBody>
      </p:sp>
      <p:sp>
        <p:nvSpPr>
          <p:cNvPr id="3" name="Platshållare för lodrät text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t>2025-10-26</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7F1778D9-81D2-4496-A352-7CD7B16C1ED3}" type="slidenum">
              <a:rPr lang="sv-SE" smtClean="0"/>
              <a:t>‹#›</a:t>
            </a:fld>
            <a:endParaRPr lang="sv-SE"/>
          </a:p>
        </p:txBody>
      </p:sp>
    </p:spTree>
    <p:extLst>
      <p:ext uri="{BB962C8B-B14F-4D97-AF65-F5344CB8AC3E}">
        <p14:creationId xmlns:p14="http://schemas.microsoft.com/office/powerpoint/2010/main" val="2887409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Bildobjekt 8" descr="HH_ENG_Liggande.png"/>
          <p:cNvPicPr>
            <a:picLocks noChangeAspect="1"/>
          </p:cNvPicPr>
          <p:nvPr userDrawn="1"/>
        </p:nvPicPr>
        <p:blipFill>
          <a:blip r:embed="rId14"/>
          <a:stretch>
            <a:fillRect/>
          </a:stretch>
        </p:blipFill>
        <p:spPr>
          <a:xfrm>
            <a:off x="7491600" y="6235200"/>
            <a:ext cx="1527173" cy="504000"/>
          </a:xfrm>
          <a:prstGeom prst="rect">
            <a:avLst/>
          </a:prstGeom>
        </p:spPr>
      </p:pic>
      <p:sp>
        <p:nvSpPr>
          <p:cNvPr id="2" name="Platshållare för rubrik 1"/>
          <p:cNvSpPr>
            <a:spLocks noGrp="1"/>
          </p:cNvSpPr>
          <p:nvPr>
            <p:ph type="title"/>
          </p:nvPr>
        </p:nvSpPr>
        <p:spPr>
          <a:xfrm>
            <a:off x="457199" y="273600"/>
            <a:ext cx="8368749" cy="1143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457200" y="1602000"/>
            <a:ext cx="8368748" cy="4525200"/>
          </a:xfrm>
          <a:prstGeom prst="rect">
            <a:avLst/>
          </a:prstGeom>
        </p:spPr>
        <p:txBody>
          <a:bodyPr vert="horz" lIns="91440" tIns="45720" rIns="91440" bIns="45720" rtlCol="0">
            <a:norm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p:cNvSpPr>
            <a:spLocks noGrp="1"/>
          </p:cNvSpPr>
          <p:nvPr>
            <p:ph type="dt" sz="half" idx="2"/>
          </p:nvPr>
        </p:nvSpPr>
        <p:spPr>
          <a:xfrm>
            <a:off x="1718320" y="6356350"/>
            <a:ext cx="1132456" cy="365125"/>
          </a:xfrm>
          <a:prstGeom prst="rect">
            <a:avLst/>
          </a:prstGeom>
        </p:spPr>
        <p:txBody>
          <a:bodyPr vert="horz" lIns="91440" tIns="45720" rIns="91440" bIns="45720" rtlCol="0" anchor="ctr"/>
          <a:lstStyle>
            <a:lvl1pPr algn="l">
              <a:defRPr sz="1200">
                <a:solidFill>
                  <a:schemeClr val="tx1">
                    <a:tint val="75000"/>
                  </a:schemeClr>
                </a:solidFill>
                <a:latin typeface="Gill Sans Std Light" pitchFamily="34" charset="0"/>
              </a:defRPr>
            </a:lvl1pPr>
          </a:lstStyle>
          <a:p>
            <a:fld id="{E77EB496-ABEF-44ED-A2F0-F0CF274C688E}" type="datetimeFigureOut">
              <a:rPr lang="sv-SE" smtClean="0"/>
              <a:pPr/>
              <a:t>2025-10-26</a:t>
            </a:fld>
            <a:endParaRPr lang="sv-SE"/>
          </a:p>
        </p:txBody>
      </p:sp>
      <p:sp>
        <p:nvSpPr>
          <p:cNvPr id="5" name="Platshållare för sidfot 4"/>
          <p:cNvSpPr>
            <a:spLocks noGrp="1"/>
          </p:cNvSpPr>
          <p:nvPr>
            <p:ph type="ftr" sz="quarter" idx="3"/>
          </p:nvPr>
        </p:nvSpPr>
        <p:spPr>
          <a:xfrm>
            <a:off x="2913853" y="6356350"/>
            <a:ext cx="3759490" cy="365125"/>
          </a:xfrm>
          <a:prstGeom prst="rect">
            <a:avLst/>
          </a:prstGeom>
        </p:spPr>
        <p:txBody>
          <a:bodyPr vert="horz" lIns="91440" tIns="45720" rIns="91440" bIns="45720" rtlCol="0" anchor="ctr"/>
          <a:lstStyle>
            <a:lvl1pPr algn="ctr">
              <a:defRPr sz="1200">
                <a:solidFill>
                  <a:schemeClr val="tx1">
                    <a:tint val="75000"/>
                  </a:schemeClr>
                </a:solidFill>
                <a:latin typeface="Gill Sans Std Light" pitchFamily="34" charset="0"/>
              </a:defRPr>
            </a:lvl1pPr>
          </a:lstStyle>
          <a:p>
            <a:endParaRPr lang="sv-SE" dirty="0"/>
          </a:p>
        </p:txBody>
      </p:sp>
      <p:sp>
        <p:nvSpPr>
          <p:cNvPr id="6" name="Platshållare för bildnummer 5"/>
          <p:cNvSpPr>
            <a:spLocks noGrp="1"/>
          </p:cNvSpPr>
          <p:nvPr>
            <p:ph type="sldNum" sz="quarter" idx="4"/>
          </p:nvPr>
        </p:nvSpPr>
        <p:spPr>
          <a:xfrm>
            <a:off x="6736420" y="6356350"/>
            <a:ext cx="614806" cy="365125"/>
          </a:xfrm>
          <a:prstGeom prst="rect">
            <a:avLst/>
          </a:prstGeom>
        </p:spPr>
        <p:txBody>
          <a:bodyPr vert="horz" lIns="91440" tIns="45720" rIns="91440" bIns="45720" rtlCol="0" anchor="ctr"/>
          <a:lstStyle>
            <a:lvl1pPr algn="r">
              <a:defRPr sz="1200">
                <a:solidFill>
                  <a:schemeClr val="tx1">
                    <a:tint val="75000"/>
                  </a:schemeClr>
                </a:solidFill>
                <a:latin typeface="Gill Sans Std Light" pitchFamily="34" charset="0"/>
              </a:defRPr>
            </a:lvl1pPr>
          </a:lstStyle>
          <a:p>
            <a:fld id="{7F1778D9-81D2-4496-A352-7CD7B16C1ED3}" type="slidenum">
              <a:rPr lang="sv-SE" smtClean="0"/>
              <a:pPr/>
              <a:t>‹#›</a:t>
            </a:fld>
            <a:endParaRPr lang="sv-SE"/>
          </a:p>
        </p:txBody>
      </p:sp>
      <p:pic>
        <p:nvPicPr>
          <p:cNvPr id="8" name="Bildobjekt 7" descr="Sidfot_lång.png"/>
          <p:cNvPicPr>
            <a:picLocks noChangeAspect="1"/>
          </p:cNvPicPr>
          <p:nvPr/>
        </p:nvPicPr>
        <p:blipFill>
          <a:blip r:embed="rId15"/>
          <a:stretch>
            <a:fillRect/>
          </a:stretch>
        </p:blipFill>
        <p:spPr>
          <a:xfrm>
            <a:off x="1" y="6480431"/>
            <a:ext cx="1600200" cy="241044"/>
          </a:xfrm>
          <a:prstGeom prst="rect">
            <a:avLst/>
          </a:prstGeom>
        </p:spPr>
      </p:pic>
    </p:spTree>
    <p:extLst>
      <p:ext uri="{BB962C8B-B14F-4D97-AF65-F5344CB8AC3E}">
        <p14:creationId xmlns:p14="http://schemas.microsoft.com/office/powerpoint/2010/main" val="3321827774"/>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72" r:id="rId3"/>
    <p:sldLayoutId id="2147483671"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t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t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t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t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t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t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t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ctrTitle"/>
          </p:nvPr>
        </p:nvSpPr>
        <p:spPr/>
        <p:txBody>
          <a:bodyPr>
            <a:normAutofit fontScale="90000"/>
          </a:bodyPr>
          <a:lstStyle/>
          <a:p>
            <a:r>
              <a:rPr lang="sv-SE" dirty="0" err="1"/>
              <a:t>Biometric</a:t>
            </a:r>
            <a:r>
              <a:rPr lang="sv-SE" dirty="0"/>
              <a:t> </a:t>
            </a:r>
            <a:r>
              <a:rPr lang="sv-SE" dirty="0" err="1"/>
              <a:t>Recognition</a:t>
            </a:r>
            <a:r>
              <a:rPr lang="sv-SE" dirty="0"/>
              <a:t> Lab</a:t>
            </a:r>
            <a:br>
              <a:rPr lang="sv-SE" dirty="0"/>
            </a:br>
            <a:br>
              <a:rPr lang="sv-SE" dirty="0"/>
            </a:br>
            <a:r>
              <a:rPr lang="sv-SE" dirty="0"/>
              <a:t>Fingerprint </a:t>
            </a:r>
            <a:r>
              <a:rPr lang="sv-SE" dirty="0" err="1"/>
              <a:t>Recognition</a:t>
            </a:r>
            <a:endParaRPr lang="sv-SE" dirty="0"/>
          </a:p>
        </p:txBody>
      </p:sp>
      <p:sp>
        <p:nvSpPr>
          <p:cNvPr id="3" name="Underrubrik 2"/>
          <p:cNvSpPr>
            <a:spLocks noGrp="1"/>
          </p:cNvSpPr>
          <p:nvPr>
            <p:ph type="subTitle" idx="1"/>
          </p:nvPr>
        </p:nvSpPr>
        <p:spPr/>
        <p:txBody>
          <a:bodyPr/>
          <a:lstStyle/>
          <a:p>
            <a:endParaRPr lang="sv-SE" dirty="0"/>
          </a:p>
          <a:p>
            <a:endParaRPr lang="sv-SE" dirty="0"/>
          </a:p>
          <a:p>
            <a:r>
              <a:rPr lang="sv-SE" sz="1600" dirty="0"/>
              <a:t>Kevin Hernández </a:t>
            </a:r>
            <a:r>
              <a:rPr lang="sv-SE" sz="1600" dirty="0" err="1"/>
              <a:t>Díaz</a:t>
            </a:r>
            <a:endParaRPr lang="sv-SE" sz="1600" dirty="0"/>
          </a:p>
        </p:txBody>
      </p:sp>
    </p:spTree>
    <p:extLst>
      <p:ext uri="{BB962C8B-B14F-4D97-AF65-F5344CB8AC3E}">
        <p14:creationId xmlns:p14="http://schemas.microsoft.com/office/powerpoint/2010/main" val="4191655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C04B-C5B3-43D2-B593-339E40DE8C7F}"/>
              </a:ext>
            </a:extLst>
          </p:cNvPr>
          <p:cNvSpPr>
            <a:spLocks noGrp="1"/>
          </p:cNvSpPr>
          <p:nvPr>
            <p:ph type="title"/>
          </p:nvPr>
        </p:nvSpPr>
        <p:spPr/>
        <p:txBody>
          <a:bodyPr>
            <a:normAutofit fontScale="90000"/>
          </a:bodyPr>
          <a:lstStyle/>
          <a:p>
            <a:r>
              <a:rPr lang="en-US" dirty="0"/>
              <a:t>Fingerprint Recognition: Fingerprint Patterns</a:t>
            </a:r>
          </a:p>
        </p:txBody>
      </p:sp>
      <p:sp>
        <p:nvSpPr>
          <p:cNvPr id="3" name="Content Placeholder 2">
            <a:extLst>
              <a:ext uri="{FF2B5EF4-FFF2-40B4-BE49-F238E27FC236}">
                <a16:creationId xmlns:a16="http://schemas.microsoft.com/office/drawing/2014/main" id="{A9A3DE2D-B86B-44DD-B94C-F620A08E2D51}"/>
              </a:ext>
            </a:extLst>
          </p:cNvPr>
          <p:cNvSpPr>
            <a:spLocks noGrp="1"/>
          </p:cNvSpPr>
          <p:nvPr>
            <p:ph idx="1"/>
          </p:nvPr>
        </p:nvSpPr>
        <p:spPr>
          <a:xfrm>
            <a:off x="457200" y="1602000"/>
            <a:ext cx="5180202" cy="4525200"/>
          </a:xfrm>
        </p:spPr>
        <p:txBody>
          <a:bodyPr/>
          <a:lstStyle/>
          <a:p>
            <a:endParaRPr lang="en-US" dirty="0"/>
          </a:p>
          <a:p>
            <a:r>
              <a:rPr lang="en-US" dirty="0"/>
              <a:t>Fingerprints are composed of different patterns</a:t>
            </a:r>
          </a:p>
          <a:p>
            <a:pPr lvl="1"/>
            <a:r>
              <a:rPr lang="en-US" dirty="0"/>
              <a:t>Parallel Lines</a:t>
            </a:r>
          </a:p>
          <a:p>
            <a:pPr lvl="1"/>
            <a:r>
              <a:rPr lang="en-US" dirty="0"/>
              <a:t>Core points</a:t>
            </a:r>
          </a:p>
          <a:p>
            <a:pPr lvl="1"/>
            <a:r>
              <a:rPr lang="en-US" dirty="0"/>
              <a:t>Delta points</a:t>
            </a:r>
          </a:p>
          <a:p>
            <a:pPr lvl="1"/>
            <a:r>
              <a:rPr lang="en-US" dirty="0"/>
              <a:t>Minutia points</a:t>
            </a:r>
          </a:p>
        </p:txBody>
      </p:sp>
      <p:pic>
        <p:nvPicPr>
          <p:cNvPr id="5" name="Picture 4" descr="A picture containing stone, snow&#10;&#10;Description automatically generated">
            <a:extLst>
              <a:ext uri="{FF2B5EF4-FFF2-40B4-BE49-F238E27FC236}">
                <a16:creationId xmlns:a16="http://schemas.microsoft.com/office/drawing/2014/main" id="{1B917E39-83D2-463D-8100-1B68EC60B304}"/>
              </a:ext>
            </a:extLst>
          </p:cNvPr>
          <p:cNvPicPr>
            <a:picLocks noChangeAspect="1"/>
          </p:cNvPicPr>
          <p:nvPr/>
        </p:nvPicPr>
        <p:blipFill>
          <a:blip r:embed="rId2"/>
          <a:stretch>
            <a:fillRect/>
          </a:stretch>
        </p:blipFill>
        <p:spPr>
          <a:xfrm>
            <a:off x="5771626" y="1848752"/>
            <a:ext cx="2835478" cy="4031695"/>
          </a:xfrm>
          <a:prstGeom prst="rect">
            <a:avLst/>
          </a:prstGeom>
        </p:spPr>
      </p:pic>
    </p:spTree>
    <p:extLst>
      <p:ext uri="{BB962C8B-B14F-4D97-AF65-F5344CB8AC3E}">
        <p14:creationId xmlns:p14="http://schemas.microsoft.com/office/powerpoint/2010/main" val="2843100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C04B-C5B3-43D2-B593-339E40DE8C7F}"/>
              </a:ext>
            </a:extLst>
          </p:cNvPr>
          <p:cNvSpPr>
            <a:spLocks noGrp="1"/>
          </p:cNvSpPr>
          <p:nvPr>
            <p:ph type="title"/>
          </p:nvPr>
        </p:nvSpPr>
        <p:spPr/>
        <p:txBody>
          <a:bodyPr>
            <a:normAutofit fontScale="90000"/>
          </a:bodyPr>
          <a:lstStyle/>
          <a:p>
            <a:r>
              <a:rPr lang="en-US" dirty="0"/>
              <a:t>Fingerprint Recognition: Fingerprint Patterns</a:t>
            </a:r>
          </a:p>
        </p:txBody>
      </p:sp>
      <p:sp>
        <p:nvSpPr>
          <p:cNvPr id="3" name="Content Placeholder 2">
            <a:extLst>
              <a:ext uri="{FF2B5EF4-FFF2-40B4-BE49-F238E27FC236}">
                <a16:creationId xmlns:a16="http://schemas.microsoft.com/office/drawing/2014/main" id="{A9A3DE2D-B86B-44DD-B94C-F620A08E2D51}"/>
              </a:ext>
            </a:extLst>
          </p:cNvPr>
          <p:cNvSpPr>
            <a:spLocks noGrp="1"/>
          </p:cNvSpPr>
          <p:nvPr>
            <p:ph idx="1"/>
          </p:nvPr>
        </p:nvSpPr>
        <p:spPr>
          <a:xfrm>
            <a:off x="457200" y="1602000"/>
            <a:ext cx="5180202" cy="4525200"/>
          </a:xfrm>
        </p:spPr>
        <p:txBody>
          <a:bodyPr>
            <a:normAutofit lnSpcReduction="10000"/>
          </a:bodyPr>
          <a:lstStyle/>
          <a:p>
            <a:endParaRPr lang="en-US" dirty="0"/>
          </a:p>
          <a:p>
            <a:r>
              <a:rPr lang="en-US" dirty="0"/>
              <a:t>Fingerprints are composed of different patterns</a:t>
            </a:r>
          </a:p>
          <a:p>
            <a:pPr lvl="1"/>
            <a:r>
              <a:rPr lang="en-US" b="1" dirty="0"/>
              <a:t>Parallel Lines: </a:t>
            </a:r>
            <a:r>
              <a:rPr lang="en-US" dirty="0"/>
              <a:t> Most common pattern in the fingerprint</a:t>
            </a:r>
            <a:endParaRPr lang="en-US" b="1" dirty="0"/>
          </a:p>
          <a:p>
            <a:pPr lvl="1"/>
            <a:r>
              <a:rPr lang="en-US" dirty="0"/>
              <a:t>Core points</a:t>
            </a:r>
          </a:p>
          <a:p>
            <a:pPr lvl="1"/>
            <a:r>
              <a:rPr lang="en-US" dirty="0"/>
              <a:t>Delta points</a:t>
            </a:r>
          </a:p>
          <a:p>
            <a:pPr lvl="1"/>
            <a:r>
              <a:rPr lang="en-US" dirty="0"/>
              <a:t>Minutia points</a:t>
            </a:r>
          </a:p>
        </p:txBody>
      </p:sp>
      <p:pic>
        <p:nvPicPr>
          <p:cNvPr id="5" name="Picture 4" descr="A picture containing stone, snow&#10;&#10;Description automatically generated">
            <a:extLst>
              <a:ext uri="{FF2B5EF4-FFF2-40B4-BE49-F238E27FC236}">
                <a16:creationId xmlns:a16="http://schemas.microsoft.com/office/drawing/2014/main" id="{1B917E39-83D2-463D-8100-1B68EC60B304}"/>
              </a:ext>
            </a:extLst>
          </p:cNvPr>
          <p:cNvPicPr>
            <a:picLocks noChangeAspect="1"/>
          </p:cNvPicPr>
          <p:nvPr/>
        </p:nvPicPr>
        <p:blipFill>
          <a:blip r:embed="rId2"/>
          <a:stretch>
            <a:fillRect/>
          </a:stretch>
        </p:blipFill>
        <p:spPr>
          <a:xfrm>
            <a:off x="5771626" y="1848752"/>
            <a:ext cx="2835478" cy="4031695"/>
          </a:xfrm>
          <a:prstGeom prst="rect">
            <a:avLst/>
          </a:prstGeom>
        </p:spPr>
      </p:pic>
      <p:sp>
        <p:nvSpPr>
          <p:cNvPr id="4" name="Oval 3">
            <a:extLst>
              <a:ext uri="{FF2B5EF4-FFF2-40B4-BE49-F238E27FC236}">
                <a16:creationId xmlns:a16="http://schemas.microsoft.com/office/drawing/2014/main" id="{66DFC7DE-8472-49D3-AD43-9631B4090041}"/>
              </a:ext>
            </a:extLst>
          </p:cNvPr>
          <p:cNvSpPr/>
          <p:nvPr/>
        </p:nvSpPr>
        <p:spPr>
          <a:xfrm>
            <a:off x="6358855" y="1996580"/>
            <a:ext cx="956345" cy="62078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C2FFF37-4E15-43E8-9F0E-BE61550B7622}"/>
              </a:ext>
            </a:extLst>
          </p:cNvPr>
          <p:cNvSpPr/>
          <p:nvPr/>
        </p:nvSpPr>
        <p:spPr>
          <a:xfrm rot="3032521">
            <a:off x="7492766" y="3685059"/>
            <a:ext cx="956345" cy="62078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BEDAE5D-E46D-4BD9-B29D-281B7FCA0909}"/>
              </a:ext>
            </a:extLst>
          </p:cNvPr>
          <p:cNvSpPr/>
          <p:nvPr/>
        </p:nvSpPr>
        <p:spPr>
          <a:xfrm>
            <a:off x="6837027" y="4910782"/>
            <a:ext cx="956345" cy="62078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5881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C04B-C5B3-43D2-B593-339E40DE8C7F}"/>
              </a:ext>
            </a:extLst>
          </p:cNvPr>
          <p:cNvSpPr>
            <a:spLocks noGrp="1"/>
          </p:cNvSpPr>
          <p:nvPr>
            <p:ph type="title"/>
          </p:nvPr>
        </p:nvSpPr>
        <p:spPr/>
        <p:txBody>
          <a:bodyPr>
            <a:normAutofit fontScale="90000"/>
          </a:bodyPr>
          <a:lstStyle/>
          <a:p>
            <a:r>
              <a:rPr lang="en-US" dirty="0"/>
              <a:t>Fingerprint Recognition: Fingerprint Patterns</a:t>
            </a:r>
          </a:p>
        </p:txBody>
      </p:sp>
      <p:sp>
        <p:nvSpPr>
          <p:cNvPr id="3" name="Content Placeholder 2">
            <a:extLst>
              <a:ext uri="{FF2B5EF4-FFF2-40B4-BE49-F238E27FC236}">
                <a16:creationId xmlns:a16="http://schemas.microsoft.com/office/drawing/2014/main" id="{A9A3DE2D-B86B-44DD-B94C-F620A08E2D51}"/>
              </a:ext>
            </a:extLst>
          </p:cNvPr>
          <p:cNvSpPr>
            <a:spLocks noGrp="1"/>
          </p:cNvSpPr>
          <p:nvPr>
            <p:ph idx="1"/>
          </p:nvPr>
        </p:nvSpPr>
        <p:spPr>
          <a:xfrm>
            <a:off x="457200" y="1602000"/>
            <a:ext cx="5180202" cy="4525200"/>
          </a:xfrm>
        </p:spPr>
        <p:txBody>
          <a:bodyPr>
            <a:normAutofit fontScale="92500" lnSpcReduction="10000"/>
          </a:bodyPr>
          <a:lstStyle/>
          <a:p>
            <a:endParaRPr lang="en-US" dirty="0"/>
          </a:p>
          <a:p>
            <a:r>
              <a:rPr lang="en-US" dirty="0"/>
              <a:t>Fingerprints are composed of different patterns</a:t>
            </a:r>
          </a:p>
          <a:p>
            <a:pPr lvl="1"/>
            <a:r>
              <a:rPr lang="en-US" dirty="0"/>
              <a:t>Parallel Lines</a:t>
            </a:r>
          </a:p>
          <a:p>
            <a:pPr lvl="1"/>
            <a:r>
              <a:rPr lang="en-US" b="1" dirty="0"/>
              <a:t>Core points: </a:t>
            </a:r>
            <a:r>
              <a:rPr lang="en-US" dirty="0"/>
              <a:t>1-2 per fingerprint. ~180 direction change of the ridges in a local area</a:t>
            </a:r>
            <a:endParaRPr lang="en-US" b="1" dirty="0"/>
          </a:p>
          <a:p>
            <a:pPr lvl="1"/>
            <a:r>
              <a:rPr lang="en-US" dirty="0"/>
              <a:t>Delta points</a:t>
            </a:r>
          </a:p>
          <a:p>
            <a:pPr lvl="1"/>
            <a:r>
              <a:rPr lang="en-US" dirty="0"/>
              <a:t>Minutia points</a:t>
            </a:r>
          </a:p>
        </p:txBody>
      </p:sp>
      <p:pic>
        <p:nvPicPr>
          <p:cNvPr id="5" name="Picture 4" descr="A picture containing stone, snow&#10;&#10;Description automatically generated">
            <a:extLst>
              <a:ext uri="{FF2B5EF4-FFF2-40B4-BE49-F238E27FC236}">
                <a16:creationId xmlns:a16="http://schemas.microsoft.com/office/drawing/2014/main" id="{1B917E39-83D2-463D-8100-1B68EC60B304}"/>
              </a:ext>
            </a:extLst>
          </p:cNvPr>
          <p:cNvPicPr>
            <a:picLocks noChangeAspect="1"/>
          </p:cNvPicPr>
          <p:nvPr/>
        </p:nvPicPr>
        <p:blipFill>
          <a:blip r:embed="rId2"/>
          <a:stretch>
            <a:fillRect/>
          </a:stretch>
        </p:blipFill>
        <p:spPr>
          <a:xfrm>
            <a:off x="5771626" y="1848752"/>
            <a:ext cx="2835478" cy="4031695"/>
          </a:xfrm>
          <a:prstGeom prst="rect">
            <a:avLst/>
          </a:prstGeom>
        </p:spPr>
      </p:pic>
      <p:sp>
        <p:nvSpPr>
          <p:cNvPr id="4" name="Oval 3">
            <a:extLst>
              <a:ext uri="{FF2B5EF4-FFF2-40B4-BE49-F238E27FC236}">
                <a16:creationId xmlns:a16="http://schemas.microsoft.com/office/drawing/2014/main" id="{66DFC7DE-8472-49D3-AD43-9631B4090041}"/>
              </a:ext>
            </a:extLst>
          </p:cNvPr>
          <p:cNvSpPr/>
          <p:nvPr/>
        </p:nvSpPr>
        <p:spPr>
          <a:xfrm rot="5196278">
            <a:off x="6217887" y="3209679"/>
            <a:ext cx="894490" cy="6813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317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C04B-C5B3-43D2-B593-339E40DE8C7F}"/>
              </a:ext>
            </a:extLst>
          </p:cNvPr>
          <p:cNvSpPr>
            <a:spLocks noGrp="1"/>
          </p:cNvSpPr>
          <p:nvPr>
            <p:ph type="title"/>
          </p:nvPr>
        </p:nvSpPr>
        <p:spPr/>
        <p:txBody>
          <a:bodyPr>
            <a:normAutofit fontScale="90000"/>
          </a:bodyPr>
          <a:lstStyle/>
          <a:p>
            <a:r>
              <a:rPr lang="en-US" dirty="0"/>
              <a:t>Fingerprint Recognition: Fingerprint Patterns</a:t>
            </a:r>
          </a:p>
        </p:txBody>
      </p:sp>
      <p:sp>
        <p:nvSpPr>
          <p:cNvPr id="3" name="Content Placeholder 2">
            <a:extLst>
              <a:ext uri="{FF2B5EF4-FFF2-40B4-BE49-F238E27FC236}">
                <a16:creationId xmlns:a16="http://schemas.microsoft.com/office/drawing/2014/main" id="{A9A3DE2D-B86B-44DD-B94C-F620A08E2D51}"/>
              </a:ext>
            </a:extLst>
          </p:cNvPr>
          <p:cNvSpPr>
            <a:spLocks noGrp="1"/>
          </p:cNvSpPr>
          <p:nvPr>
            <p:ph idx="1"/>
          </p:nvPr>
        </p:nvSpPr>
        <p:spPr>
          <a:xfrm>
            <a:off x="457200" y="1602000"/>
            <a:ext cx="5180202" cy="4525200"/>
          </a:xfrm>
        </p:spPr>
        <p:txBody>
          <a:bodyPr>
            <a:normAutofit lnSpcReduction="10000"/>
          </a:bodyPr>
          <a:lstStyle/>
          <a:p>
            <a:endParaRPr lang="en-US" dirty="0"/>
          </a:p>
          <a:p>
            <a:r>
              <a:rPr lang="en-US" dirty="0"/>
              <a:t>Fingerprints are composed of different patterns</a:t>
            </a:r>
          </a:p>
          <a:p>
            <a:pPr lvl="1"/>
            <a:r>
              <a:rPr lang="en-US" dirty="0"/>
              <a:t>Parallel Lines</a:t>
            </a:r>
          </a:p>
          <a:p>
            <a:pPr lvl="1"/>
            <a:r>
              <a:rPr lang="en-US" dirty="0"/>
              <a:t>Core points</a:t>
            </a:r>
          </a:p>
          <a:p>
            <a:pPr lvl="1"/>
            <a:r>
              <a:rPr lang="en-US" b="1" dirty="0"/>
              <a:t>Delta points: </a:t>
            </a:r>
            <a:r>
              <a:rPr lang="en-US" dirty="0"/>
              <a:t>1-2 per fingerprint. Triangular shape pattern</a:t>
            </a:r>
            <a:endParaRPr lang="en-US" b="1" dirty="0"/>
          </a:p>
          <a:p>
            <a:pPr lvl="1"/>
            <a:r>
              <a:rPr lang="en-US" dirty="0"/>
              <a:t>Minutia points</a:t>
            </a:r>
          </a:p>
        </p:txBody>
      </p:sp>
      <p:pic>
        <p:nvPicPr>
          <p:cNvPr id="5" name="Picture 4" descr="A picture containing stone, snow&#10;&#10;Description automatically generated">
            <a:extLst>
              <a:ext uri="{FF2B5EF4-FFF2-40B4-BE49-F238E27FC236}">
                <a16:creationId xmlns:a16="http://schemas.microsoft.com/office/drawing/2014/main" id="{1B917E39-83D2-463D-8100-1B68EC60B304}"/>
              </a:ext>
            </a:extLst>
          </p:cNvPr>
          <p:cNvPicPr>
            <a:picLocks noChangeAspect="1"/>
          </p:cNvPicPr>
          <p:nvPr/>
        </p:nvPicPr>
        <p:blipFill>
          <a:blip r:embed="rId2"/>
          <a:stretch>
            <a:fillRect/>
          </a:stretch>
        </p:blipFill>
        <p:spPr>
          <a:xfrm>
            <a:off x="5771626" y="1848752"/>
            <a:ext cx="2835478" cy="4031695"/>
          </a:xfrm>
          <a:prstGeom prst="rect">
            <a:avLst/>
          </a:prstGeom>
        </p:spPr>
      </p:pic>
      <p:sp>
        <p:nvSpPr>
          <p:cNvPr id="4" name="Oval 3">
            <a:extLst>
              <a:ext uri="{FF2B5EF4-FFF2-40B4-BE49-F238E27FC236}">
                <a16:creationId xmlns:a16="http://schemas.microsoft.com/office/drawing/2014/main" id="{66DFC7DE-8472-49D3-AD43-9631B4090041}"/>
              </a:ext>
            </a:extLst>
          </p:cNvPr>
          <p:cNvSpPr/>
          <p:nvPr/>
        </p:nvSpPr>
        <p:spPr>
          <a:xfrm>
            <a:off x="6593747" y="4093828"/>
            <a:ext cx="956345" cy="7180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8070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C04B-C5B3-43D2-B593-339E40DE8C7F}"/>
              </a:ext>
            </a:extLst>
          </p:cNvPr>
          <p:cNvSpPr>
            <a:spLocks noGrp="1"/>
          </p:cNvSpPr>
          <p:nvPr>
            <p:ph type="title"/>
          </p:nvPr>
        </p:nvSpPr>
        <p:spPr/>
        <p:txBody>
          <a:bodyPr>
            <a:normAutofit fontScale="90000"/>
          </a:bodyPr>
          <a:lstStyle/>
          <a:p>
            <a:r>
              <a:rPr lang="en-US" dirty="0"/>
              <a:t>Fingerprint Recognition: Fingerprint Patterns</a:t>
            </a:r>
          </a:p>
        </p:txBody>
      </p:sp>
      <p:sp>
        <p:nvSpPr>
          <p:cNvPr id="3" name="Content Placeholder 2">
            <a:extLst>
              <a:ext uri="{FF2B5EF4-FFF2-40B4-BE49-F238E27FC236}">
                <a16:creationId xmlns:a16="http://schemas.microsoft.com/office/drawing/2014/main" id="{A9A3DE2D-B86B-44DD-B94C-F620A08E2D51}"/>
              </a:ext>
            </a:extLst>
          </p:cNvPr>
          <p:cNvSpPr>
            <a:spLocks noGrp="1"/>
          </p:cNvSpPr>
          <p:nvPr>
            <p:ph idx="1"/>
          </p:nvPr>
        </p:nvSpPr>
        <p:spPr>
          <a:xfrm>
            <a:off x="457200" y="1602000"/>
            <a:ext cx="5180202" cy="4525200"/>
          </a:xfrm>
        </p:spPr>
        <p:txBody>
          <a:bodyPr>
            <a:normAutofit fontScale="92500" lnSpcReduction="10000"/>
          </a:bodyPr>
          <a:lstStyle/>
          <a:p>
            <a:endParaRPr lang="en-US" dirty="0"/>
          </a:p>
          <a:p>
            <a:r>
              <a:rPr lang="en-US" dirty="0"/>
              <a:t>Fingerprints are composed of different patterns</a:t>
            </a:r>
          </a:p>
          <a:p>
            <a:pPr lvl="1"/>
            <a:r>
              <a:rPr lang="en-US" dirty="0"/>
              <a:t>Parallel Lines</a:t>
            </a:r>
          </a:p>
          <a:p>
            <a:pPr lvl="1"/>
            <a:r>
              <a:rPr lang="en-US" dirty="0"/>
              <a:t>Core points</a:t>
            </a:r>
          </a:p>
          <a:p>
            <a:pPr lvl="1"/>
            <a:r>
              <a:rPr lang="en-US" dirty="0"/>
              <a:t>Delta points</a:t>
            </a:r>
          </a:p>
          <a:p>
            <a:pPr lvl="1"/>
            <a:r>
              <a:rPr lang="en-US" b="1" dirty="0"/>
              <a:t>Minutia points: </a:t>
            </a:r>
            <a:r>
              <a:rPr lang="en-US" dirty="0"/>
              <a:t>Dozens per fingerprint. A point where a ridge ends or diverge in two/ two ridges converge in 1</a:t>
            </a:r>
            <a:endParaRPr lang="en-US" b="1" dirty="0"/>
          </a:p>
        </p:txBody>
      </p:sp>
      <p:pic>
        <p:nvPicPr>
          <p:cNvPr id="5" name="Picture 4" descr="A picture containing stone, snow&#10;&#10;Description automatically generated">
            <a:extLst>
              <a:ext uri="{FF2B5EF4-FFF2-40B4-BE49-F238E27FC236}">
                <a16:creationId xmlns:a16="http://schemas.microsoft.com/office/drawing/2014/main" id="{1B917E39-83D2-463D-8100-1B68EC60B304}"/>
              </a:ext>
            </a:extLst>
          </p:cNvPr>
          <p:cNvPicPr>
            <a:picLocks noChangeAspect="1"/>
          </p:cNvPicPr>
          <p:nvPr/>
        </p:nvPicPr>
        <p:blipFill>
          <a:blip r:embed="rId2"/>
          <a:stretch>
            <a:fillRect/>
          </a:stretch>
        </p:blipFill>
        <p:spPr>
          <a:xfrm>
            <a:off x="5771626" y="1848752"/>
            <a:ext cx="2835478" cy="4031695"/>
          </a:xfrm>
          <a:prstGeom prst="rect">
            <a:avLst/>
          </a:prstGeom>
        </p:spPr>
      </p:pic>
      <p:sp>
        <p:nvSpPr>
          <p:cNvPr id="4" name="Oval 3">
            <a:extLst>
              <a:ext uri="{FF2B5EF4-FFF2-40B4-BE49-F238E27FC236}">
                <a16:creationId xmlns:a16="http://schemas.microsoft.com/office/drawing/2014/main" id="{66DFC7DE-8472-49D3-AD43-9631B4090041}"/>
              </a:ext>
            </a:extLst>
          </p:cNvPr>
          <p:cNvSpPr/>
          <p:nvPr/>
        </p:nvSpPr>
        <p:spPr>
          <a:xfrm>
            <a:off x="8305100" y="3363986"/>
            <a:ext cx="302004" cy="2629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1ACAEE9-7061-4928-860F-202E1993CBFE}"/>
              </a:ext>
            </a:extLst>
          </p:cNvPr>
          <p:cNvSpPr/>
          <p:nvPr/>
        </p:nvSpPr>
        <p:spPr>
          <a:xfrm>
            <a:off x="7400487" y="2434206"/>
            <a:ext cx="302004" cy="2629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E688975-3117-452D-8907-83B9470BF905}"/>
              </a:ext>
            </a:extLst>
          </p:cNvPr>
          <p:cNvSpPr/>
          <p:nvPr/>
        </p:nvSpPr>
        <p:spPr>
          <a:xfrm>
            <a:off x="6284752" y="3081528"/>
            <a:ext cx="302004" cy="2629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17DB6FF-BDD2-40E9-B0C5-6E82BFABB011}"/>
              </a:ext>
            </a:extLst>
          </p:cNvPr>
          <p:cNvSpPr/>
          <p:nvPr/>
        </p:nvSpPr>
        <p:spPr>
          <a:xfrm>
            <a:off x="6066637" y="3513680"/>
            <a:ext cx="302004" cy="2629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2B96C21-874E-4871-97A4-A790D5121F16}"/>
              </a:ext>
            </a:extLst>
          </p:cNvPr>
          <p:cNvSpPr/>
          <p:nvPr/>
        </p:nvSpPr>
        <p:spPr>
          <a:xfrm>
            <a:off x="6788090" y="2565663"/>
            <a:ext cx="302004" cy="2629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2C3919C-896B-44D0-8716-B49E0983694E}"/>
              </a:ext>
            </a:extLst>
          </p:cNvPr>
          <p:cNvSpPr/>
          <p:nvPr/>
        </p:nvSpPr>
        <p:spPr>
          <a:xfrm>
            <a:off x="7400487" y="4346896"/>
            <a:ext cx="302004" cy="2629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8350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brief reminder of complex numbers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fontScale="85000" lnSpcReduction="20000"/>
              </a:bodyPr>
              <a:lstStyle/>
              <a:p>
                <a:r>
                  <a:rPr lang="en-US" dirty="0"/>
                  <a:t>In order to detect the feature points in a fingerprint we usually calculate the gradient image as done in the previous lab for edge detection</a:t>
                </a:r>
              </a:p>
              <a:p>
                <a:pPr marL="457200" lvl="1" indent="0">
                  <a:buNone/>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𝐼</m:t>
                      </m:r>
                      <m:d>
                        <m:dPr>
                          <m:ctrlPr>
                            <a:rPr lang="sv-SE" b="0" i="1" smtClean="0">
                              <a:latin typeface="Cambria Math" panose="02040503050406030204" pitchFamily="18" charset="0"/>
                              <a:ea typeface="Cambria Math" panose="02040503050406030204" pitchFamily="18" charset="0"/>
                            </a:rPr>
                          </m:ctrlPr>
                        </m:dPr>
                        <m:e>
                          <m:r>
                            <a:rPr lang="sv-SE" b="0" i="1" smtClean="0">
                              <a:latin typeface="Cambria Math" panose="02040503050406030204" pitchFamily="18" charset="0"/>
                              <a:ea typeface="Cambria Math" panose="02040503050406030204" pitchFamily="18" charset="0"/>
                            </a:rPr>
                            <m:t>𝑥</m:t>
                          </m:r>
                          <m:r>
                            <a:rPr lang="sv-SE" b="0" i="1" smtClean="0">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𝑦</m:t>
                          </m:r>
                        </m:e>
                      </m:d>
                      <m:r>
                        <a:rPr lang="sv-SE" b="0" i="1" smtClean="0">
                          <a:latin typeface="Cambria Math" panose="02040503050406030204" pitchFamily="18" charset="0"/>
                          <a:ea typeface="Cambria Math" panose="02040503050406030204" pitchFamily="18" charset="0"/>
                        </a:rPr>
                        <m:t>=</m:t>
                      </m:r>
                      <m:f>
                        <m:fPr>
                          <m:ctrlPr>
                            <a:rPr lang="sv-SE" b="0" i="1" smtClean="0">
                              <a:latin typeface="Cambria Math" panose="02040503050406030204" pitchFamily="18" charset="0"/>
                              <a:ea typeface="Cambria Math" panose="02040503050406030204" pitchFamily="18" charset="0"/>
                            </a:rPr>
                          </m:ctrlPr>
                        </m:fPr>
                        <m:num>
                          <m:r>
                            <a:rPr lang="sv-SE" b="0" i="1" smtClean="0">
                              <a:latin typeface="Cambria Math" panose="02040503050406030204" pitchFamily="18" charset="0"/>
                              <a:ea typeface="Cambria Math" panose="02040503050406030204" pitchFamily="18" charset="0"/>
                            </a:rPr>
                            <m:t>𝑑</m:t>
                          </m:r>
                        </m:num>
                        <m:den>
                          <m:sSub>
                            <m:sSubPr>
                              <m:ctrlPr>
                                <a:rPr lang="sv-SE" b="0" i="1" smtClean="0">
                                  <a:latin typeface="Cambria Math" panose="02040503050406030204" pitchFamily="18" charset="0"/>
                                  <a:ea typeface="Cambria Math" panose="02040503050406030204" pitchFamily="18" charset="0"/>
                                </a:rPr>
                              </m:ctrlPr>
                            </m:sSubPr>
                            <m:e>
                              <m:r>
                                <a:rPr lang="sv-SE" b="0" i="1" smtClean="0">
                                  <a:latin typeface="Cambria Math" panose="02040503050406030204" pitchFamily="18" charset="0"/>
                                  <a:ea typeface="Cambria Math" panose="02040503050406030204" pitchFamily="18" charset="0"/>
                                </a:rPr>
                                <m:t>𝑑</m:t>
                              </m:r>
                            </m:e>
                            <m:sub>
                              <m:r>
                                <a:rPr lang="sv-SE" b="0" i="1" smtClean="0">
                                  <a:latin typeface="Cambria Math" panose="02040503050406030204" pitchFamily="18" charset="0"/>
                                  <a:ea typeface="Cambria Math" panose="02040503050406030204" pitchFamily="18" charset="0"/>
                                </a:rPr>
                                <m:t>𝑥</m:t>
                              </m:r>
                            </m:sub>
                          </m:sSub>
                        </m:den>
                      </m:f>
                      <m:r>
                        <a:rPr lang="sv-SE" b="0" i="1" smtClean="0">
                          <a:latin typeface="Cambria Math" panose="02040503050406030204" pitchFamily="18" charset="0"/>
                          <a:ea typeface="Cambria Math" panose="02040503050406030204" pitchFamily="18" charset="0"/>
                        </a:rPr>
                        <m:t>𝐼</m:t>
                      </m:r>
                      <m:d>
                        <m:dPr>
                          <m:ctrlPr>
                            <a:rPr lang="sv-SE" b="0" i="1" smtClean="0">
                              <a:latin typeface="Cambria Math" panose="02040503050406030204" pitchFamily="18" charset="0"/>
                              <a:ea typeface="Cambria Math" panose="02040503050406030204" pitchFamily="18" charset="0"/>
                            </a:rPr>
                          </m:ctrlPr>
                        </m:dPr>
                        <m:e>
                          <m:r>
                            <a:rPr lang="sv-SE" b="0" i="1" smtClean="0">
                              <a:latin typeface="Cambria Math" panose="02040503050406030204" pitchFamily="18" charset="0"/>
                              <a:ea typeface="Cambria Math" panose="02040503050406030204" pitchFamily="18" charset="0"/>
                            </a:rPr>
                            <m:t>𝑥</m:t>
                          </m:r>
                          <m:r>
                            <a:rPr lang="sv-SE" b="0" i="1" smtClean="0">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𝑦</m:t>
                          </m:r>
                        </m:e>
                      </m:d>
                      <m:acc>
                        <m:accPr>
                          <m:chr m:val="⃗"/>
                          <m:ctrlPr>
                            <a:rPr lang="sv-SE" b="0" i="1" smtClean="0">
                              <a:latin typeface="Cambria Math" panose="02040503050406030204" pitchFamily="18" charset="0"/>
                              <a:ea typeface="Cambria Math" panose="02040503050406030204" pitchFamily="18" charset="0"/>
                            </a:rPr>
                          </m:ctrlPr>
                        </m:accPr>
                        <m:e>
                          <m:r>
                            <a:rPr lang="sv-SE" b="0" i="1" smtClean="0">
                              <a:latin typeface="Cambria Math" panose="02040503050406030204" pitchFamily="18" charset="0"/>
                              <a:ea typeface="Cambria Math" panose="02040503050406030204" pitchFamily="18" charset="0"/>
                            </a:rPr>
                            <m:t>𝑥</m:t>
                          </m:r>
                        </m:e>
                      </m:acc>
                      <m:r>
                        <a:rPr lang="sv-SE" b="0" i="1" smtClean="0">
                          <a:latin typeface="Cambria Math" panose="02040503050406030204" pitchFamily="18" charset="0"/>
                          <a:ea typeface="Cambria Math" panose="02040503050406030204" pitchFamily="18" charset="0"/>
                        </a:rPr>
                        <m:t>+</m:t>
                      </m:r>
                      <m:f>
                        <m:fPr>
                          <m:ctrlPr>
                            <a:rPr lang="sv-SE" b="0" i="1" smtClean="0">
                              <a:latin typeface="Cambria Math" panose="02040503050406030204" pitchFamily="18" charset="0"/>
                              <a:ea typeface="Cambria Math" panose="02040503050406030204" pitchFamily="18" charset="0"/>
                            </a:rPr>
                          </m:ctrlPr>
                        </m:fPr>
                        <m:num>
                          <m:r>
                            <a:rPr lang="sv-SE" b="0" i="1" smtClean="0">
                              <a:latin typeface="Cambria Math" panose="02040503050406030204" pitchFamily="18" charset="0"/>
                              <a:ea typeface="Cambria Math" panose="02040503050406030204" pitchFamily="18" charset="0"/>
                            </a:rPr>
                            <m:t>𝑑</m:t>
                          </m:r>
                        </m:num>
                        <m:den>
                          <m:sSub>
                            <m:sSubPr>
                              <m:ctrlPr>
                                <a:rPr lang="sv-SE" b="0" i="1" smtClean="0">
                                  <a:latin typeface="Cambria Math" panose="02040503050406030204" pitchFamily="18" charset="0"/>
                                  <a:ea typeface="Cambria Math" panose="02040503050406030204" pitchFamily="18" charset="0"/>
                                </a:rPr>
                              </m:ctrlPr>
                            </m:sSubPr>
                            <m:e>
                              <m:r>
                                <a:rPr lang="sv-SE" b="0" i="1" smtClean="0">
                                  <a:latin typeface="Cambria Math" panose="02040503050406030204" pitchFamily="18" charset="0"/>
                                  <a:ea typeface="Cambria Math" panose="02040503050406030204" pitchFamily="18" charset="0"/>
                                </a:rPr>
                                <m:t>𝑑</m:t>
                              </m:r>
                            </m:e>
                            <m:sub>
                              <m:r>
                                <a:rPr lang="sv-SE" b="0" i="1" smtClean="0">
                                  <a:latin typeface="Cambria Math" panose="02040503050406030204" pitchFamily="18" charset="0"/>
                                  <a:ea typeface="Cambria Math" panose="02040503050406030204" pitchFamily="18" charset="0"/>
                                </a:rPr>
                                <m:t>𝑦</m:t>
                              </m:r>
                            </m:sub>
                          </m:sSub>
                        </m:den>
                      </m:f>
                      <m:r>
                        <a:rPr lang="sv-SE" b="0" i="1" smtClean="0">
                          <a:latin typeface="Cambria Math" panose="02040503050406030204" pitchFamily="18" charset="0"/>
                          <a:ea typeface="Cambria Math" panose="02040503050406030204" pitchFamily="18" charset="0"/>
                        </a:rPr>
                        <m:t>𝐼</m:t>
                      </m:r>
                      <m:d>
                        <m:dPr>
                          <m:ctrlPr>
                            <a:rPr lang="sv-SE" b="0" i="1" smtClean="0">
                              <a:latin typeface="Cambria Math" panose="02040503050406030204" pitchFamily="18" charset="0"/>
                              <a:ea typeface="Cambria Math" panose="02040503050406030204" pitchFamily="18" charset="0"/>
                            </a:rPr>
                          </m:ctrlPr>
                        </m:dPr>
                        <m:e>
                          <m:r>
                            <a:rPr lang="sv-SE" b="0" i="1" smtClean="0">
                              <a:latin typeface="Cambria Math" panose="02040503050406030204" pitchFamily="18" charset="0"/>
                              <a:ea typeface="Cambria Math" panose="02040503050406030204" pitchFamily="18" charset="0"/>
                            </a:rPr>
                            <m:t>𝑥</m:t>
                          </m:r>
                          <m:r>
                            <a:rPr lang="sv-SE" b="0" i="1" smtClean="0">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𝑦</m:t>
                          </m:r>
                        </m:e>
                      </m:d>
                      <m:acc>
                        <m:accPr>
                          <m:chr m:val="⃗"/>
                          <m:ctrlPr>
                            <a:rPr lang="sv-SE" b="0" i="1" smtClean="0">
                              <a:latin typeface="Cambria Math" panose="02040503050406030204" pitchFamily="18" charset="0"/>
                              <a:ea typeface="Cambria Math" panose="02040503050406030204" pitchFamily="18" charset="0"/>
                            </a:rPr>
                          </m:ctrlPr>
                        </m:accPr>
                        <m:e>
                          <m:r>
                            <a:rPr lang="sv-SE" b="0" i="1" smtClean="0">
                              <a:latin typeface="Cambria Math" panose="02040503050406030204" pitchFamily="18" charset="0"/>
                              <a:ea typeface="Cambria Math" panose="02040503050406030204" pitchFamily="18" charset="0"/>
                            </a:rPr>
                            <m:t>𝑦</m:t>
                          </m:r>
                        </m:e>
                      </m:acc>
                    </m:oMath>
                  </m:oMathPara>
                </a14:m>
                <a:endParaRPr lang="en-US" dirty="0"/>
              </a:p>
              <a:p>
                <a:r>
                  <a:rPr lang="en-US" dirty="0"/>
                  <a:t>We can define this as a complex number if we consider the x axis to be the real part of the complex number and the y axis to be the imaginary part</a:t>
                </a:r>
              </a:p>
              <a:p>
                <a:pPr marL="0" indent="0">
                  <a:buNone/>
                </a:pPr>
                <a14:m>
                  <m:oMathPara xmlns:m="http://schemas.openxmlformats.org/officeDocument/2006/math">
                    <m:oMathParaPr>
                      <m:jc m:val="centerGroup"/>
                    </m:oMathParaPr>
                    <m:oMath xmlns:m="http://schemas.openxmlformats.org/officeDocument/2006/math">
                      <m:r>
                        <m:rPr>
                          <m:sty m:val="p"/>
                        </m:rPr>
                        <a:rPr lang="en-US" i="1">
                          <a:latin typeface="Cambria Math" panose="02040503050406030204" pitchFamily="18" charset="0"/>
                          <a:ea typeface="Cambria Math" panose="02040503050406030204" pitchFamily="18" charset="0"/>
                        </a:rPr>
                        <m:t>∇</m:t>
                      </m:r>
                      <m:r>
                        <a:rPr lang="sv-SE" i="1">
                          <a:latin typeface="Cambria Math" panose="02040503050406030204" pitchFamily="18" charset="0"/>
                          <a:ea typeface="Cambria Math" panose="02040503050406030204" pitchFamily="18" charset="0"/>
                        </a:rPr>
                        <m:t>𝐼</m:t>
                      </m:r>
                      <m:d>
                        <m:dPr>
                          <m:ctrlPr>
                            <a:rPr lang="sv-SE" i="1">
                              <a:latin typeface="Cambria Math" panose="02040503050406030204" pitchFamily="18" charset="0"/>
                              <a:ea typeface="Cambria Math" panose="02040503050406030204" pitchFamily="18" charset="0"/>
                            </a:rPr>
                          </m:ctrlPr>
                        </m:dPr>
                        <m:e>
                          <m:r>
                            <a:rPr lang="sv-SE" i="1">
                              <a:latin typeface="Cambria Math" panose="02040503050406030204" pitchFamily="18" charset="0"/>
                              <a:ea typeface="Cambria Math" panose="02040503050406030204" pitchFamily="18" charset="0"/>
                            </a:rPr>
                            <m:t>𝑥</m:t>
                          </m:r>
                          <m:r>
                            <a:rPr lang="sv-SE" i="1">
                              <a:latin typeface="Cambria Math" panose="02040503050406030204" pitchFamily="18" charset="0"/>
                              <a:ea typeface="Cambria Math" panose="02040503050406030204" pitchFamily="18" charset="0"/>
                            </a:rPr>
                            <m:t>,</m:t>
                          </m:r>
                          <m:r>
                            <a:rPr lang="sv-SE" i="1">
                              <a:latin typeface="Cambria Math" panose="02040503050406030204" pitchFamily="18" charset="0"/>
                              <a:ea typeface="Cambria Math" panose="02040503050406030204" pitchFamily="18" charset="0"/>
                            </a:rPr>
                            <m:t>𝑦</m:t>
                          </m:r>
                        </m:e>
                      </m:d>
                      <m:r>
                        <a:rPr lang="sv-SE" i="1">
                          <a:latin typeface="Cambria Math" panose="02040503050406030204" pitchFamily="18" charset="0"/>
                          <a:ea typeface="Cambria Math" panose="02040503050406030204" pitchFamily="18" charset="0"/>
                        </a:rPr>
                        <m:t>=</m:t>
                      </m:r>
                      <m:f>
                        <m:fPr>
                          <m:ctrlPr>
                            <a:rPr lang="sv-SE" i="1">
                              <a:latin typeface="Cambria Math" panose="02040503050406030204" pitchFamily="18" charset="0"/>
                              <a:ea typeface="Cambria Math" panose="02040503050406030204" pitchFamily="18" charset="0"/>
                            </a:rPr>
                          </m:ctrlPr>
                        </m:fPr>
                        <m:num>
                          <m:r>
                            <a:rPr lang="sv-SE" i="1">
                              <a:latin typeface="Cambria Math" panose="02040503050406030204" pitchFamily="18" charset="0"/>
                              <a:ea typeface="Cambria Math" panose="02040503050406030204" pitchFamily="18" charset="0"/>
                            </a:rPr>
                            <m:t>𝑑</m:t>
                          </m:r>
                        </m:num>
                        <m:den>
                          <m:sSub>
                            <m:sSubPr>
                              <m:ctrlPr>
                                <a:rPr lang="sv-SE" i="1">
                                  <a:latin typeface="Cambria Math" panose="02040503050406030204" pitchFamily="18" charset="0"/>
                                  <a:ea typeface="Cambria Math" panose="02040503050406030204" pitchFamily="18" charset="0"/>
                                </a:rPr>
                              </m:ctrlPr>
                            </m:sSubPr>
                            <m:e>
                              <m:r>
                                <a:rPr lang="sv-SE" i="1">
                                  <a:latin typeface="Cambria Math" panose="02040503050406030204" pitchFamily="18" charset="0"/>
                                  <a:ea typeface="Cambria Math" panose="02040503050406030204" pitchFamily="18" charset="0"/>
                                </a:rPr>
                                <m:t>𝑑</m:t>
                              </m:r>
                            </m:e>
                            <m:sub>
                              <m:r>
                                <a:rPr lang="sv-SE" i="1">
                                  <a:latin typeface="Cambria Math" panose="02040503050406030204" pitchFamily="18" charset="0"/>
                                  <a:ea typeface="Cambria Math" panose="02040503050406030204" pitchFamily="18" charset="0"/>
                                </a:rPr>
                                <m:t>𝑥</m:t>
                              </m:r>
                            </m:sub>
                          </m:sSub>
                        </m:den>
                      </m:f>
                      <m:r>
                        <a:rPr lang="sv-SE" i="1">
                          <a:latin typeface="Cambria Math" panose="02040503050406030204" pitchFamily="18" charset="0"/>
                          <a:ea typeface="Cambria Math" panose="02040503050406030204" pitchFamily="18" charset="0"/>
                        </a:rPr>
                        <m:t>𝐼</m:t>
                      </m:r>
                      <m:d>
                        <m:dPr>
                          <m:ctrlPr>
                            <a:rPr lang="sv-SE" i="1">
                              <a:latin typeface="Cambria Math" panose="02040503050406030204" pitchFamily="18" charset="0"/>
                              <a:ea typeface="Cambria Math" panose="02040503050406030204" pitchFamily="18" charset="0"/>
                            </a:rPr>
                          </m:ctrlPr>
                        </m:dPr>
                        <m:e>
                          <m:r>
                            <a:rPr lang="sv-SE" i="1">
                              <a:latin typeface="Cambria Math" panose="02040503050406030204" pitchFamily="18" charset="0"/>
                              <a:ea typeface="Cambria Math" panose="02040503050406030204" pitchFamily="18" charset="0"/>
                            </a:rPr>
                            <m:t>𝑥</m:t>
                          </m:r>
                          <m:r>
                            <a:rPr lang="sv-SE" i="1">
                              <a:latin typeface="Cambria Math" panose="02040503050406030204" pitchFamily="18" charset="0"/>
                              <a:ea typeface="Cambria Math" panose="02040503050406030204" pitchFamily="18" charset="0"/>
                            </a:rPr>
                            <m:t>,</m:t>
                          </m:r>
                          <m:r>
                            <a:rPr lang="sv-SE" i="1">
                              <a:latin typeface="Cambria Math" panose="02040503050406030204" pitchFamily="18" charset="0"/>
                              <a:ea typeface="Cambria Math" panose="02040503050406030204" pitchFamily="18" charset="0"/>
                            </a:rPr>
                            <m:t>𝑦</m:t>
                          </m:r>
                        </m:e>
                      </m:d>
                      <m:r>
                        <a:rPr lang="sv-SE" i="1">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𝑖</m:t>
                      </m:r>
                      <m:f>
                        <m:fPr>
                          <m:ctrlPr>
                            <a:rPr lang="sv-SE" i="1">
                              <a:latin typeface="Cambria Math" panose="02040503050406030204" pitchFamily="18" charset="0"/>
                              <a:ea typeface="Cambria Math" panose="02040503050406030204" pitchFamily="18" charset="0"/>
                            </a:rPr>
                          </m:ctrlPr>
                        </m:fPr>
                        <m:num>
                          <m:r>
                            <a:rPr lang="sv-SE" i="1">
                              <a:latin typeface="Cambria Math" panose="02040503050406030204" pitchFamily="18" charset="0"/>
                              <a:ea typeface="Cambria Math" panose="02040503050406030204" pitchFamily="18" charset="0"/>
                            </a:rPr>
                            <m:t>𝑑</m:t>
                          </m:r>
                        </m:num>
                        <m:den>
                          <m:sSub>
                            <m:sSubPr>
                              <m:ctrlPr>
                                <a:rPr lang="sv-SE" i="1">
                                  <a:latin typeface="Cambria Math" panose="02040503050406030204" pitchFamily="18" charset="0"/>
                                  <a:ea typeface="Cambria Math" panose="02040503050406030204" pitchFamily="18" charset="0"/>
                                </a:rPr>
                              </m:ctrlPr>
                            </m:sSubPr>
                            <m:e>
                              <m:r>
                                <a:rPr lang="sv-SE" i="1">
                                  <a:latin typeface="Cambria Math" panose="02040503050406030204" pitchFamily="18" charset="0"/>
                                  <a:ea typeface="Cambria Math" panose="02040503050406030204" pitchFamily="18" charset="0"/>
                                </a:rPr>
                                <m:t>𝑑</m:t>
                              </m:r>
                            </m:e>
                            <m:sub>
                              <m:r>
                                <a:rPr lang="sv-SE" i="1">
                                  <a:latin typeface="Cambria Math" panose="02040503050406030204" pitchFamily="18" charset="0"/>
                                  <a:ea typeface="Cambria Math" panose="02040503050406030204" pitchFamily="18" charset="0"/>
                                </a:rPr>
                                <m:t>𝑦</m:t>
                              </m:r>
                            </m:sub>
                          </m:sSub>
                        </m:den>
                      </m:f>
                      <m:r>
                        <a:rPr lang="sv-SE" i="1">
                          <a:latin typeface="Cambria Math" panose="02040503050406030204" pitchFamily="18" charset="0"/>
                          <a:ea typeface="Cambria Math" panose="02040503050406030204" pitchFamily="18" charset="0"/>
                        </a:rPr>
                        <m:t>𝐼</m:t>
                      </m:r>
                      <m:r>
                        <a:rPr lang="sv-SE" i="1">
                          <a:latin typeface="Cambria Math" panose="02040503050406030204" pitchFamily="18" charset="0"/>
                          <a:ea typeface="Cambria Math" panose="02040503050406030204" pitchFamily="18" charset="0"/>
                        </a:rPr>
                        <m:t>(</m:t>
                      </m:r>
                      <m:r>
                        <a:rPr lang="sv-SE" i="1">
                          <a:latin typeface="Cambria Math" panose="02040503050406030204" pitchFamily="18" charset="0"/>
                          <a:ea typeface="Cambria Math" panose="02040503050406030204" pitchFamily="18" charset="0"/>
                        </a:rPr>
                        <m:t>𝑥</m:t>
                      </m:r>
                      <m:r>
                        <a:rPr lang="sv-SE" i="1">
                          <a:latin typeface="Cambria Math" panose="02040503050406030204" pitchFamily="18" charset="0"/>
                          <a:ea typeface="Cambria Math" panose="02040503050406030204" pitchFamily="18" charset="0"/>
                        </a:rPr>
                        <m:t>,</m:t>
                      </m:r>
                      <m:r>
                        <a:rPr lang="sv-SE" i="1">
                          <a:latin typeface="Cambria Math" panose="02040503050406030204" pitchFamily="18" charset="0"/>
                          <a:ea typeface="Cambria Math" panose="02040503050406030204" pitchFamily="18" charset="0"/>
                        </a:rPr>
                        <m:t>𝑦</m:t>
                      </m:r>
                      <m:r>
                        <a:rPr lang="sv-SE" i="1">
                          <a:latin typeface="Cambria Math" panose="02040503050406030204" pitchFamily="18" charset="0"/>
                          <a:ea typeface="Cambria Math" panose="02040503050406030204" pitchFamily="18" charset="0"/>
                        </a:rPr>
                        <m:t>)</m:t>
                      </m:r>
                    </m:oMath>
                  </m:oMathPara>
                </a14:m>
                <a:endParaRPr lang="en-US" dirty="0"/>
              </a:p>
              <a:p>
                <a:r>
                  <a:rPr lang="en-US" dirty="0"/>
                  <a:t>Where </a:t>
                </a:r>
                <a:r>
                  <a:rPr lang="en-US" dirty="0" err="1"/>
                  <a:t>i</a:t>
                </a:r>
                <a:r>
                  <a:rPr lang="en-US" dirty="0"/>
                  <a:t> denotes the imaginary part</a:t>
                </a:r>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00642C8-BBD6-4EEB-A6ED-34342652B87A}"/>
                  </a:ext>
                </a:extLst>
              </p:cNvPr>
              <p:cNvSpPr>
                <a:spLocks noGrp="1" noRot="1" noChangeAspect="1" noMove="1" noResize="1" noEditPoints="1" noAdjustHandles="1" noChangeArrowheads="1" noChangeShapeType="1" noTextEdit="1"/>
              </p:cNvSpPr>
              <p:nvPr>
                <p:ph idx="1"/>
              </p:nvPr>
            </p:nvSpPr>
            <p:spPr>
              <a:blipFill>
                <a:blip r:embed="rId2"/>
                <a:stretch>
                  <a:fillRect l="-1238" t="-2965" r="-801"/>
                </a:stretch>
              </a:blipFill>
            </p:spPr>
            <p:txBody>
              <a:bodyPr/>
              <a:lstStyle/>
              <a:p>
                <a:r>
                  <a:rPr lang="en-US">
                    <a:noFill/>
                  </a:rPr>
                  <a:t> </a:t>
                </a:r>
              </a:p>
            </p:txBody>
          </p:sp>
        </mc:Fallback>
      </mc:AlternateContent>
    </p:spTree>
    <p:extLst>
      <p:ext uri="{BB962C8B-B14F-4D97-AF65-F5344CB8AC3E}">
        <p14:creationId xmlns:p14="http://schemas.microsoft.com/office/powerpoint/2010/main" val="2558055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brief reminder of complex numbers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a:bodyPr>
              <a:lstStyle/>
              <a:p>
                <a:r>
                  <a:rPr lang="en-US" dirty="0"/>
                  <a:t>We can represent a complex number as a vector:</a:t>
                </a:r>
              </a:p>
              <a:p>
                <a:pPr lvl="1"/>
                <a:r>
                  <a:rPr lang="en-US" dirty="0"/>
                  <a:t>With x (real) and y (imaginary) coordinates</a:t>
                </a:r>
              </a:p>
              <a:p>
                <a:pPr lvl="1"/>
                <a:r>
                  <a:rPr lang="en-US" dirty="0"/>
                  <a:t>With magnitude </a:t>
                </a:r>
                <a14:m>
                  <m:oMath xmlns:m="http://schemas.openxmlformats.org/officeDocument/2006/math">
                    <m:r>
                      <a:rPr lang="sv-SE" b="0" i="1" smtClean="0">
                        <a:latin typeface="Cambria Math" panose="02040503050406030204" pitchFamily="18" charset="0"/>
                      </a:rPr>
                      <m:t>𝑀</m:t>
                    </m:r>
                  </m:oMath>
                </a14:m>
                <a:r>
                  <a:rPr lang="en-US" dirty="0"/>
                  <a:t> and angle </a:t>
                </a:r>
                <a14:m>
                  <m:oMath xmlns:m="http://schemas.openxmlformats.org/officeDocument/2006/math">
                    <m:r>
                      <a:rPr lang="en-US" i="1" smtClean="0">
                        <a:latin typeface="Cambria Math" panose="02040503050406030204" pitchFamily="18" charset="0"/>
                        <a:ea typeface="Cambria Math" panose="02040503050406030204" pitchFamily="18" charset="0"/>
                      </a:rPr>
                      <m:t>𝜑</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00642C8-BBD6-4EEB-A6ED-34342652B87A}"/>
                  </a:ext>
                </a:extLst>
              </p:cNvPr>
              <p:cNvSpPr>
                <a:spLocks noGrp="1" noRot="1" noChangeAspect="1" noMove="1" noResize="1" noEditPoints="1" noAdjustHandles="1" noChangeArrowheads="1" noChangeShapeType="1" noTextEdit="1"/>
              </p:cNvSpPr>
              <p:nvPr>
                <p:ph idx="1"/>
              </p:nvPr>
            </p:nvSpPr>
            <p:spPr>
              <a:blipFill>
                <a:blip r:embed="rId2"/>
                <a:stretch>
                  <a:fillRect l="-1675" t="-1752"/>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6C8B82D3-A5DA-4C40-ABED-89CF7D9C121C}"/>
              </a:ext>
            </a:extLst>
          </p:cNvPr>
          <p:cNvGrpSpPr/>
          <p:nvPr/>
        </p:nvGrpSpPr>
        <p:grpSpPr>
          <a:xfrm>
            <a:off x="3713681" y="4237839"/>
            <a:ext cx="1716637" cy="1626282"/>
            <a:chOff x="3256327" y="4346895"/>
            <a:chExt cx="1716637" cy="1626282"/>
          </a:xfrm>
        </p:grpSpPr>
        <p:grpSp>
          <p:nvGrpSpPr>
            <p:cNvPr id="14" name="Group 13">
              <a:extLst>
                <a:ext uri="{FF2B5EF4-FFF2-40B4-BE49-F238E27FC236}">
                  <a16:creationId xmlns:a16="http://schemas.microsoft.com/office/drawing/2014/main" id="{81137DF9-528E-4902-A97D-663CC0E5CC6B}"/>
                </a:ext>
              </a:extLst>
            </p:cNvPr>
            <p:cNvGrpSpPr/>
            <p:nvPr/>
          </p:nvGrpSpPr>
          <p:grpSpPr>
            <a:xfrm>
              <a:off x="3256327" y="4346895"/>
              <a:ext cx="1716637" cy="1626282"/>
              <a:chOff x="3147270" y="2694265"/>
              <a:chExt cx="1716637" cy="1626282"/>
            </a:xfrm>
          </p:grpSpPr>
          <p:cxnSp>
            <p:nvCxnSpPr>
              <p:cNvPr id="5" name="Straight Arrow Connector 4">
                <a:extLst>
                  <a:ext uri="{FF2B5EF4-FFF2-40B4-BE49-F238E27FC236}">
                    <a16:creationId xmlns:a16="http://schemas.microsoft.com/office/drawing/2014/main" id="{459822CA-6ACC-4A65-A0E4-065D8F499874}"/>
                  </a:ext>
                </a:extLst>
              </p:cNvPr>
              <p:cNvCxnSpPr/>
              <p:nvPr/>
            </p:nvCxnSpPr>
            <p:spPr>
              <a:xfrm flipV="1">
                <a:off x="3649211" y="2969703"/>
                <a:ext cx="0" cy="89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4651035-F98A-450E-AC81-D2363EB629BE}"/>
                  </a:ext>
                </a:extLst>
              </p:cNvPr>
              <p:cNvCxnSpPr>
                <a:cxnSpLocks/>
              </p:cNvCxnSpPr>
              <p:nvPr/>
            </p:nvCxnSpPr>
            <p:spPr>
              <a:xfrm>
                <a:off x="3649211" y="3877112"/>
                <a:ext cx="9923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27E3C54-1DFF-48B5-9E9A-C2CF259C2064}"/>
                  </a:ext>
                </a:extLst>
              </p:cNvPr>
              <p:cNvSpPr txBox="1"/>
              <p:nvPr/>
            </p:nvSpPr>
            <p:spPr>
              <a:xfrm>
                <a:off x="4280093" y="3951215"/>
                <a:ext cx="583814" cy="369332"/>
              </a:xfrm>
              <a:prstGeom prst="rect">
                <a:avLst/>
              </a:prstGeom>
              <a:noFill/>
            </p:spPr>
            <p:txBody>
              <a:bodyPr wrap="none" rtlCol="0">
                <a:spAutoFit/>
              </a:bodyPr>
              <a:lstStyle/>
              <a:p>
                <a:r>
                  <a:rPr lang="en-US" dirty="0"/>
                  <a:t>Real</a:t>
                </a:r>
              </a:p>
            </p:txBody>
          </p:sp>
          <p:sp>
            <p:nvSpPr>
              <p:cNvPr id="9" name="TextBox 8">
                <a:extLst>
                  <a:ext uri="{FF2B5EF4-FFF2-40B4-BE49-F238E27FC236}">
                    <a16:creationId xmlns:a16="http://schemas.microsoft.com/office/drawing/2014/main" id="{8EA2D22F-40BF-411B-B974-C576401916ED}"/>
                  </a:ext>
                </a:extLst>
              </p:cNvPr>
              <p:cNvSpPr txBox="1"/>
              <p:nvPr/>
            </p:nvSpPr>
            <p:spPr>
              <a:xfrm>
                <a:off x="3147270" y="2694265"/>
                <a:ext cx="420308" cy="369332"/>
              </a:xfrm>
              <a:prstGeom prst="rect">
                <a:avLst/>
              </a:prstGeom>
              <a:noFill/>
            </p:spPr>
            <p:txBody>
              <a:bodyPr wrap="none" rtlCol="0">
                <a:spAutoFit/>
              </a:bodyPr>
              <a:lstStyle/>
              <a:p>
                <a:r>
                  <a:rPr lang="en-US" dirty="0" err="1"/>
                  <a:t>Im</a:t>
                </a:r>
                <a:endParaRPr lang="en-US" dirty="0"/>
              </a:p>
            </p:txBody>
          </p:sp>
          <p:cxnSp>
            <p:nvCxnSpPr>
              <p:cNvPr id="12" name="Straight Arrow Connector 11">
                <a:extLst>
                  <a:ext uri="{FF2B5EF4-FFF2-40B4-BE49-F238E27FC236}">
                    <a16:creationId xmlns:a16="http://schemas.microsoft.com/office/drawing/2014/main" id="{96BD43DE-874A-4FC6-8064-3C6EAAE38635}"/>
                  </a:ext>
                </a:extLst>
              </p:cNvPr>
              <p:cNvCxnSpPr/>
              <p:nvPr/>
            </p:nvCxnSpPr>
            <p:spPr>
              <a:xfrm flipV="1">
                <a:off x="3649211" y="3355596"/>
                <a:ext cx="713064" cy="521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B401312-AF5E-4F34-8311-D00CC83D1A7A}"/>
                  </a:ext>
                </a:extLst>
              </p:cNvPr>
              <p:cNvSpPr txBox="1"/>
              <p:nvPr/>
            </p:nvSpPr>
            <p:spPr>
              <a:xfrm>
                <a:off x="4362275" y="3126012"/>
                <a:ext cx="461986" cy="276999"/>
              </a:xfrm>
              <a:prstGeom prst="rect">
                <a:avLst/>
              </a:prstGeom>
              <a:noFill/>
            </p:spPr>
            <p:txBody>
              <a:bodyPr wrap="none" rtlCol="0">
                <a:spAutoFit/>
              </a:bodyPr>
              <a:lstStyle/>
              <a:p>
                <a:r>
                  <a:rPr lang="en-US" sz="1200" dirty="0"/>
                  <a:t>(</a:t>
                </a:r>
                <a:r>
                  <a:rPr lang="en-US" sz="1200" dirty="0" err="1"/>
                  <a:t>x,y</a:t>
                </a:r>
                <a:r>
                  <a:rPr lang="en-US" sz="1200" dirty="0"/>
                  <a:t>)</a:t>
                </a:r>
              </a:p>
            </p:txBody>
          </p:sp>
        </p:grpSp>
        <p:cxnSp>
          <p:nvCxnSpPr>
            <p:cNvPr id="16" name="Straight Arrow Connector 15">
              <a:extLst>
                <a:ext uri="{FF2B5EF4-FFF2-40B4-BE49-F238E27FC236}">
                  <a16:creationId xmlns:a16="http://schemas.microsoft.com/office/drawing/2014/main" id="{2A74BC7B-4513-49D0-B723-BF2D38E95D5E}"/>
                </a:ext>
              </a:extLst>
            </p:cNvPr>
            <p:cNvCxnSpPr>
              <a:cxnSpLocks/>
            </p:cNvCxnSpPr>
            <p:nvPr/>
          </p:nvCxnSpPr>
          <p:spPr>
            <a:xfrm flipV="1">
              <a:off x="3676635" y="4934896"/>
              <a:ext cx="713064" cy="50214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B5665E6-75E0-48C3-97E6-8E659B1EE111}"/>
                    </a:ext>
                  </a:extLst>
                </p:cNvPr>
                <p:cNvSpPr txBox="1"/>
                <p:nvPr/>
              </p:nvSpPr>
              <p:spPr>
                <a:xfrm>
                  <a:off x="3809020" y="4908970"/>
                  <a:ext cx="2669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𝑀</m:t>
                        </m:r>
                      </m:oMath>
                    </m:oMathPara>
                  </a14:m>
                  <a:endParaRPr lang="en-US" dirty="0"/>
                </a:p>
              </p:txBody>
            </p:sp>
          </mc:Choice>
          <mc:Fallback xmlns="">
            <p:sp>
              <p:nvSpPr>
                <p:cNvPr id="18" name="TextBox 17">
                  <a:extLst>
                    <a:ext uri="{FF2B5EF4-FFF2-40B4-BE49-F238E27FC236}">
                      <a16:creationId xmlns:a16="http://schemas.microsoft.com/office/drawing/2014/main" id="{4B5665E6-75E0-48C3-97E6-8E659B1EE111}"/>
                    </a:ext>
                  </a:extLst>
                </p:cNvPr>
                <p:cNvSpPr txBox="1">
                  <a:spLocks noRot="1" noChangeAspect="1" noMove="1" noResize="1" noEditPoints="1" noAdjustHandles="1" noChangeArrowheads="1" noChangeShapeType="1" noTextEdit="1"/>
                </p:cNvSpPr>
                <p:nvPr/>
              </p:nvSpPr>
              <p:spPr>
                <a:xfrm>
                  <a:off x="3809020" y="4908970"/>
                  <a:ext cx="266932" cy="276999"/>
                </a:xfrm>
                <a:prstGeom prst="rect">
                  <a:avLst/>
                </a:prstGeom>
                <a:blipFill>
                  <a:blip r:embed="rId3"/>
                  <a:stretch>
                    <a:fillRect l="-20455" r="-13636"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91C1C72-9EB5-47DA-88B8-22667DD311D0}"/>
                    </a:ext>
                  </a:extLst>
                </p:cNvPr>
                <p:cNvSpPr txBox="1"/>
                <p:nvPr/>
              </p:nvSpPr>
              <p:spPr>
                <a:xfrm>
                  <a:off x="4033167" y="5232869"/>
                  <a:ext cx="2261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oMath>
                    </m:oMathPara>
                  </a14:m>
                  <a:endParaRPr lang="en-US" dirty="0"/>
                </a:p>
              </p:txBody>
            </p:sp>
          </mc:Choice>
          <mc:Fallback xmlns="">
            <p:sp>
              <p:nvSpPr>
                <p:cNvPr id="19" name="TextBox 18">
                  <a:extLst>
                    <a:ext uri="{FF2B5EF4-FFF2-40B4-BE49-F238E27FC236}">
                      <a16:creationId xmlns:a16="http://schemas.microsoft.com/office/drawing/2014/main" id="{691C1C72-9EB5-47DA-88B8-22667DD311D0}"/>
                    </a:ext>
                  </a:extLst>
                </p:cNvPr>
                <p:cNvSpPr txBox="1">
                  <a:spLocks noRot="1" noChangeAspect="1" noMove="1" noResize="1" noEditPoints="1" noAdjustHandles="1" noChangeArrowheads="1" noChangeShapeType="1" noTextEdit="1"/>
                </p:cNvSpPr>
                <p:nvPr/>
              </p:nvSpPr>
              <p:spPr>
                <a:xfrm>
                  <a:off x="4033167" y="5232869"/>
                  <a:ext cx="226151" cy="276999"/>
                </a:xfrm>
                <a:prstGeom prst="rect">
                  <a:avLst/>
                </a:prstGeom>
                <a:blipFill>
                  <a:blip r:embed="rId4"/>
                  <a:stretch>
                    <a:fillRect l="-24324" r="-21622" b="-26667"/>
                  </a:stretch>
                </a:blipFill>
              </p:spPr>
              <p:txBody>
                <a:bodyPr/>
                <a:lstStyle/>
                <a:p>
                  <a:r>
                    <a:rPr lang="en-US">
                      <a:noFill/>
                    </a:rPr>
                    <a:t> </a:t>
                  </a:r>
                </a:p>
              </p:txBody>
            </p:sp>
          </mc:Fallback>
        </mc:AlternateContent>
        <p:sp>
          <p:nvSpPr>
            <p:cNvPr id="21" name="Arc 20">
              <a:extLst>
                <a:ext uri="{FF2B5EF4-FFF2-40B4-BE49-F238E27FC236}">
                  <a16:creationId xmlns:a16="http://schemas.microsoft.com/office/drawing/2014/main" id="{9AC7B025-4602-4C28-B593-24F7E1C7A121}"/>
                </a:ext>
              </a:extLst>
            </p:cNvPr>
            <p:cNvSpPr/>
            <p:nvPr/>
          </p:nvSpPr>
          <p:spPr>
            <a:xfrm>
              <a:off x="3926410" y="5371370"/>
              <a:ext cx="149542" cy="38795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859607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brief reminder of complex numbers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a:bodyPr>
              <a:lstStyle/>
              <a:p>
                <a:r>
                  <a:rPr lang="en-US" dirty="0"/>
                  <a:t>We can represent the gradient image from the output of the derivative filter in each direction:</a:t>
                </a:r>
              </a:p>
              <a:p>
                <a:endParaRPr lang="en-US" dirty="0"/>
              </a:p>
              <a:p>
                <a:pPr marL="0" indent="0">
                  <a:buNone/>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𝐺𝑟𝑎𝑑𝑖𝑒𝑛𝑡</m:t>
                      </m:r>
                      <m:r>
                        <a:rPr lang="sv-SE" sz="2400" b="0" i="1" smtClean="0">
                          <a:latin typeface="Cambria Math" panose="02040503050406030204" pitchFamily="18" charset="0"/>
                        </a:rPr>
                        <m:t>=</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𝑅𝑒𝑠</m:t>
                          </m:r>
                        </m:e>
                        <m:sub>
                          <m:r>
                            <a:rPr lang="sv-SE" sz="2400" b="0" i="1" smtClean="0">
                              <a:latin typeface="Cambria Math" panose="02040503050406030204" pitchFamily="18" charset="0"/>
                            </a:rPr>
                            <m:t>𝑥</m:t>
                          </m:r>
                        </m:sub>
                      </m:sSub>
                      <m:r>
                        <a:rPr lang="sv-SE" sz="2400" b="0" i="1" smtClean="0">
                          <a:latin typeface="Cambria Math" panose="02040503050406030204" pitchFamily="18" charset="0"/>
                        </a:rPr>
                        <m:t>+</m:t>
                      </m:r>
                      <m:r>
                        <a:rPr lang="sv-SE" sz="2400" b="0" i="1" smtClean="0">
                          <a:latin typeface="Cambria Math" panose="02040503050406030204" pitchFamily="18" charset="0"/>
                        </a:rPr>
                        <m:t>𝑖</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𝑅𝑒𝑠</m:t>
                          </m:r>
                        </m:e>
                        <m:sub>
                          <m:r>
                            <a:rPr lang="sv-SE" sz="2400" b="0" i="1" smtClean="0">
                              <a:latin typeface="Cambria Math" panose="02040503050406030204" pitchFamily="18" charset="0"/>
                            </a:rPr>
                            <m:t>𝑦</m:t>
                          </m:r>
                        </m:sub>
                      </m:sSub>
                      <m:r>
                        <a:rPr lang="sv-SE" sz="2400" b="0" i="1" smtClean="0">
                          <a:latin typeface="Cambria Math" panose="02040503050406030204" pitchFamily="18" charset="0"/>
                        </a:rPr>
                        <m:t>=</m:t>
                      </m:r>
                      <m:r>
                        <a:rPr lang="sv-SE" sz="2400" b="0" i="1" smtClean="0">
                          <a:latin typeface="Cambria Math" panose="02040503050406030204" pitchFamily="18" charset="0"/>
                        </a:rPr>
                        <m:t>𝑀𝑐𝑜𝑠</m:t>
                      </m:r>
                      <m:d>
                        <m:dPr>
                          <m:ctrlPr>
                            <a:rPr lang="sv-SE" sz="2400" b="0" i="1" smtClean="0">
                              <a:latin typeface="Cambria Math" panose="02040503050406030204" pitchFamily="18" charset="0"/>
                            </a:rPr>
                          </m:ctrlPr>
                        </m:dPr>
                        <m:e>
                          <m:r>
                            <a:rPr lang="sv-SE" sz="2400" b="0" i="1" smtClean="0">
                              <a:latin typeface="Cambria Math" panose="02040503050406030204" pitchFamily="18" charset="0"/>
                              <a:ea typeface="Cambria Math" panose="02040503050406030204" pitchFamily="18" charset="0"/>
                            </a:rPr>
                            <m:t>𝜑</m:t>
                          </m:r>
                        </m:e>
                      </m:d>
                      <m:r>
                        <a:rPr lang="sv-SE" sz="2400" b="0" i="1" smtClean="0">
                          <a:latin typeface="Cambria Math" panose="02040503050406030204" pitchFamily="18" charset="0"/>
                          <a:ea typeface="Cambria Math" panose="02040503050406030204" pitchFamily="18" charset="0"/>
                        </a:rPr>
                        <m:t>+</m:t>
                      </m:r>
                      <m:r>
                        <a:rPr lang="sv-SE" sz="2400" b="0" i="1" smtClean="0">
                          <a:latin typeface="Cambria Math" panose="02040503050406030204" pitchFamily="18" charset="0"/>
                          <a:ea typeface="Cambria Math" panose="02040503050406030204" pitchFamily="18" charset="0"/>
                        </a:rPr>
                        <m:t>𝑖</m:t>
                      </m:r>
                      <m:r>
                        <a:rPr lang="sv-SE" sz="2400" b="0" i="1" smtClean="0">
                          <a:latin typeface="Cambria Math" panose="02040503050406030204" pitchFamily="18" charset="0"/>
                          <a:ea typeface="Cambria Math" panose="02040503050406030204" pitchFamily="18" charset="0"/>
                        </a:rPr>
                        <m:t> </m:t>
                      </m:r>
                      <m:r>
                        <a:rPr lang="sv-SE" sz="2400" b="0" i="1" smtClean="0">
                          <a:latin typeface="Cambria Math" panose="02040503050406030204" pitchFamily="18" charset="0"/>
                          <a:ea typeface="Cambria Math" panose="02040503050406030204" pitchFamily="18" charset="0"/>
                        </a:rPr>
                        <m:t>𝑀𝑠𝑖𝑛</m:t>
                      </m:r>
                      <m:d>
                        <m:dPr>
                          <m:ctrlPr>
                            <a:rPr lang="sv-SE" sz="2400" b="0" i="1" smtClean="0">
                              <a:latin typeface="Cambria Math" panose="02040503050406030204" pitchFamily="18" charset="0"/>
                              <a:ea typeface="Cambria Math" panose="02040503050406030204" pitchFamily="18" charset="0"/>
                            </a:rPr>
                          </m:ctrlPr>
                        </m:dPr>
                        <m:e>
                          <m:r>
                            <a:rPr lang="sv-SE" sz="2400" b="0" i="1" smtClean="0">
                              <a:latin typeface="Cambria Math" panose="02040503050406030204" pitchFamily="18" charset="0"/>
                              <a:ea typeface="Cambria Math" panose="02040503050406030204" pitchFamily="18" charset="0"/>
                            </a:rPr>
                            <m:t>𝜑</m:t>
                          </m:r>
                        </m:e>
                      </m:d>
                      <m:r>
                        <a:rPr lang="sv-SE" sz="2400" b="0" i="1" smtClean="0">
                          <a:latin typeface="Cambria Math" panose="02040503050406030204" pitchFamily="18" charset="0"/>
                          <a:ea typeface="Cambria Math" panose="02040503050406030204" pitchFamily="18" charset="0"/>
                        </a:rPr>
                        <m:t>=</m:t>
                      </m:r>
                      <m:r>
                        <a:rPr lang="sv-SE" sz="2400" i="1">
                          <a:latin typeface="Cambria Math" panose="02040503050406030204" pitchFamily="18" charset="0"/>
                        </a:rPr>
                        <m:t>𝑀</m:t>
                      </m:r>
                      <m:sSup>
                        <m:sSupPr>
                          <m:ctrlPr>
                            <a:rPr lang="sv-SE" sz="2400" i="1">
                              <a:latin typeface="Cambria Math" panose="02040503050406030204" pitchFamily="18" charset="0"/>
                            </a:rPr>
                          </m:ctrlPr>
                        </m:sSupPr>
                        <m:e>
                          <m:r>
                            <a:rPr lang="sv-SE" sz="2400" i="1">
                              <a:latin typeface="Cambria Math" panose="02040503050406030204" pitchFamily="18" charset="0"/>
                            </a:rPr>
                            <m:t>𝑒</m:t>
                          </m:r>
                        </m:e>
                        <m:sup>
                          <m:r>
                            <a:rPr lang="sv-SE" sz="2400" i="1">
                              <a:latin typeface="Cambria Math" panose="02040503050406030204" pitchFamily="18" charset="0"/>
                            </a:rPr>
                            <m:t>𝑖</m:t>
                          </m:r>
                          <m:r>
                            <a:rPr lang="sv-SE" sz="2400" i="1">
                              <a:latin typeface="Cambria Math" panose="02040503050406030204" pitchFamily="18" charset="0"/>
                              <a:ea typeface="Cambria Math" panose="02040503050406030204" pitchFamily="18" charset="0"/>
                            </a:rPr>
                            <m:t>𝜑</m:t>
                          </m:r>
                        </m:sup>
                      </m:sSup>
                    </m:oMath>
                  </m:oMathPara>
                </a14:m>
                <a:endParaRPr lang="en-US" sz="2400" dirty="0"/>
              </a:p>
              <a:p>
                <a:endParaRPr lang="en-US" dirty="0"/>
              </a:p>
            </p:txBody>
          </p:sp>
        </mc:Choice>
        <mc:Fallback xmlns="">
          <p:sp>
            <p:nvSpPr>
              <p:cNvPr id="3" name="Content Placeholder 2">
                <a:extLst>
                  <a:ext uri="{FF2B5EF4-FFF2-40B4-BE49-F238E27FC236}">
                    <a16:creationId xmlns:a16="http://schemas.microsoft.com/office/drawing/2014/main" id="{500642C8-BBD6-4EEB-A6ED-34342652B87A}"/>
                  </a:ext>
                </a:extLst>
              </p:cNvPr>
              <p:cNvSpPr>
                <a:spLocks noGrp="1" noRot="1" noChangeAspect="1" noMove="1" noResize="1" noEditPoints="1" noAdjustHandles="1" noChangeArrowheads="1" noChangeShapeType="1" noTextEdit="1"/>
              </p:cNvSpPr>
              <p:nvPr>
                <p:ph idx="1"/>
              </p:nvPr>
            </p:nvSpPr>
            <p:spPr>
              <a:blipFill>
                <a:blip r:embed="rId2"/>
                <a:stretch>
                  <a:fillRect l="-1675" t="-1752" r="-801"/>
                </a:stretch>
              </a:blipFill>
            </p:spPr>
            <p:txBody>
              <a:bodyPr/>
              <a:lstStyle/>
              <a:p>
                <a:r>
                  <a:rPr lang="en-US">
                    <a:noFill/>
                  </a:rPr>
                  <a:t> </a:t>
                </a:r>
              </a:p>
            </p:txBody>
          </p:sp>
        </mc:Fallback>
      </mc:AlternateContent>
      <p:grpSp>
        <p:nvGrpSpPr>
          <p:cNvPr id="34" name="Group 33">
            <a:extLst>
              <a:ext uri="{FF2B5EF4-FFF2-40B4-BE49-F238E27FC236}">
                <a16:creationId xmlns:a16="http://schemas.microsoft.com/office/drawing/2014/main" id="{F0474AD9-7FB9-438B-83FA-C4A69EA107A3}"/>
              </a:ext>
            </a:extLst>
          </p:cNvPr>
          <p:cNvGrpSpPr/>
          <p:nvPr/>
        </p:nvGrpSpPr>
        <p:grpSpPr>
          <a:xfrm>
            <a:off x="1482209" y="4237839"/>
            <a:ext cx="1716637" cy="1626282"/>
            <a:chOff x="3147270" y="2694265"/>
            <a:chExt cx="1716637" cy="1626282"/>
          </a:xfrm>
        </p:grpSpPr>
        <p:cxnSp>
          <p:nvCxnSpPr>
            <p:cNvPr id="39" name="Straight Arrow Connector 38">
              <a:extLst>
                <a:ext uri="{FF2B5EF4-FFF2-40B4-BE49-F238E27FC236}">
                  <a16:creationId xmlns:a16="http://schemas.microsoft.com/office/drawing/2014/main" id="{B1C75576-78E1-43BE-973D-15CBC4329408}"/>
                </a:ext>
              </a:extLst>
            </p:cNvPr>
            <p:cNvCxnSpPr/>
            <p:nvPr/>
          </p:nvCxnSpPr>
          <p:spPr>
            <a:xfrm flipV="1">
              <a:off x="3649211" y="2969703"/>
              <a:ext cx="0" cy="89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A2BBD98-5C49-4EA0-8D47-268A0DDFED56}"/>
                </a:ext>
              </a:extLst>
            </p:cNvPr>
            <p:cNvCxnSpPr>
              <a:cxnSpLocks/>
            </p:cNvCxnSpPr>
            <p:nvPr/>
          </p:nvCxnSpPr>
          <p:spPr>
            <a:xfrm>
              <a:off x="3649211" y="3877112"/>
              <a:ext cx="9923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08E7EC0-B488-4055-8187-1528FBA50BAC}"/>
                </a:ext>
              </a:extLst>
            </p:cNvPr>
            <p:cNvSpPr txBox="1"/>
            <p:nvPr/>
          </p:nvSpPr>
          <p:spPr>
            <a:xfrm>
              <a:off x="4280093" y="3951215"/>
              <a:ext cx="583814" cy="369332"/>
            </a:xfrm>
            <a:prstGeom prst="rect">
              <a:avLst/>
            </a:prstGeom>
            <a:noFill/>
          </p:spPr>
          <p:txBody>
            <a:bodyPr wrap="none" rtlCol="0">
              <a:spAutoFit/>
            </a:bodyPr>
            <a:lstStyle/>
            <a:p>
              <a:r>
                <a:rPr lang="en-US" dirty="0"/>
                <a:t>Real</a:t>
              </a:r>
            </a:p>
          </p:txBody>
        </p:sp>
        <p:sp>
          <p:nvSpPr>
            <p:cNvPr id="42" name="TextBox 41">
              <a:extLst>
                <a:ext uri="{FF2B5EF4-FFF2-40B4-BE49-F238E27FC236}">
                  <a16:creationId xmlns:a16="http://schemas.microsoft.com/office/drawing/2014/main" id="{3AF94420-EA17-4465-8FD9-AA0EFC8BBC0C}"/>
                </a:ext>
              </a:extLst>
            </p:cNvPr>
            <p:cNvSpPr txBox="1"/>
            <p:nvPr/>
          </p:nvSpPr>
          <p:spPr>
            <a:xfrm>
              <a:off x="3147270" y="2694265"/>
              <a:ext cx="420308" cy="369332"/>
            </a:xfrm>
            <a:prstGeom prst="rect">
              <a:avLst/>
            </a:prstGeom>
            <a:noFill/>
          </p:spPr>
          <p:txBody>
            <a:bodyPr wrap="none" rtlCol="0">
              <a:spAutoFit/>
            </a:bodyPr>
            <a:lstStyle/>
            <a:p>
              <a:r>
                <a:rPr lang="en-US" dirty="0" err="1"/>
                <a:t>Im</a:t>
              </a:r>
              <a:endParaRPr lang="en-US" dirty="0"/>
            </a:p>
          </p:txBody>
        </p:sp>
        <p:cxnSp>
          <p:nvCxnSpPr>
            <p:cNvPr id="43" name="Straight Arrow Connector 42">
              <a:extLst>
                <a:ext uri="{FF2B5EF4-FFF2-40B4-BE49-F238E27FC236}">
                  <a16:creationId xmlns:a16="http://schemas.microsoft.com/office/drawing/2014/main" id="{046FBA64-C66C-4112-B484-F558238E9AAB}"/>
                </a:ext>
              </a:extLst>
            </p:cNvPr>
            <p:cNvCxnSpPr/>
            <p:nvPr/>
          </p:nvCxnSpPr>
          <p:spPr>
            <a:xfrm flipV="1">
              <a:off x="3649211" y="3355596"/>
              <a:ext cx="713064" cy="521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35" name="Straight Arrow Connector 34">
            <a:extLst>
              <a:ext uri="{FF2B5EF4-FFF2-40B4-BE49-F238E27FC236}">
                <a16:creationId xmlns:a16="http://schemas.microsoft.com/office/drawing/2014/main" id="{08570941-F4AB-46DE-A180-3EEE02EA5E83}"/>
              </a:ext>
            </a:extLst>
          </p:cNvPr>
          <p:cNvCxnSpPr>
            <a:cxnSpLocks/>
          </p:cNvCxnSpPr>
          <p:nvPr/>
        </p:nvCxnSpPr>
        <p:spPr>
          <a:xfrm flipV="1">
            <a:off x="1902517" y="4825840"/>
            <a:ext cx="713064" cy="50214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31921D9-D584-4823-973E-0AF93FCAC0DB}"/>
                  </a:ext>
                </a:extLst>
              </p:cNvPr>
              <p:cNvSpPr txBox="1"/>
              <p:nvPr/>
            </p:nvSpPr>
            <p:spPr>
              <a:xfrm>
                <a:off x="2034902" y="4799914"/>
                <a:ext cx="2669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𝑀</m:t>
                      </m:r>
                    </m:oMath>
                  </m:oMathPara>
                </a14:m>
                <a:endParaRPr lang="en-US" dirty="0"/>
              </a:p>
            </p:txBody>
          </p:sp>
        </mc:Choice>
        <mc:Fallback xmlns="">
          <p:sp>
            <p:nvSpPr>
              <p:cNvPr id="36" name="TextBox 35">
                <a:extLst>
                  <a:ext uri="{FF2B5EF4-FFF2-40B4-BE49-F238E27FC236}">
                    <a16:creationId xmlns:a16="http://schemas.microsoft.com/office/drawing/2014/main" id="{E31921D9-D584-4823-973E-0AF93FCAC0DB}"/>
                  </a:ext>
                </a:extLst>
              </p:cNvPr>
              <p:cNvSpPr txBox="1">
                <a:spLocks noRot="1" noChangeAspect="1" noMove="1" noResize="1" noEditPoints="1" noAdjustHandles="1" noChangeArrowheads="1" noChangeShapeType="1" noTextEdit="1"/>
              </p:cNvSpPr>
              <p:nvPr/>
            </p:nvSpPr>
            <p:spPr>
              <a:xfrm>
                <a:off x="2034902" y="4799914"/>
                <a:ext cx="266932" cy="276999"/>
              </a:xfrm>
              <a:prstGeom prst="rect">
                <a:avLst/>
              </a:prstGeom>
              <a:blipFill>
                <a:blip r:embed="rId3"/>
                <a:stretch>
                  <a:fillRect l="-20455" r="-13636"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7C9A259-CC5A-42DC-831C-A4B7D6280B77}"/>
                  </a:ext>
                </a:extLst>
              </p:cNvPr>
              <p:cNvSpPr txBox="1"/>
              <p:nvPr/>
            </p:nvSpPr>
            <p:spPr>
              <a:xfrm>
                <a:off x="2259049" y="5123813"/>
                <a:ext cx="2261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oMath>
                  </m:oMathPara>
                </a14:m>
                <a:endParaRPr lang="en-US" dirty="0"/>
              </a:p>
            </p:txBody>
          </p:sp>
        </mc:Choice>
        <mc:Fallback xmlns="">
          <p:sp>
            <p:nvSpPr>
              <p:cNvPr id="37" name="TextBox 36">
                <a:extLst>
                  <a:ext uri="{FF2B5EF4-FFF2-40B4-BE49-F238E27FC236}">
                    <a16:creationId xmlns:a16="http://schemas.microsoft.com/office/drawing/2014/main" id="{C7C9A259-CC5A-42DC-831C-A4B7D6280B77}"/>
                  </a:ext>
                </a:extLst>
              </p:cNvPr>
              <p:cNvSpPr txBox="1">
                <a:spLocks noRot="1" noChangeAspect="1" noMove="1" noResize="1" noEditPoints="1" noAdjustHandles="1" noChangeArrowheads="1" noChangeShapeType="1" noTextEdit="1"/>
              </p:cNvSpPr>
              <p:nvPr/>
            </p:nvSpPr>
            <p:spPr>
              <a:xfrm>
                <a:off x="2259049" y="5123813"/>
                <a:ext cx="226151" cy="276999"/>
              </a:xfrm>
              <a:prstGeom prst="rect">
                <a:avLst/>
              </a:prstGeom>
              <a:blipFill>
                <a:blip r:embed="rId4"/>
                <a:stretch>
                  <a:fillRect l="-24324" r="-21622" b="-26667"/>
                </a:stretch>
              </a:blipFill>
            </p:spPr>
            <p:txBody>
              <a:bodyPr/>
              <a:lstStyle/>
              <a:p>
                <a:r>
                  <a:rPr lang="en-US">
                    <a:noFill/>
                  </a:rPr>
                  <a:t> </a:t>
                </a:r>
              </a:p>
            </p:txBody>
          </p:sp>
        </mc:Fallback>
      </mc:AlternateContent>
      <p:sp>
        <p:nvSpPr>
          <p:cNvPr id="38" name="Arc 37">
            <a:extLst>
              <a:ext uri="{FF2B5EF4-FFF2-40B4-BE49-F238E27FC236}">
                <a16:creationId xmlns:a16="http://schemas.microsoft.com/office/drawing/2014/main" id="{E1AE58FE-456A-43E9-9100-F327915CA5C0}"/>
              </a:ext>
            </a:extLst>
          </p:cNvPr>
          <p:cNvSpPr/>
          <p:nvPr/>
        </p:nvSpPr>
        <p:spPr>
          <a:xfrm>
            <a:off x="2152292" y="5262314"/>
            <a:ext cx="149542" cy="38795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6" name="Group 45">
            <a:extLst>
              <a:ext uri="{FF2B5EF4-FFF2-40B4-BE49-F238E27FC236}">
                <a16:creationId xmlns:a16="http://schemas.microsoft.com/office/drawing/2014/main" id="{BCA05BEF-5298-4545-8301-4DE37FB3EEA0}"/>
              </a:ext>
            </a:extLst>
          </p:cNvPr>
          <p:cNvGrpSpPr/>
          <p:nvPr/>
        </p:nvGrpSpPr>
        <p:grpSpPr>
          <a:xfrm>
            <a:off x="5760595" y="4263772"/>
            <a:ext cx="2129038" cy="1626282"/>
            <a:chOff x="3147270" y="2694265"/>
            <a:chExt cx="2129038" cy="1626282"/>
          </a:xfrm>
        </p:grpSpPr>
        <p:cxnSp>
          <p:nvCxnSpPr>
            <p:cNvPr id="51" name="Straight Arrow Connector 50">
              <a:extLst>
                <a:ext uri="{FF2B5EF4-FFF2-40B4-BE49-F238E27FC236}">
                  <a16:creationId xmlns:a16="http://schemas.microsoft.com/office/drawing/2014/main" id="{DDDD0D92-6B96-4453-864A-E7582A1AA323}"/>
                </a:ext>
              </a:extLst>
            </p:cNvPr>
            <p:cNvCxnSpPr/>
            <p:nvPr/>
          </p:nvCxnSpPr>
          <p:spPr>
            <a:xfrm flipV="1">
              <a:off x="3649211" y="2969703"/>
              <a:ext cx="0" cy="89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8E8F629-D94D-4A57-B534-6B50E05B2FB5}"/>
                </a:ext>
              </a:extLst>
            </p:cNvPr>
            <p:cNvCxnSpPr>
              <a:cxnSpLocks/>
            </p:cNvCxnSpPr>
            <p:nvPr/>
          </p:nvCxnSpPr>
          <p:spPr>
            <a:xfrm>
              <a:off x="3649211" y="3877112"/>
              <a:ext cx="9923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8570F302-E6E8-4E65-AFD1-ADA28538AB7D}"/>
                </a:ext>
              </a:extLst>
            </p:cNvPr>
            <p:cNvSpPr txBox="1"/>
            <p:nvPr/>
          </p:nvSpPr>
          <p:spPr>
            <a:xfrm>
              <a:off x="4280093" y="3951215"/>
              <a:ext cx="583814" cy="369332"/>
            </a:xfrm>
            <a:prstGeom prst="rect">
              <a:avLst/>
            </a:prstGeom>
            <a:noFill/>
          </p:spPr>
          <p:txBody>
            <a:bodyPr wrap="none" rtlCol="0">
              <a:spAutoFit/>
            </a:bodyPr>
            <a:lstStyle/>
            <a:p>
              <a:r>
                <a:rPr lang="en-US" dirty="0"/>
                <a:t>Real</a:t>
              </a:r>
            </a:p>
          </p:txBody>
        </p:sp>
        <p:sp>
          <p:nvSpPr>
            <p:cNvPr id="54" name="TextBox 53">
              <a:extLst>
                <a:ext uri="{FF2B5EF4-FFF2-40B4-BE49-F238E27FC236}">
                  <a16:creationId xmlns:a16="http://schemas.microsoft.com/office/drawing/2014/main" id="{344EC075-CA61-46F7-A79F-63E861FE07EC}"/>
                </a:ext>
              </a:extLst>
            </p:cNvPr>
            <p:cNvSpPr txBox="1"/>
            <p:nvPr/>
          </p:nvSpPr>
          <p:spPr>
            <a:xfrm>
              <a:off x="3147270" y="2694265"/>
              <a:ext cx="420308" cy="369332"/>
            </a:xfrm>
            <a:prstGeom prst="rect">
              <a:avLst/>
            </a:prstGeom>
            <a:noFill/>
          </p:spPr>
          <p:txBody>
            <a:bodyPr wrap="none" rtlCol="0">
              <a:spAutoFit/>
            </a:bodyPr>
            <a:lstStyle/>
            <a:p>
              <a:r>
                <a:rPr lang="en-US" dirty="0" err="1"/>
                <a:t>Im</a:t>
              </a:r>
              <a:endParaRPr lang="en-US" dirty="0"/>
            </a:p>
          </p:txBody>
        </p:sp>
        <p:cxnSp>
          <p:nvCxnSpPr>
            <p:cNvPr id="55" name="Straight Arrow Connector 54">
              <a:extLst>
                <a:ext uri="{FF2B5EF4-FFF2-40B4-BE49-F238E27FC236}">
                  <a16:creationId xmlns:a16="http://schemas.microsoft.com/office/drawing/2014/main" id="{119B26EC-A5A2-4023-B697-7A993B0EC6E0}"/>
                </a:ext>
              </a:extLst>
            </p:cNvPr>
            <p:cNvCxnSpPr/>
            <p:nvPr/>
          </p:nvCxnSpPr>
          <p:spPr>
            <a:xfrm flipV="1">
              <a:off x="3649211" y="3355596"/>
              <a:ext cx="713064" cy="521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5AC66C12-59AF-4027-9D1A-4754C62FFBE5}"/>
                </a:ext>
              </a:extLst>
            </p:cNvPr>
            <p:cNvSpPr txBox="1"/>
            <p:nvPr/>
          </p:nvSpPr>
          <p:spPr>
            <a:xfrm>
              <a:off x="4362275" y="3126012"/>
              <a:ext cx="914033" cy="276999"/>
            </a:xfrm>
            <a:prstGeom prst="rect">
              <a:avLst/>
            </a:prstGeom>
            <a:noFill/>
          </p:spPr>
          <p:txBody>
            <a:bodyPr wrap="none" rtlCol="0">
              <a:spAutoFit/>
            </a:bodyPr>
            <a:lstStyle/>
            <a:p>
              <a:r>
                <a:rPr lang="en-US" sz="1200" dirty="0"/>
                <a:t>(</a:t>
              </a:r>
              <a:r>
                <a:rPr lang="en-US" sz="1200" dirty="0" err="1"/>
                <a:t>Resx,Resy</a:t>
              </a:r>
              <a:r>
                <a:rPr lang="en-US" sz="1200" dirty="0"/>
                <a:t>)</a:t>
              </a:r>
            </a:p>
          </p:txBody>
        </p:sp>
      </p:grpSp>
      <p:cxnSp>
        <p:nvCxnSpPr>
          <p:cNvPr id="57" name="Straight Connector 56">
            <a:extLst>
              <a:ext uri="{FF2B5EF4-FFF2-40B4-BE49-F238E27FC236}">
                <a16:creationId xmlns:a16="http://schemas.microsoft.com/office/drawing/2014/main" id="{3EEDC907-A40F-4BB2-A1E1-A4ED00E86F4A}"/>
              </a:ext>
            </a:extLst>
          </p:cNvPr>
          <p:cNvCxnSpPr>
            <a:cxnSpLocks/>
          </p:cNvCxnSpPr>
          <p:nvPr/>
        </p:nvCxnSpPr>
        <p:spPr>
          <a:xfrm>
            <a:off x="6967285" y="4962088"/>
            <a:ext cx="1" cy="484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625687F-4155-4C8B-A57A-BA8C0802410F}"/>
              </a:ext>
            </a:extLst>
          </p:cNvPr>
          <p:cNvCxnSpPr/>
          <p:nvPr/>
        </p:nvCxnSpPr>
        <p:spPr>
          <a:xfrm flipH="1">
            <a:off x="6245910" y="4938413"/>
            <a:ext cx="713063" cy="15503"/>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C24686B-BD5E-4DCC-B642-9C75AB255A8E}"/>
              </a:ext>
            </a:extLst>
          </p:cNvPr>
          <p:cNvCxnSpPr/>
          <p:nvPr/>
        </p:nvCxnSpPr>
        <p:spPr>
          <a:xfrm>
            <a:off x="6180903" y="4946164"/>
            <a:ext cx="0" cy="5101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22D101D-328A-4D33-8F81-2EB60693014C}"/>
              </a:ext>
            </a:extLst>
          </p:cNvPr>
          <p:cNvCxnSpPr/>
          <p:nvPr/>
        </p:nvCxnSpPr>
        <p:spPr>
          <a:xfrm>
            <a:off x="6262536" y="5520722"/>
            <a:ext cx="7130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1A5C2510-12C8-45E6-A96A-ADA014215B9F}"/>
              </a:ext>
            </a:extLst>
          </p:cNvPr>
          <p:cNvSpPr txBox="1"/>
          <p:nvPr/>
        </p:nvSpPr>
        <p:spPr>
          <a:xfrm>
            <a:off x="6391786" y="5468412"/>
            <a:ext cx="461986" cy="261610"/>
          </a:xfrm>
          <a:prstGeom prst="rect">
            <a:avLst/>
          </a:prstGeom>
          <a:noFill/>
        </p:spPr>
        <p:txBody>
          <a:bodyPr wrap="none" rtlCol="0">
            <a:spAutoFit/>
          </a:bodyPr>
          <a:lstStyle/>
          <a:p>
            <a:r>
              <a:rPr lang="en-US" sz="1100" dirty="0" err="1"/>
              <a:t>Resx</a:t>
            </a:r>
            <a:endParaRPr lang="en-US" sz="1100" dirty="0"/>
          </a:p>
        </p:txBody>
      </p:sp>
      <p:sp>
        <p:nvSpPr>
          <p:cNvPr id="66" name="TextBox 65">
            <a:extLst>
              <a:ext uri="{FF2B5EF4-FFF2-40B4-BE49-F238E27FC236}">
                <a16:creationId xmlns:a16="http://schemas.microsoft.com/office/drawing/2014/main" id="{282D8490-D1DC-41A0-8142-8146B5D9CC62}"/>
              </a:ext>
            </a:extLst>
          </p:cNvPr>
          <p:cNvSpPr txBox="1"/>
          <p:nvPr/>
        </p:nvSpPr>
        <p:spPr>
          <a:xfrm>
            <a:off x="5699806" y="5029123"/>
            <a:ext cx="453970" cy="261610"/>
          </a:xfrm>
          <a:prstGeom prst="rect">
            <a:avLst/>
          </a:prstGeom>
          <a:noFill/>
        </p:spPr>
        <p:txBody>
          <a:bodyPr wrap="none" rtlCol="0">
            <a:spAutoFit/>
          </a:bodyPr>
          <a:lstStyle/>
          <a:p>
            <a:r>
              <a:rPr lang="en-US" sz="1100" dirty="0" err="1"/>
              <a:t>Resy</a:t>
            </a:r>
            <a:endParaRPr lang="en-US" sz="1100" dirty="0"/>
          </a:p>
        </p:txBody>
      </p:sp>
      <p:sp>
        <p:nvSpPr>
          <p:cNvPr id="67" name="TextBox 66">
            <a:extLst>
              <a:ext uri="{FF2B5EF4-FFF2-40B4-BE49-F238E27FC236}">
                <a16:creationId xmlns:a16="http://schemas.microsoft.com/office/drawing/2014/main" id="{051C4BB1-6DF3-434C-9321-E1E37D2BD4DE}"/>
              </a:ext>
            </a:extLst>
          </p:cNvPr>
          <p:cNvSpPr txBox="1"/>
          <p:nvPr/>
        </p:nvSpPr>
        <p:spPr>
          <a:xfrm rot="20266658">
            <a:off x="7678397" y="3837398"/>
            <a:ext cx="1433406" cy="369332"/>
          </a:xfrm>
          <a:prstGeom prst="rect">
            <a:avLst/>
          </a:prstGeom>
          <a:noFill/>
        </p:spPr>
        <p:txBody>
          <a:bodyPr wrap="none" rtlCol="0">
            <a:spAutoFit/>
          </a:bodyPr>
          <a:lstStyle/>
          <a:p>
            <a:r>
              <a:rPr lang="en-US" dirty="0">
                <a:solidFill>
                  <a:srgbClr val="FF0000"/>
                </a:solidFill>
              </a:rPr>
              <a:t>Euler identity</a:t>
            </a:r>
          </a:p>
        </p:txBody>
      </p:sp>
      <p:cxnSp>
        <p:nvCxnSpPr>
          <p:cNvPr id="69" name="Straight Arrow Connector 68">
            <a:extLst>
              <a:ext uri="{FF2B5EF4-FFF2-40B4-BE49-F238E27FC236}">
                <a16:creationId xmlns:a16="http://schemas.microsoft.com/office/drawing/2014/main" id="{2B4C2714-868C-4EDC-B492-72874DB2F21C}"/>
              </a:ext>
            </a:extLst>
          </p:cNvPr>
          <p:cNvCxnSpPr/>
          <p:nvPr/>
        </p:nvCxnSpPr>
        <p:spPr>
          <a:xfrm flipH="1" flipV="1">
            <a:off x="8196044" y="3603178"/>
            <a:ext cx="100668" cy="236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6483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Detecting patterns in the image</a:t>
            </a:r>
          </a:p>
        </p:txBody>
      </p:sp>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a:bodyPr>
          <a:lstStyle/>
          <a:p>
            <a:r>
              <a:rPr lang="en-US" sz="2400" dirty="0"/>
              <a:t>From the gradient image we are interested in the “orientation map” which represents the local orientation at every pixel</a:t>
            </a:r>
          </a:p>
          <a:p>
            <a:r>
              <a:rPr lang="en-US" sz="2400" dirty="0"/>
              <a:t>We are not interested into exact pixel orientation but rather a local orientation</a:t>
            </a:r>
          </a:p>
          <a:p>
            <a:r>
              <a:rPr lang="en-US" sz="2400" dirty="0"/>
              <a:t>One problem arise, the gradient points into the direction of biggest change, so depending on which side of the ridge you stand, gradients points into opposite directions, which would make the local gradient=0!</a:t>
            </a:r>
          </a:p>
          <a:p>
            <a:endParaRPr lang="en-US" sz="2400" dirty="0"/>
          </a:p>
          <a:p>
            <a:endParaRPr lang="en-US" dirty="0"/>
          </a:p>
        </p:txBody>
      </p:sp>
      <p:grpSp>
        <p:nvGrpSpPr>
          <p:cNvPr id="103" name="Group 102">
            <a:extLst>
              <a:ext uri="{FF2B5EF4-FFF2-40B4-BE49-F238E27FC236}">
                <a16:creationId xmlns:a16="http://schemas.microsoft.com/office/drawing/2014/main" id="{40112E15-D3EF-4C5E-A6D2-C5930552C2EA}"/>
              </a:ext>
            </a:extLst>
          </p:cNvPr>
          <p:cNvGrpSpPr/>
          <p:nvPr/>
        </p:nvGrpSpPr>
        <p:grpSpPr>
          <a:xfrm>
            <a:off x="1583366" y="4958751"/>
            <a:ext cx="5071780" cy="921125"/>
            <a:chOff x="1583366" y="4958751"/>
            <a:chExt cx="5071780" cy="921125"/>
          </a:xfrm>
        </p:grpSpPr>
        <p:cxnSp>
          <p:nvCxnSpPr>
            <p:cNvPr id="76" name="Straight Connector 75">
              <a:extLst>
                <a:ext uri="{FF2B5EF4-FFF2-40B4-BE49-F238E27FC236}">
                  <a16:creationId xmlns:a16="http://schemas.microsoft.com/office/drawing/2014/main" id="{CF326F75-11B5-4582-9EC2-107DE092D8F9}"/>
                </a:ext>
              </a:extLst>
            </p:cNvPr>
            <p:cNvCxnSpPr/>
            <p:nvPr/>
          </p:nvCxnSpPr>
          <p:spPr>
            <a:xfrm>
              <a:off x="2692866" y="5226341"/>
              <a:ext cx="2894202"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75E267B7-745B-4ACC-B15E-011889D001A3}"/>
                </a:ext>
              </a:extLst>
            </p:cNvPr>
            <p:cNvCxnSpPr/>
            <p:nvPr/>
          </p:nvCxnSpPr>
          <p:spPr>
            <a:xfrm>
              <a:off x="2692866" y="5538132"/>
              <a:ext cx="2894202"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44A0B78F-6D48-43D6-9857-801115023AEC}"/>
                </a:ext>
              </a:extLst>
            </p:cNvPr>
            <p:cNvCxnSpPr/>
            <p:nvPr/>
          </p:nvCxnSpPr>
          <p:spPr>
            <a:xfrm>
              <a:off x="2692866" y="5848525"/>
              <a:ext cx="2894202" cy="0"/>
            </a:xfrm>
            <a:prstGeom prst="line">
              <a:avLst/>
            </a:prstGeom>
            <a:ln w="76200"/>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84106860-D51C-40E9-8CB8-7E64FF97561E}"/>
                </a:ext>
              </a:extLst>
            </p:cNvPr>
            <p:cNvSpPr txBox="1"/>
            <p:nvPr/>
          </p:nvSpPr>
          <p:spPr>
            <a:xfrm>
              <a:off x="5914238" y="5353466"/>
              <a:ext cx="740908" cy="369332"/>
            </a:xfrm>
            <a:prstGeom prst="rect">
              <a:avLst/>
            </a:prstGeom>
            <a:noFill/>
          </p:spPr>
          <p:txBody>
            <a:bodyPr wrap="none" rtlCol="0">
              <a:spAutoFit/>
            </a:bodyPr>
            <a:lstStyle/>
            <a:p>
              <a:r>
                <a:rPr lang="sv-SE" dirty="0" err="1"/>
                <a:t>ridges</a:t>
              </a:r>
              <a:endParaRPr lang="en-US" dirty="0"/>
            </a:p>
          </p:txBody>
        </p:sp>
        <p:sp>
          <p:nvSpPr>
            <p:cNvPr id="80" name="TextBox 79">
              <a:extLst>
                <a:ext uri="{FF2B5EF4-FFF2-40B4-BE49-F238E27FC236}">
                  <a16:creationId xmlns:a16="http://schemas.microsoft.com/office/drawing/2014/main" id="{C13C4250-870D-48B3-A4CB-892CD67DD3D5}"/>
                </a:ext>
              </a:extLst>
            </p:cNvPr>
            <p:cNvSpPr txBox="1"/>
            <p:nvPr/>
          </p:nvSpPr>
          <p:spPr>
            <a:xfrm>
              <a:off x="1583366" y="5346367"/>
              <a:ext cx="782330" cy="369332"/>
            </a:xfrm>
            <a:prstGeom prst="rect">
              <a:avLst/>
            </a:prstGeom>
            <a:noFill/>
          </p:spPr>
          <p:txBody>
            <a:bodyPr wrap="none" rtlCol="0">
              <a:spAutoFit/>
            </a:bodyPr>
            <a:lstStyle/>
            <a:p>
              <a:r>
                <a:rPr lang="sv-SE" dirty="0" err="1"/>
                <a:t>valleys</a:t>
              </a:r>
              <a:endParaRPr lang="en-US" dirty="0"/>
            </a:p>
          </p:txBody>
        </p:sp>
        <p:cxnSp>
          <p:nvCxnSpPr>
            <p:cNvPr id="82" name="Straight Arrow Connector 81">
              <a:extLst>
                <a:ext uri="{FF2B5EF4-FFF2-40B4-BE49-F238E27FC236}">
                  <a16:creationId xmlns:a16="http://schemas.microsoft.com/office/drawing/2014/main" id="{68572F36-26A9-4C1F-B378-A7848310BD4A}"/>
                </a:ext>
              </a:extLst>
            </p:cNvPr>
            <p:cNvCxnSpPr/>
            <p:nvPr/>
          </p:nvCxnSpPr>
          <p:spPr>
            <a:xfrm flipV="1">
              <a:off x="2365696" y="5353466"/>
              <a:ext cx="32717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633135E-6E72-4159-A023-414A8D57F87A}"/>
                </a:ext>
              </a:extLst>
            </p:cNvPr>
            <p:cNvCxnSpPr>
              <a:cxnSpLocks/>
              <a:stCxn id="80" idx="3"/>
            </p:cNvCxnSpPr>
            <p:nvPr/>
          </p:nvCxnSpPr>
          <p:spPr>
            <a:xfrm>
              <a:off x="2365696" y="5531033"/>
              <a:ext cx="327170" cy="200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8DC5C81-3409-4773-A91B-B4906BAD6FE1}"/>
                </a:ext>
              </a:extLst>
            </p:cNvPr>
            <p:cNvCxnSpPr>
              <a:stCxn id="79" idx="1"/>
            </p:cNvCxnSpPr>
            <p:nvPr/>
          </p:nvCxnSpPr>
          <p:spPr>
            <a:xfrm flipH="1" flipV="1">
              <a:off x="5587068" y="5214993"/>
              <a:ext cx="327170" cy="323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5CB0701D-9086-4351-8FE8-F414DAFEE6D0}"/>
                </a:ext>
              </a:extLst>
            </p:cNvPr>
            <p:cNvCxnSpPr>
              <a:cxnSpLocks/>
              <a:stCxn id="79" idx="1"/>
            </p:cNvCxnSpPr>
            <p:nvPr/>
          </p:nvCxnSpPr>
          <p:spPr>
            <a:xfrm flipH="1">
              <a:off x="5587068" y="5538132"/>
              <a:ext cx="32717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28810454-4CCA-47F9-8629-BDE40EC9B052}"/>
                </a:ext>
              </a:extLst>
            </p:cNvPr>
            <p:cNvCxnSpPr>
              <a:cxnSpLocks/>
              <a:stCxn id="79" idx="1"/>
            </p:cNvCxnSpPr>
            <p:nvPr/>
          </p:nvCxnSpPr>
          <p:spPr>
            <a:xfrm flipH="1">
              <a:off x="5587068" y="5538132"/>
              <a:ext cx="327170" cy="323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F3FC3621-3817-4F95-88A8-688F328DD21F}"/>
                </a:ext>
              </a:extLst>
            </p:cNvPr>
            <p:cNvCxnSpPr/>
            <p:nvPr/>
          </p:nvCxnSpPr>
          <p:spPr>
            <a:xfrm flipV="1">
              <a:off x="4572000" y="4966283"/>
              <a:ext cx="0" cy="248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5A21528C-70F6-4C55-851E-C51FD2FE7F4A}"/>
                </a:ext>
              </a:extLst>
            </p:cNvPr>
            <p:cNvCxnSpPr/>
            <p:nvPr/>
          </p:nvCxnSpPr>
          <p:spPr>
            <a:xfrm flipV="1">
              <a:off x="5085126" y="5304585"/>
              <a:ext cx="0" cy="248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41D37DCD-55CD-4CE6-A658-7877F17978D0}"/>
                </a:ext>
              </a:extLst>
            </p:cNvPr>
            <p:cNvCxnSpPr/>
            <p:nvPr/>
          </p:nvCxnSpPr>
          <p:spPr>
            <a:xfrm flipV="1">
              <a:off x="3977780" y="5631166"/>
              <a:ext cx="0" cy="248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42C345AE-7F06-4F96-AB8C-60D343E642DA}"/>
                </a:ext>
              </a:extLst>
            </p:cNvPr>
            <p:cNvCxnSpPr>
              <a:cxnSpLocks/>
            </p:cNvCxnSpPr>
            <p:nvPr/>
          </p:nvCxnSpPr>
          <p:spPr>
            <a:xfrm>
              <a:off x="4641573" y="4958751"/>
              <a:ext cx="0" cy="263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1164E552-4569-42F5-9B04-D900680A9109}"/>
                </a:ext>
              </a:extLst>
            </p:cNvPr>
            <p:cNvCxnSpPr>
              <a:cxnSpLocks/>
            </p:cNvCxnSpPr>
            <p:nvPr/>
          </p:nvCxnSpPr>
          <p:spPr>
            <a:xfrm>
              <a:off x="5179866" y="5376562"/>
              <a:ext cx="0" cy="150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5CF700E4-E337-4092-965C-B41BEC047C8B}"/>
                </a:ext>
              </a:extLst>
            </p:cNvPr>
            <p:cNvCxnSpPr>
              <a:cxnSpLocks/>
            </p:cNvCxnSpPr>
            <p:nvPr/>
          </p:nvCxnSpPr>
          <p:spPr>
            <a:xfrm>
              <a:off x="4120057" y="5656415"/>
              <a:ext cx="0" cy="150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41323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Detecting patterns in the image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a:bodyPr>
              <a:lstStyle/>
              <a:p>
                <a:r>
                  <a:rPr lang="en-US" sz="2400" dirty="0"/>
                  <a:t>Solution?</a:t>
                </a:r>
              </a:p>
              <a:p>
                <a:pPr lvl="1"/>
                <a:r>
                  <a:rPr lang="en-US" sz="2000" dirty="0"/>
                  <a:t>We multiply the angle at each pixel by 2!</a:t>
                </a:r>
              </a:p>
              <a:p>
                <a:pPr lvl="1"/>
                <a14:m>
                  <m:oMath xmlns:m="http://schemas.openxmlformats.org/officeDocument/2006/math">
                    <m:r>
                      <a:rPr lang="en-US" sz="2000" i="1" smtClean="0">
                        <a:latin typeface="Cambria Math" panose="02040503050406030204" pitchFamily="18" charset="0"/>
                        <a:ea typeface="Cambria Math" panose="02040503050406030204" pitchFamily="18" charset="0"/>
                      </a:rPr>
                      <m:t>𝜑</m:t>
                    </m:r>
                    <m:r>
                      <a:rPr lang="sv-SE" sz="2000" b="0" i="1" smtClean="0">
                        <a:latin typeface="Cambria Math" panose="02040503050406030204" pitchFamily="18" charset="0"/>
                        <a:ea typeface="Cambria Math" panose="02040503050406030204" pitchFamily="18" charset="0"/>
                      </a:rPr>
                      <m:t>∗2=2</m:t>
                    </m:r>
                    <m:r>
                      <a:rPr lang="sv-SE" sz="2000" b="0" i="1" smtClean="0">
                        <a:latin typeface="Cambria Math" panose="02040503050406030204" pitchFamily="18" charset="0"/>
                        <a:ea typeface="Cambria Math" panose="02040503050406030204" pitchFamily="18" charset="0"/>
                      </a:rPr>
                      <m:t>𝜑</m:t>
                    </m:r>
                  </m:oMath>
                </a14:m>
                <a:endParaRPr lang="sv-SE" sz="2000" b="0" dirty="0">
                  <a:ea typeface="Cambria Math" panose="02040503050406030204" pitchFamily="18" charset="0"/>
                </a:endParaRPr>
              </a:p>
              <a:p>
                <a:pPr lvl="1"/>
                <a14:m>
                  <m:oMath xmlns:m="http://schemas.openxmlformats.org/officeDocument/2006/math">
                    <m:d>
                      <m:dPr>
                        <m:ctrlPr>
                          <a:rPr lang="sv-SE" sz="2000" b="0" i="1" smtClean="0">
                            <a:latin typeface="Cambria Math" panose="02040503050406030204" pitchFamily="18" charset="0"/>
                            <a:ea typeface="Cambria Math" panose="02040503050406030204" pitchFamily="18" charset="0"/>
                          </a:rPr>
                        </m:ctrlPr>
                      </m:dPr>
                      <m:e>
                        <m:r>
                          <a:rPr lang="en-US" sz="2000" i="1" smtClean="0">
                            <a:latin typeface="Cambria Math" panose="02040503050406030204" pitchFamily="18" charset="0"/>
                            <a:ea typeface="Cambria Math" panose="02040503050406030204" pitchFamily="18" charset="0"/>
                          </a:rPr>
                          <m:t>𝜑</m:t>
                        </m:r>
                        <m:r>
                          <a:rPr lang="sv-SE" sz="2000" b="0" i="1" smtClean="0">
                            <a:latin typeface="Cambria Math" panose="02040503050406030204" pitchFamily="18" charset="0"/>
                            <a:ea typeface="Cambria Math" panose="02040503050406030204" pitchFamily="18" charset="0"/>
                          </a:rPr>
                          <m:t>+180°</m:t>
                        </m:r>
                      </m:e>
                    </m:d>
                    <m:r>
                      <a:rPr lang="sv-SE" sz="2000" b="0" i="1" smtClean="0">
                        <a:latin typeface="Cambria Math" panose="02040503050406030204" pitchFamily="18" charset="0"/>
                        <a:ea typeface="Cambria Math" panose="02040503050406030204" pitchFamily="18" charset="0"/>
                      </a:rPr>
                      <m:t>∗2=2</m:t>
                    </m:r>
                    <m:r>
                      <a:rPr lang="sv-SE" sz="2000" b="0" i="1" smtClean="0">
                        <a:latin typeface="Cambria Math" panose="02040503050406030204" pitchFamily="18" charset="0"/>
                        <a:ea typeface="Cambria Math" panose="02040503050406030204" pitchFamily="18" charset="0"/>
                      </a:rPr>
                      <m:t>𝜑</m:t>
                    </m:r>
                    <m:r>
                      <a:rPr lang="sv-SE" sz="2000" b="0" i="1" smtClean="0">
                        <a:latin typeface="Cambria Math" panose="02040503050406030204" pitchFamily="18" charset="0"/>
                        <a:ea typeface="Cambria Math" panose="02040503050406030204" pitchFamily="18" charset="0"/>
                      </a:rPr>
                      <m:t>+360°=2</m:t>
                    </m:r>
                    <m:r>
                      <a:rPr lang="sv-SE" sz="2000" b="0" i="1" smtClean="0">
                        <a:latin typeface="Cambria Math" panose="02040503050406030204" pitchFamily="18" charset="0"/>
                        <a:ea typeface="Cambria Math" panose="02040503050406030204" pitchFamily="18" charset="0"/>
                      </a:rPr>
                      <m:t>𝜑</m:t>
                    </m:r>
                  </m:oMath>
                </a14:m>
                <a:endParaRPr lang="en-US" sz="2000" dirty="0"/>
              </a:p>
              <a:p>
                <a:endParaRPr lang="en-US" sz="2400" dirty="0"/>
              </a:p>
              <a:p>
                <a:endParaRPr lang="en-US" dirty="0"/>
              </a:p>
            </p:txBody>
          </p:sp>
        </mc:Choice>
        <mc:Fallback xmlns="">
          <p:sp>
            <p:nvSpPr>
              <p:cNvPr id="3" name="Content Placeholder 2">
                <a:extLst>
                  <a:ext uri="{FF2B5EF4-FFF2-40B4-BE49-F238E27FC236}">
                    <a16:creationId xmlns:a16="http://schemas.microsoft.com/office/drawing/2014/main" id="{500642C8-BBD6-4EEB-A6ED-34342652B87A}"/>
                  </a:ext>
                </a:extLst>
              </p:cNvPr>
              <p:cNvSpPr>
                <a:spLocks noGrp="1" noRot="1" noChangeAspect="1" noMove="1" noResize="1" noEditPoints="1" noAdjustHandles="1" noChangeArrowheads="1" noChangeShapeType="1" noTextEdit="1"/>
              </p:cNvSpPr>
              <p:nvPr>
                <p:ph idx="1"/>
              </p:nvPr>
            </p:nvSpPr>
            <p:spPr>
              <a:blipFill>
                <a:blip r:embed="rId2"/>
                <a:stretch>
                  <a:fillRect l="-947" t="-1078"/>
                </a:stretch>
              </a:blipFill>
            </p:spPr>
            <p:txBody>
              <a:bodyPr/>
              <a:lstStyle/>
              <a:p>
                <a:r>
                  <a:rPr lang="en-US">
                    <a:noFill/>
                  </a:rPr>
                  <a:t> </a:t>
                </a:r>
              </a:p>
            </p:txBody>
          </p:sp>
        </mc:Fallback>
      </mc:AlternateContent>
      <p:grpSp>
        <p:nvGrpSpPr>
          <p:cNvPr id="77" name="Group 76">
            <a:extLst>
              <a:ext uri="{FF2B5EF4-FFF2-40B4-BE49-F238E27FC236}">
                <a16:creationId xmlns:a16="http://schemas.microsoft.com/office/drawing/2014/main" id="{B7D081E3-F7FF-417D-BF2D-94CDDEE694FB}"/>
              </a:ext>
            </a:extLst>
          </p:cNvPr>
          <p:cNvGrpSpPr/>
          <p:nvPr/>
        </p:nvGrpSpPr>
        <p:grpSpPr>
          <a:xfrm>
            <a:off x="190793" y="4656747"/>
            <a:ext cx="4045647" cy="921125"/>
            <a:chOff x="1583366" y="4958751"/>
            <a:chExt cx="5071780" cy="921125"/>
          </a:xfrm>
        </p:grpSpPr>
        <p:cxnSp>
          <p:nvCxnSpPr>
            <p:cNvPr id="78" name="Straight Connector 77">
              <a:extLst>
                <a:ext uri="{FF2B5EF4-FFF2-40B4-BE49-F238E27FC236}">
                  <a16:creationId xmlns:a16="http://schemas.microsoft.com/office/drawing/2014/main" id="{4F8BDAC6-A48B-49C3-BA09-90913D8FB0AE}"/>
                </a:ext>
              </a:extLst>
            </p:cNvPr>
            <p:cNvCxnSpPr/>
            <p:nvPr/>
          </p:nvCxnSpPr>
          <p:spPr>
            <a:xfrm>
              <a:off x="2692866" y="5226341"/>
              <a:ext cx="2894202"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23AFAA57-2F5B-4CA2-BCFF-3910FB368483}"/>
                </a:ext>
              </a:extLst>
            </p:cNvPr>
            <p:cNvCxnSpPr/>
            <p:nvPr/>
          </p:nvCxnSpPr>
          <p:spPr>
            <a:xfrm>
              <a:off x="2692866" y="5538132"/>
              <a:ext cx="2894202"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38CC090F-3411-4C01-BF31-DB0B95E87CE0}"/>
                </a:ext>
              </a:extLst>
            </p:cNvPr>
            <p:cNvCxnSpPr/>
            <p:nvPr/>
          </p:nvCxnSpPr>
          <p:spPr>
            <a:xfrm>
              <a:off x="2692866" y="5848525"/>
              <a:ext cx="2894202" cy="0"/>
            </a:xfrm>
            <a:prstGeom prst="line">
              <a:avLst/>
            </a:prstGeom>
            <a:ln w="76200"/>
          </p:spPr>
          <p:style>
            <a:lnRef idx="1">
              <a:schemeClr val="dk1"/>
            </a:lnRef>
            <a:fillRef idx="0">
              <a:schemeClr val="dk1"/>
            </a:fillRef>
            <a:effectRef idx="0">
              <a:schemeClr val="dk1"/>
            </a:effectRef>
            <a:fontRef idx="minor">
              <a:schemeClr val="tx1"/>
            </a:fontRef>
          </p:style>
        </p:cxnSp>
        <p:sp>
          <p:nvSpPr>
            <p:cNvPr id="81" name="TextBox 80">
              <a:extLst>
                <a:ext uri="{FF2B5EF4-FFF2-40B4-BE49-F238E27FC236}">
                  <a16:creationId xmlns:a16="http://schemas.microsoft.com/office/drawing/2014/main" id="{4673028C-475F-449F-B349-1FD5B21C30A6}"/>
                </a:ext>
              </a:extLst>
            </p:cNvPr>
            <p:cNvSpPr txBox="1"/>
            <p:nvPr/>
          </p:nvSpPr>
          <p:spPr>
            <a:xfrm>
              <a:off x="5914238" y="5353466"/>
              <a:ext cx="740908" cy="369332"/>
            </a:xfrm>
            <a:prstGeom prst="rect">
              <a:avLst/>
            </a:prstGeom>
            <a:noFill/>
          </p:spPr>
          <p:txBody>
            <a:bodyPr wrap="none" rtlCol="0">
              <a:spAutoFit/>
            </a:bodyPr>
            <a:lstStyle/>
            <a:p>
              <a:r>
                <a:rPr lang="sv-SE" dirty="0" err="1"/>
                <a:t>ridges</a:t>
              </a:r>
              <a:endParaRPr lang="en-US" dirty="0"/>
            </a:p>
          </p:txBody>
        </p:sp>
        <p:sp>
          <p:nvSpPr>
            <p:cNvPr id="82" name="TextBox 81">
              <a:extLst>
                <a:ext uri="{FF2B5EF4-FFF2-40B4-BE49-F238E27FC236}">
                  <a16:creationId xmlns:a16="http://schemas.microsoft.com/office/drawing/2014/main" id="{4B630DFD-98D6-400F-B6DC-3FF86F7C3B71}"/>
                </a:ext>
              </a:extLst>
            </p:cNvPr>
            <p:cNvSpPr txBox="1"/>
            <p:nvPr/>
          </p:nvSpPr>
          <p:spPr>
            <a:xfrm>
              <a:off x="1583366" y="5346367"/>
              <a:ext cx="782330" cy="369332"/>
            </a:xfrm>
            <a:prstGeom prst="rect">
              <a:avLst/>
            </a:prstGeom>
            <a:noFill/>
          </p:spPr>
          <p:txBody>
            <a:bodyPr wrap="none" rtlCol="0">
              <a:spAutoFit/>
            </a:bodyPr>
            <a:lstStyle/>
            <a:p>
              <a:r>
                <a:rPr lang="sv-SE" dirty="0" err="1"/>
                <a:t>valleys</a:t>
              </a:r>
              <a:endParaRPr lang="en-US" dirty="0"/>
            </a:p>
          </p:txBody>
        </p:sp>
        <p:cxnSp>
          <p:nvCxnSpPr>
            <p:cNvPr id="83" name="Straight Arrow Connector 82">
              <a:extLst>
                <a:ext uri="{FF2B5EF4-FFF2-40B4-BE49-F238E27FC236}">
                  <a16:creationId xmlns:a16="http://schemas.microsoft.com/office/drawing/2014/main" id="{CEF9C07B-501B-4B16-9384-8C3F07BAB8F1}"/>
                </a:ext>
              </a:extLst>
            </p:cNvPr>
            <p:cNvCxnSpPr/>
            <p:nvPr/>
          </p:nvCxnSpPr>
          <p:spPr>
            <a:xfrm flipV="1">
              <a:off x="2365696" y="5353466"/>
              <a:ext cx="32717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E3412B38-7021-4189-B9D7-F3AF26E1514C}"/>
                </a:ext>
              </a:extLst>
            </p:cNvPr>
            <p:cNvCxnSpPr>
              <a:cxnSpLocks/>
              <a:stCxn id="82" idx="3"/>
            </p:cNvCxnSpPr>
            <p:nvPr/>
          </p:nvCxnSpPr>
          <p:spPr>
            <a:xfrm>
              <a:off x="2365696" y="5531033"/>
              <a:ext cx="327170" cy="200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B259D7A5-EE51-4860-AA8A-4B8ABB857E4B}"/>
                </a:ext>
              </a:extLst>
            </p:cNvPr>
            <p:cNvCxnSpPr>
              <a:stCxn id="81" idx="1"/>
            </p:cNvCxnSpPr>
            <p:nvPr/>
          </p:nvCxnSpPr>
          <p:spPr>
            <a:xfrm flipH="1" flipV="1">
              <a:off x="5587068" y="5214993"/>
              <a:ext cx="327170" cy="323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9E677D4E-DF57-43B7-ABC0-7127045A7019}"/>
                </a:ext>
              </a:extLst>
            </p:cNvPr>
            <p:cNvCxnSpPr>
              <a:cxnSpLocks/>
              <a:stCxn id="81" idx="1"/>
            </p:cNvCxnSpPr>
            <p:nvPr/>
          </p:nvCxnSpPr>
          <p:spPr>
            <a:xfrm flipH="1">
              <a:off x="5587068" y="5538132"/>
              <a:ext cx="32717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2C685084-D731-4CD5-ACCC-EC698B1C9D7F}"/>
                </a:ext>
              </a:extLst>
            </p:cNvPr>
            <p:cNvCxnSpPr>
              <a:cxnSpLocks/>
              <a:stCxn id="81" idx="1"/>
            </p:cNvCxnSpPr>
            <p:nvPr/>
          </p:nvCxnSpPr>
          <p:spPr>
            <a:xfrm flipH="1">
              <a:off x="5587068" y="5538132"/>
              <a:ext cx="327170" cy="323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A0781ED2-DB76-4268-A4FA-EAECAF2C0DC5}"/>
                </a:ext>
              </a:extLst>
            </p:cNvPr>
            <p:cNvCxnSpPr/>
            <p:nvPr/>
          </p:nvCxnSpPr>
          <p:spPr>
            <a:xfrm flipV="1">
              <a:off x="4572000" y="4966283"/>
              <a:ext cx="0" cy="248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74162872-E348-4A4E-9166-1680D1B5FA8E}"/>
                </a:ext>
              </a:extLst>
            </p:cNvPr>
            <p:cNvCxnSpPr/>
            <p:nvPr/>
          </p:nvCxnSpPr>
          <p:spPr>
            <a:xfrm flipV="1">
              <a:off x="5085126" y="5304585"/>
              <a:ext cx="0" cy="248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8EBF5439-B54B-4EBF-9CC2-618BA7E1C5BE}"/>
                </a:ext>
              </a:extLst>
            </p:cNvPr>
            <p:cNvCxnSpPr/>
            <p:nvPr/>
          </p:nvCxnSpPr>
          <p:spPr>
            <a:xfrm flipV="1">
              <a:off x="3977780" y="5631166"/>
              <a:ext cx="0" cy="248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A998A71F-F463-4C0C-B172-E8F8CB2EC02D}"/>
                </a:ext>
              </a:extLst>
            </p:cNvPr>
            <p:cNvCxnSpPr>
              <a:cxnSpLocks/>
            </p:cNvCxnSpPr>
            <p:nvPr/>
          </p:nvCxnSpPr>
          <p:spPr>
            <a:xfrm>
              <a:off x="4641573" y="4958751"/>
              <a:ext cx="0" cy="263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FA946FE-EA24-4B72-8890-B9601D6A7103}"/>
                </a:ext>
              </a:extLst>
            </p:cNvPr>
            <p:cNvCxnSpPr>
              <a:cxnSpLocks/>
            </p:cNvCxnSpPr>
            <p:nvPr/>
          </p:nvCxnSpPr>
          <p:spPr>
            <a:xfrm>
              <a:off x="5179866" y="5376562"/>
              <a:ext cx="0" cy="150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319711F1-2292-4C57-BC08-E45FCC54FF2A}"/>
                </a:ext>
              </a:extLst>
            </p:cNvPr>
            <p:cNvCxnSpPr>
              <a:cxnSpLocks/>
            </p:cNvCxnSpPr>
            <p:nvPr/>
          </p:nvCxnSpPr>
          <p:spPr>
            <a:xfrm>
              <a:off x="4120057" y="5656415"/>
              <a:ext cx="0" cy="150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EE12BC40-3EF9-41B6-B6E4-1671418A9C2D}"/>
              </a:ext>
            </a:extLst>
          </p:cNvPr>
          <p:cNvGrpSpPr/>
          <p:nvPr/>
        </p:nvGrpSpPr>
        <p:grpSpPr>
          <a:xfrm>
            <a:off x="4572000" y="4788733"/>
            <a:ext cx="4045647" cy="770155"/>
            <a:chOff x="1583366" y="5091116"/>
            <a:chExt cx="5071780" cy="770155"/>
          </a:xfrm>
        </p:grpSpPr>
        <p:cxnSp>
          <p:nvCxnSpPr>
            <p:cNvPr id="95" name="Straight Connector 94">
              <a:extLst>
                <a:ext uri="{FF2B5EF4-FFF2-40B4-BE49-F238E27FC236}">
                  <a16:creationId xmlns:a16="http://schemas.microsoft.com/office/drawing/2014/main" id="{D840B09B-18FC-46A2-80DF-317FC2AE6C8D}"/>
                </a:ext>
              </a:extLst>
            </p:cNvPr>
            <p:cNvCxnSpPr/>
            <p:nvPr/>
          </p:nvCxnSpPr>
          <p:spPr>
            <a:xfrm>
              <a:off x="2692866" y="5226341"/>
              <a:ext cx="2894202"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F480CA9C-ED69-4C84-981D-488DF412BAAB}"/>
                </a:ext>
              </a:extLst>
            </p:cNvPr>
            <p:cNvCxnSpPr/>
            <p:nvPr/>
          </p:nvCxnSpPr>
          <p:spPr>
            <a:xfrm>
              <a:off x="2692866" y="5538132"/>
              <a:ext cx="2894202"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0F3BE791-618D-4B60-8AA3-3C0DE78984FB}"/>
                </a:ext>
              </a:extLst>
            </p:cNvPr>
            <p:cNvCxnSpPr/>
            <p:nvPr/>
          </p:nvCxnSpPr>
          <p:spPr>
            <a:xfrm>
              <a:off x="2692866" y="5848525"/>
              <a:ext cx="2894202" cy="0"/>
            </a:xfrm>
            <a:prstGeom prst="line">
              <a:avLst/>
            </a:prstGeom>
            <a:ln w="76200"/>
          </p:spPr>
          <p:style>
            <a:lnRef idx="1">
              <a:schemeClr val="dk1"/>
            </a:lnRef>
            <a:fillRef idx="0">
              <a:schemeClr val="dk1"/>
            </a:fillRef>
            <a:effectRef idx="0">
              <a:schemeClr val="dk1"/>
            </a:effectRef>
            <a:fontRef idx="minor">
              <a:schemeClr val="tx1"/>
            </a:fontRef>
          </p:style>
        </p:cxnSp>
        <p:sp>
          <p:nvSpPr>
            <p:cNvPr id="98" name="TextBox 97">
              <a:extLst>
                <a:ext uri="{FF2B5EF4-FFF2-40B4-BE49-F238E27FC236}">
                  <a16:creationId xmlns:a16="http://schemas.microsoft.com/office/drawing/2014/main" id="{EE9DB0C0-3F97-42BB-979F-F9E9DBC75002}"/>
                </a:ext>
              </a:extLst>
            </p:cNvPr>
            <p:cNvSpPr txBox="1"/>
            <p:nvPr/>
          </p:nvSpPr>
          <p:spPr>
            <a:xfrm>
              <a:off x="5914238" y="5353466"/>
              <a:ext cx="740908" cy="369332"/>
            </a:xfrm>
            <a:prstGeom prst="rect">
              <a:avLst/>
            </a:prstGeom>
            <a:noFill/>
          </p:spPr>
          <p:txBody>
            <a:bodyPr wrap="none" rtlCol="0">
              <a:spAutoFit/>
            </a:bodyPr>
            <a:lstStyle/>
            <a:p>
              <a:r>
                <a:rPr lang="sv-SE" dirty="0" err="1"/>
                <a:t>ridges</a:t>
              </a:r>
              <a:endParaRPr lang="en-US" dirty="0"/>
            </a:p>
          </p:txBody>
        </p:sp>
        <p:sp>
          <p:nvSpPr>
            <p:cNvPr id="99" name="TextBox 98">
              <a:extLst>
                <a:ext uri="{FF2B5EF4-FFF2-40B4-BE49-F238E27FC236}">
                  <a16:creationId xmlns:a16="http://schemas.microsoft.com/office/drawing/2014/main" id="{414FC1B9-58C1-446D-84DA-E178A468D77D}"/>
                </a:ext>
              </a:extLst>
            </p:cNvPr>
            <p:cNvSpPr txBox="1"/>
            <p:nvPr/>
          </p:nvSpPr>
          <p:spPr>
            <a:xfrm>
              <a:off x="1583366" y="5346367"/>
              <a:ext cx="782330" cy="369332"/>
            </a:xfrm>
            <a:prstGeom prst="rect">
              <a:avLst/>
            </a:prstGeom>
            <a:noFill/>
          </p:spPr>
          <p:txBody>
            <a:bodyPr wrap="none" rtlCol="0">
              <a:spAutoFit/>
            </a:bodyPr>
            <a:lstStyle/>
            <a:p>
              <a:r>
                <a:rPr lang="sv-SE" dirty="0" err="1"/>
                <a:t>valleys</a:t>
              </a:r>
              <a:endParaRPr lang="en-US" dirty="0"/>
            </a:p>
          </p:txBody>
        </p:sp>
        <p:cxnSp>
          <p:nvCxnSpPr>
            <p:cNvPr id="100" name="Straight Arrow Connector 99">
              <a:extLst>
                <a:ext uri="{FF2B5EF4-FFF2-40B4-BE49-F238E27FC236}">
                  <a16:creationId xmlns:a16="http://schemas.microsoft.com/office/drawing/2014/main" id="{F95F0C0A-A0A1-4D9D-9A3B-9D9F6FFFE4A4}"/>
                </a:ext>
              </a:extLst>
            </p:cNvPr>
            <p:cNvCxnSpPr/>
            <p:nvPr/>
          </p:nvCxnSpPr>
          <p:spPr>
            <a:xfrm flipV="1">
              <a:off x="2365696" y="5353466"/>
              <a:ext cx="32717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8E689693-B914-4344-BA42-E31E95C90233}"/>
                </a:ext>
              </a:extLst>
            </p:cNvPr>
            <p:cNvCxnSpPr>
              <a:cxnSpLocks/>
              <a:stCxn id="99" idx="3"/>
            </p:cNvCxnSpPr>
            <p:nvPr/>
          </p:nvCxnSpPr>
          <p:spPr>
            <a:xfrm>
              <a:off x="2365696" y="5531033"/>
              <a:ext cx="327170" cy="200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CAEFF6EF-D06D-4B41-BB64-23924846435F}"/>
                </a:ext>
              </a:extLst>
            </p:cNvPr>
            <p:cNvCxnSpPr>
              <a:stCxn id="98" idx="1"/>
            </p:cNvCxnSpPr>
            <p:nvPr/>
          </p:nvCxnSpPr>
          <p:spPr>
            <a:xfrm flipH="1" flipV="1">
              <a:off x="5587068" y="5214993"/>
              <a:ext cx="327170" cy="323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DE71157B-1216-4515-85C6-D77E809AC957}"/>
                </a:ext>
              </a:extLst>
            </p:cNvPr>
            <p:cNvCxnSpPr>
              <a:cxnSpLocks/>
              <a:stCxn id="98" idx="1"/>
            </p:cNvCxnSpPr>
            <p:nvPr/>
          </p:nvCxnSpPr>
          <p:spPr>
            <a:xfrm flipH="1">
              <a:off x="5587068" y="5538132"/>
              <a:ext cx="32717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7DC3841F-AED6-470F-A9B7-D18AB937AAFC}"/>
                </a:ext>
              </a:extLst>
            </p:cNvPr>
            <p:cNvCxnSpPr>
              <a:cxnSpLocks/>
              <a:stCxn id="98" idx="1"/>
            </p:cNvCxnSpPr>
            <p:nvPr/>
          </p:nvCxnSpPr>
          <p:spPr>
            <a:xfrm flipH="1">
              <a:off x="5587068" y="5538132"/>
              <a:ext cx="327170" cy="323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C0839102-F072-4448-970A-416B52BFF98D}"/>
                </a:ext>
              </a:extLst>
            </p:cNvPr>
            <p:cNvCxnSpPr>
              <a:cxnSpLocks/>
            </p:cNvCxnSpPr>
            <p:nvPr/>
          </p:nvCxnSpPr>
          <p:spPr>
            <a:xfrm flipH="1">
              <a:off x="4675296" y="5091116"/>
              <a:ext cx="2922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111" name="Straight Arrow Connector 110">
            <a:extLst>
              <a:ext uri="{FF2B5EF4-FFF2-40B4-BE49-F238E27FC236}">
                <a16:creationId xmlns:a16="http://schemas.microsoft.com/office/drawing/2014/main" id="{AF8DA5B5-C948-4A54-A063-7F931B3729E7}"/>
              </a:ext>
            </a:extLst>
          </p:cNvPr>
          <p:cNvCxnSpPr>
            <a:cxnSpLocks/>
          </p:cNvCxnSpPr>
          <p:nvPr/>
        </p:nvCxnSpPr>
        <p:spPr>
          <a:xfrm flipH="1">
            <a:off x="7038363" y="5126936"/>
            <a:ext cx="2331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57350F8-461A-4545-AC3D-7EC77947242A}"/>
              </a:ext>
            </a:extLst>
          </p:cNvPr>
          <p:cNvCxnSpPr>
            <a:cxnSpLocks/>
          </p:cNvCxnSpPr>
          <p:nvPr/>
        </p:nvCxnSpPr>
        <p:spPr>
          <a:xfrm flipH="1">
            <a:off x="7013727" y="5328783"/>
            <a:ext cx="2331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65825132-1C8F-402D-BA18-7AECC8FD8A35}"/>
              </a:ext>
            </a:extLst>
          </p:cNvPr>
          <p:cNvCxnSpPr>
            <a:cxnSpLocks/>
          </p:cNvCxnSpPr>
          <p:nvPr/>
        </p:nvCxnSpPr>
        <p:spPr>
          <a:xfrm flipH="1">
            <a:off x="5924025" y="5348222"/>
            <a:ext cx="2331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3D84F3FC-206D-436C-8759-8ED238D5FCF3}"/>
              </a:ext>
            </a:extLst>
          </p:cNvPr>
          <p:cNvCxnSpPr>
            <a:cxnSpLocks/>
          </p:cNvCxnSpPr>
          <p:nvPr/>
        </p:nvCxnSpPr>
        <p:spPr>
          <a:xfrm flipH="1">
            <a:off x="5924556" y="5129299"/>
            <a:ext cx="2331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643E50A7-AC20-422A-9784-50608A72F936}"/>
              </a:ext>
            </a:extLst>
          </p:cNvPr>
          <p:cNvCxnSpPr>
            <a:cxnSpLocks/>
          </p:cNvCxnSpPr>
          <p:nvPr/>
        </p:nvCxnSpPr>
        <p:spPr>
          <a:xfrm flipH="1">
            <a:off x="6378185" y="5028577"/>
            <a:ext cx="2331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2CDA9997-C036-41E9-847B-78AB55791C87}"/>
              </a:ext>
            </a:extLst>
          </p:cNvPr>
          <p:cNvCxnSpPr>
            <a:cxnSpLocks/>
          </p:cNvCxnSpPr>
          <p:nvPr/>
        </p:nvCxnSpPr>
        <p:spPr>
          <a:xfrm flipH="1">
            <a:off x="5916167" y="4788633"/>
            <a:ext cx="2331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25278AA-BDFB-40B8-BF57-7F283A2FFF8C}"/>
                  </a:ext>
                </a:extLst>
              </p:cNvPr>
              <p:cNvSpPr txBox="1"/>
              <p:nvPr/>
            </p:nvSpPr>
            <p:spPr>
              <a:xfrm>
                <a:off x="2185358" y="4094547"/>
                <a:ext cx="389402"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sv-SE" b="0" i="1" smtClean="0">
                              <a:latin typeface="Cambria Math" panose="02040503050406030204" pitchFamily="18" charset="0"/>
                            </a:rPr>
                            <m:t>𝑒</m:t>
                          </m:r>
                        </m:e>
                        <m:sup>
                          <m:r>
                            <a:rPr lang="sv-SE" b="0" i="1" smtClean="0">
                              <a:latin typeface="Cambria Math" panose="02040503050406030204" pitchFamily="18" charset="0"/>
                            </a:rPr>
                            <m:t>𝑖</m:t>
                          </m:r>
                          <m:r>
                            <a:rPr lang="sv-SE" b="0" i="1" smtClean="0">
                              <a:latin typeface="Cambria Math" panose="02040503050406030204" pitchFamily="18" charset="0"/>
                              <a:ea typeface="Cambria Math" panose="02040503050406030204" pitchFamily="18" charset="0"/>
                            </a:rPr>
                            <m:t>𝜑</m:t>
                          </m:r>
                        </m:sup>
                      </m:sSup>
                    </m:oMath>
                  </m:oMathPara>
                </a14:m>
                <a:endParaRPr lang="en-US" dirty="0"/>
              </a:p>
            </p:txBody>
          </p:sp>
        </mc:Choice>
        <mc:Fallback xmlns="">
          <p:sp>
            <p:nvSpPr>
              <p:cNvPr id="7" name="TextBox 6">
                <a:extLst>
                  <a:ext uri="{FF2B5EF4-FFF2-40B4-BE49-F238E27FC236}">
                    <a16:creationId xmlns:a16="http://schemas.microsoft.com/office/drawing/2014/main" id="{025278AA-BDFB-40B8-BF57-7F283A2FFF8C}"/>
                  </a:ext>
                </a:extLst>
              </p:cNvPr>
              <p:cNvSpPr txBox="1">
                <a:spLocks noRot="1" noChangeAspect="1" noMove="1" noResize="1" noEditPoints="1" noAdjustHandles="1" noChangeArrowheads="1" noChangeShapeType="1" noTextEdit="1"/>
              </p:cNvSpPr>
              <p:nvPr/>
            </p:nvSpPr>
            <p:spPr>
              <a:xfrm>
                <a:off x="2185358" y="4094547"/>
                <a:ext cx="389402" cy="285912"/>
              </a:xfrm>
              <a:prstGeom prst="rect">
                <a:avLst/>
              </a:prstGeom>
              <a:blipFill>
                <a:blip r:embed="rId3"/>
                <a:stretch>
                  <a:fillRect l="-7813" t="-6383" r="-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BCCC1789-876C-43EA-84BB-428F61DB5A24}"/>
                  </a:ext>
                </a:extLst>
              </p:cNvPr>
              <p:cNvSpPr txBox="1"/>
              <p:nvPr/>
            </p:nvSpPr>
            <p:spPr>
              <a:xfrm>
                <a:off x="6494764" y="4137127"/>
                <a:ext cx="487185"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sv-SE" b="0" i="1" smtClean="0">
                              <a:latin typeface="Cambria Math" panose="02040503050406030204" pitchFamily="18" charset="0"/>
                            </a:rPr>
                            <m:t>𝑒</m:t>
                          </m:r>
                        </m:e>
                        <m:sup>
                          <m:r>
                            <a:rPr lang="sv-SE" b="0" i="1" smtClean="0">
                              <a:latin typeface="Cambria Math" panose="02040503050406030204" pitchFamily="18" charset="0"/>
                            </a:rPr>
                            <m:t>𝑖</m:t>
                          </m:r>
                          <m:r>
                            <a:rPr lang="sv-SE" b="0" i="1" smtClean="0">
                              <a:latin typeface="Cambria Math" panose="02040503050406030204" pitchFamily="18" charset="0"/>
                            </a:rPr>
                            <m:t>2</m:t>
                          </m:r>
                          <m:r>
                            <a:rPr lang="sv-SE" b="0" i="1" smtClean="0">
                              <a:latin typeface="Cambria Math" panose="02040503050406030204" pitchFamily="18" charset="0"/>
                              <a:ea typeface="Cambria Math" panose="02040503050406030204" pitchFamily="18" charset="0"/>
                            </a:rPr>
                            <m:t>𝜑</m:t>
                          </m:r>
                        </m:sup>
                      </m:sSup>
                    </m:oMath>
                  </m:oMathPara>
                </a14:m>
                <a:endParaRPr lang="en-US" dirty="0"/>
              </a:p>
            </p:txBody>
          </p:sp>
        </mc:Choice>
        <mc:Fallback xmlns="">
          <p:sp>
            <p:nvSpPr>
              <p:cNvPr id="117" name="TextBox 116">
                <a:extLst>
                  <a:ext uri="{FF2B5EF4-FFF2-40B4-BE49-F238E27FC236}">
                    <a16:creationId xmlns:a16="http://schemas.microsoft.com/office/drawing/2014/main" id="{BCCC1789-876C-43EA-84BB-428F61DB5A24}"/>
                  </a:ext>
                </a:extLst>
              </p:cNvPr>
              <p:cNvSpPr txBox="1">
                <a:spLocks noRot="1" noChangeAspect="1" noMove="1" noResize="1" noEditPoints="1" noAdjustHandles="1" noChangeArrowheads="1" noChangeShapeType="1" noTextEdit="1"/>
              </p:cNvSpPr>
              <p:nvPr/>
            </p:nvSpPr>
            <p:spPr>
              <a:xfrm>
                <a:off x="6494764" y="4137127"/>
                <a:ext cx="487185" cy="285912"/>
              </a:xfrm>
              <a:prstGeom prst="rect">
                <a:avLst/>
              </a:prstGeom>
              <a:blipFill>
                <a:blip r:embed="rId4"/>
                <a:stretch>
                  <a:fillRect l="-6250" t="-6383" r="-5000"/>
                </a:stretch>
              </a:blipFill>
            </p:spPr>
            <p:txBody>
              <a:bodyPr/>
              <a:lstStyle/>
              <a:p>
                <a:r>
                  <a:rPr lang="en-US">
                    <a:noFill/>
                  </a:rPr>
                  <a:t> </a:t>
                </a:r>
              </a:p>
            </p:txBody>
          </p:sp>
        </mc:Fallback>
      </mc:AlternateContent>
    </p:spTree>
    <p:extLst>
      <p:ext uri="{BB962C8B-B14F-4D97-AF65-F5344CB8AC3E}">
        <p14:creationId xmlns:p14="http://schemas.microsoft.com/office/powerpoint/2010/main" val="693157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Detecting patterns in the image</a:t>
            </a:r>
          </a:p>
        </p:txBody>
      </p:sp>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a:bodyPr>
          <a:lstStyle/>
          <a:p>
            <a:r>
              <a:rPr lang="sv-SE" dirty="0" err="1"/>
              <a:t>Detecting</a:t>
            </a:r>
            <a:r>
              <a:rPr lang="sv-SE" dirty="0"/>
              <a:t> </a:t>
            </a:r>
            <a:r>
              <a:rPr lang="sv-SE" dirty="0" err="1"/>
              <a:t>paraller</a:t>
            </a:r>
            <a:r>
              <a:rPr lang="sv-SE" dirty="0"/>
              <a:t> </a:t>
            </a:r>
            <a:r>
              <a:rPr lang="sv-SE" dirty="0" err="1"/>
              <a:t>lines</a:t>
            </a:r>
            <a:r>
              <a:rPr lang="sv-SE" dirty="0"/>
              <a:t>:</a:t>
            </a:r>
            <a:endParaRPr lang="en-US" dirty="0"/>
          </a:p>
        </p:txBody>
      </p:sp>
      <p:grpSp>
        <p:nvGrpSpPr>
          <p:cNvPr id="9" name="Group 8">
            <a:extLst>
              <a:ext uri="{FF2B5EF4-FFF2-40B4-BE49-F238E27FC236}">
                <a16:creationId xmlns:a16="http://schemas.microsoft.com/office/drawing/2014/main" id="{F722EE60-905C-4353-9D34-A8AE3601667B}"/>
              </a:ext>
            </a:extLst>
          </p:cNvPr>
          <p:cNvGrpSpPr/>
          <p:nvPr/>
        </p:nvGrpSpPr>
        <p:grpSpPr>
          <a:xfrm>
            <a:off x="4102609" y="2948439"/>
            <a:ext cx="1898468" cy="1070555"/>
            <a:chOff x="3622766" y="3117210"/>
            <a:chExt cx="1898468" cy="1070555"/>
          </a:xfrm>
        </p:grpSpPr>
        <p:grpSp>
          <p:nvGrpSpPr>
            <p:cNvPr id="6" name="Group 5">
              <a:extLst>
                <a:ext uri="{FF2B5EF4-FFF2-40B4-BE49-F238E27FC236}">
                  <a16:creationId xmlns:a16="http://schemas.microsoft.com/office/drawing/2014/main" id="{09458448-4541-4778-8C42-E66B7796BCB6}"/>
                </a:ext>
              </a:extLst>
            </p:cNvPr>
            <p:cNvGrpSpPr/>
            <p:nvPr/>
          </p:nvGrpSpPr>
          <p:grpSpPr>
            <a:xfrm>
              <a:off x="4051882" y="3117210"/>
              <a:ext cx="1040235" cy="311790"/>
              <a:chOff x="3657600" y="3892492"/>
              <a:chExt cx="1040235" cy="311790"/>
            </a:xfrm>
          </p:grpSpPr>
          <p:cxnSp>
            <p:nvCxnSpPr>
              <p:cNvPr id="5" name="Straight Arrow Connector 4">
                <a:extLst>
                  <a:ext uri="{FF2B5EF4-FFF2-40B4-BE49-F238E27FC236}">
                    <a16:creationId xmlns:a16="http://schemas.microsoft.com/office/drawing/2014/main" id="{CD41C7C9-6168-421E-9D83-D2B18C3C6322}"/>
                  </a:ext>
                </a:extLst>
              </p:cNvPr>
              <p:cNvCxnSpPr/>
              <p:nvPr/>
            </p:nvCxnSpPr>
            <p:spPr>
              <a:xfrm flipH="1">
                <a:off x="3657600" y="389249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2238111-DB88-4DB2-826B-9D8AA4E67BA3}"/>
                  </a:ext>
                </a:extLst>
              </p:cNvPr>
              <p:cNvCxnSpPr/>
              <p:nvPr/>
            </p:nvCxnSpPr>
            <p:spPr>
              <a:xfrm flipH="1">
                <a:off x="3657600" y="4053281"/>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2DDDC83-021E-4485-B02B-8504CD169B3F}"/>
                  </a:ext>
                </a:extLst>
              </p:cNvPr>
              <p:cNvCxnSpPr/>
              <p:nvPr/>
            </p:nvCxnSpPr>
            <p:spPr>
              <a:xfrm flipH="1">
                <a:off x="3657600" y="420428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0839546-0AD6-438F-9257-684B58DD2018}"/>
                  </a:ext>
                </a:extLst>
              </p:cNvPr>
              <p:cNvCxnSpPr/>
              <p:nvPr/>
            </p:nvCxnSpPr>
            <p:spPr>
              <a:xfrm flipH="1">
                <a:off x="4036502" y="389249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9D6D74F-3D4B-46FF-B5A6-8B4CE7997543}"/>
                  </a:ext>
                </a:extLst>
              </p:cNvPr>
              <p:cNvCxnSpPr/>
              <p:nvPr/>
            </p:nvCxnSpPr>
            <p:spPr>
              <a:xfrm flipH="1">
                <a:off x="4036502" y="4053281"/>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0859654-2279-448A-94E0-45E8633FDA5E}"/>
                  </a:ext>
                </a:extLst>
              </p:cNvPr>
              <p:cNvCxnSpPr/>
              <p:nvPr/>
            </p:nvCxnSpPr>
            <p:spPr>
              <a:xfrm flipH="1">
                <a:off x="4036502" y="420428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7414615-B903-4868-B798-212019772B77}"/>
                  </a:ext>
                </a:extLst>
              </p:cNvPr>
              <p:cNvCxnSpPr/>
              <p:nvPr/>
            </p:nvCxnSpPr>
            <p:spPr>
              <a:xfrm flipH="1">
                <a:off x="4412609" y="389249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9ABC966-85F1-40BF-9E04-6E458C4C4F57}"/>
                  </a:ext>
                </a:extLst>
              </p:cNvPr>
              <p:cNvCxnSpPr/>
              <p:nvPr/>
            </p:nvCxnSpPr>
            <p:spPr>
              <a:xfrm flipH="1">
                <a:off x="4412609" y="4053281"/>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044CF41-A5CB-440B-A81E-4E88F26DE34D}"/>
                  </a:ext>
                </a:extLst>
              </p:cNvPr>
              <p:cNvCxnSpPr/>
              <p:nvPr/>
            </p:nvCxnSpPr>
            <p:spPr>
              <a:xfrm flipH="1">
                <a:off x="4397229" y="420428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F2BB0066-38B1-41E9-86A0-FF2791802EE5}"/>
                </a:ext>
              </a:extLst>
            </p:cNvPr>
            <p:cNvSpPr txBox="1"/>
            <p:nvPr/>
          </p:nvSpPr>
          <p:spPr>
            <a:xfrm>
              <a:off x="3622766" y="3541434"/>
              <a:ext cx="1898468" cy="646331"/>
            </a:xfrm>
            <a:prstGeom prst="rect">
              <a:avLst/>
            </a:prstGeom>
            <a:noFill/>
          </p:spPr>
          <p:txBody>
            <a:bodyPr wrap="none" rtlCol="0">
              <a:spAutoFit/>
            </a:bodyPr>
            <a:lstStyle/>
            <a:p>
              <a:pPr algn="ctr"/>
              <a:r>
                <a:rPr lang="sv-SE" dirty="0" err="1"/>
                <a:t>Parallel</a:t>
              </a:r>
              <a:r>
                <a:rPr lang="sv-SE" dirty="0"/>
                <a:t> </a:t>
              </a:r>
              <a:r>
                <a:rPr lang="sv-SE" dirty="0" err="1"/>
                <a:t>line</a:t>
              </a:r>
              <a:r>
                <a:rPr lang="sv-SE" dirty="0"/>
                <a:t> region</a:t>
              </a:r>
            </a:p>
            <a:p>
              <a:pPr algn="ctr"/>
              <a:r>
                <a:rPr lang="sv-SE" dirty="0"/>
                <a:t>Gradient </a:t>
              </a:r>
              <a:r>
                <a:rPr lang="sv-SE" dirty="0" err="1"/>
                <a:t>vectors</a:t>
              </a:r>
              <a:endParaRPr lang="en-US" dirty="0"/>
            </a:p>
          </p:txBody>
        </p:sp>
      </p:grpSp>
      <p:grpSp>
        <p:nvGrpSpPr>
          <p:cNvPr id="24" name="Group 23">
            <a:extLst>
              <a:ext uri="{FF2B5EF4-FFF2-40B4-BE49-F238E27FC236}">
                <a16:creationId xmlns:a16="http://schemas.microsoft.com/office/drawing/2014/main" id="{EB24DB22-60F4-4473-BF26-2A254CD36AD5}"/>
              </a:ext>
            </a:extLst>
          </p:cNvPr>
          <p:cNvGrpSpPr/>
          <p:nvPr/>
        </p:nvGrpSpPr>
        <p:grpSpPr>
          <a:xfrm>
            <a:off x="6247681" y="2777202"/>
            <a:ext cx="2073389" cy="1303596"/>
            <a:chOff x="5628960" y="2877908"/>
            <a:chExt cx="2073389" cy="1303596"/>
          </a:xfrm>
        </p:grpSpPr>
        <p:cxnSp>
          <p:nvCxnSpPr>
            <p:cNvPr id="54" name="Straight Arrow Connector 53">
              <a:extLst>
                <a:ext uri="{FF2B5EF4-FFF2-40B4-BE49-F238E27FC236}">
                  <a16:creationId xmlns:a16="http://schemas.microsoft.com/office/drawing/2014/main" id="{F24DCFC9-9322-46C6-B519-4A188099C6F5}"/>
                </a:ext>
              </a:extLst>
            </p:cNvPr>
            <p:cNvCxnSpPr/>
            <p:nvPr/>
          </p:nvCxnSpPr>
          <p:spPr>
            <a:xfrm flipH="1">
              <a:off x="6553564" y="2877908"/>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444238E-6B93-4122-9BAA-26AB072EF067}"/>
                </a:ext>
              </a:extLst>
            </p:cNvPr>
            <p:cNvCxnSpPr>
              <a:cxnSpLocks/>
            </p:cNvCxnSpPr>
            <p:nvPr/>
          </p:nvCxnSpPr>
          <p:spPr>
            <a:xfrm>
              <a:off x="6561588" y="3466679"/>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B2D655DF-1731-4266-AA84-8B76644E851E}"/>
                </a:ext>
              </a:extLst>
            </p:cNvPr>
            <p:cNvCxnSpPr>
              <a:cxnSpLocks/>
            </p:cNvCxnSpPr>
            <p:nvPr/>
          </p:nvCxnSpPr>
          <p:spPr>
            <a:xfrm flipV="1">
              <a:off x="6838790" y="3336964"/>
              <a:ext cx="182795" cy="124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D0D16B1-DCEF-48F4-91AE-197D6A16E592}"/>
                </a:ext>
              </a:extLst>
            </p:cNvPr>
            <p:cNvCxnSpPr>
              <a:cxnSpLocks/>
            </p:cNvCxnSpPr>
            <p:nvPr/>
          </p:nvCxnSpPr>
          <p:spPr>
            <a:xfrm flipV="1">
              <a:off x="7021585" y="3063308"/>
              <a:ext cx="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54E94D3-BF92-4230-957E-119C1E4EABBB}"/>
                </a:ext>
              </a:extLst>
            </p:cNvPr>
            <p:cNvCxnSpPr>
              <a:cxnSpLocks/>
            </p:cNvCxnSpPr>
            <p:nvPr/>
          </p:nvCxnSpPr>
          <p:spPr>
            <a:xfrm flipH="1">
              <a:off x="6350466" y="2885911"/>
              <a:ext cx="203099" cy="189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BC1873B0-D0E1-4926-926E-33F60766F2BA}"/>
                </a:ext>
              </a:extLst>
            </p:cNvPr>
            <p:cNvCxnSpPr>
              <a:cxnSpLocks/>
            </p:cNvCxnSpPr>
            <p:nvPr/>
          </p:nvCxnSpPr>
          <p:spPr>
            <a:xfrm flipH="1" flipV="1">
              <a:off x="6853988" y="2877908"/>
              <a:ext cx="15240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A66B14B-87BC-47AC-9FA2-A45E2659BE11}"/>
                </a:ext>
              </a:extLst>
            </p:cNvPr>
            <p:cNvCxnSpPr>
              <a:cxnSpLocks/>
            </p:cNvCxnSpPr>
            <p:nvPr/>
          </p:nvCxnSpPr>
          <p:spPr>
            <a:xfrm>
              <a:off x="6350466" y="3063308"/>
              <a:ext cx="0" cy="246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5D8A534-BAD8-460D-A5A7-F931C72E9566}"/>
                </a:ext>
              </a:extLst>
            </p:cNvPr>
            <p:cNvCxnSpPr>
              <a:cxnSpLocks/>
            </p:cNvCxnSpPr>
            <p:nvPr/>
          </p:nvCxnSpPr>
          <p:spPr>
            <a:xfrm>
              <a:off x="6349675" y="3270169"/>
              <a:ext cx="211913" cy="217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93DC97A8-A86E-45E3-840C-7865FBB0C1F1}"/>
                </a:ext>
              </a:extLst>
            </p:cNvPr>
            <p:cNvSpPr/>
            <p:nvPr/>
          </p:nvSpPr>
          <p:spPr>
            <a:xfrm>
              <a:off x="6665655" y="316516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E941E440-82B2-4012-9EEA-B4383527EADA}"/>
                </a:ext>
              </a:extLst>
            </p:cNvPr>
            <p:cNvSpPr txBox="1"/>
            <p:nvPr/>
          </p:nvSpPr>
          <p:spPr>
            <a:xfrm>
              <a:off x="5628960" y="3535173"/>
              <a:ext cx="2073389" cy="646331"/>
            </a:xfrm>
            <a:prstGeom prst="rect">
              <a:avLst/>
            </a:prstGeom>
            <a:noFill/>
          </p:spPr>
          <p:txBody>
            <a:bodyPr wrap="none" rtlCol="0">
              <a:spAutoFit/>
            </a:bodyPr>
            <a:lstStyle/>
            <a:p>
              <a:pPr algn="ctr"/>
              <a:r>
                <a:rPr lang="sv-SE" dirty="0" err="1"/>
                <a:t>Core</a:t>
              </a:r>
              <a:r>
                <a:rPr lang="sv-SE" dirty="0"/>
                <a:t> </a:t>
              </a:r>
              <a:r>
                <a:rPr lang="sv-SE" dirty="0" err="1"/>
                <a:t>pattern</a:t>
              </a:r>
              <a:r>
                <a:rPr lang="sv-SE" dirty="0"/>
                <a:t> region</a:t>
              </a:r>
            </a:p>
            <a:p>
              <a:pPr algn="ctr"/>
              <a:r>
                <a:rPr lang="sv-SE" dirty="0"/>
                <a:t>Gradient </a:t>
              </a:r>
              <a:r>
                <a:rPr lang="sv-SE" dirty="0" err="1"/>
                <a:t>vectors</a:t>
              </a:r>
              <a:endParaRPr lang="en-US" dirty="0"/>
            </a:p>
          </p:txBody>
        </p:sp>
      </p:grpSp>
      <p:grpSp>
        <p:nvGrpSpPr>
          <p:cNvPr id="26" name="Group 25">
            <a:extLst>
              <a:ext uri="{FF2B5EF4-FFF2-40B4-BE49-F238E27FC236}">
                <a16:creationId xmlns:a16="http://schemas.microsoft.com/office/drawing/2014/main" id="{50DBE515-574A-4902-80B8-3C035B4E5C00}"/>
              </a:ext>
            </a:extLst>
          </p:cNvPr>
          <p:cNvGrpSpPr/>
          <p:nvPr/>
        </p:nvGrpSpPr>
        <p:grpSpPr>
          <a:xfrm>
            <a:off x="330039" y="3042795"/>
            <a:ext cx="2121093" cy="747986"/>
            <a:chOff x="330039" y="3042795"/>
            <a:chExt cx="2121093" cy="747986"/>
          </a:xfrm>
        </p:grpSpPr>
        <p:grpSp>
          <p:nvGrpSpPr>
            <p:cNvPr id="105" name="Group 104">
              <a:extLst>
                <a:ext uri="{FF2B5EF4-FFF2-40B4-BE49-F238E27FC236}">
                  <a16:creationId xmlns:a16="http://schemas.microsoft.com/office/drawing/2014/main" id="{CFDF5E3E-661D-48EB-89D7-368F93825407}"/>
                </a:ext>
              </a:extLst>
            </p:cNvPr>
            <p:cNvGrpSpPr/>
            <p:nvPr/>
          </p:nvGrpSpPr>
          <p:grpSpPr>
            <a:xfrm>
              <a:off x="330039" y="3312253"/>
              <a:ext cx="2121093" cy="478528"/>
              <a:chOff x="3511453" y="3429582"/>
              <a:chExt cx="2121093" cy="490167"/>
            </a:xfrm>
          </p:grpSpPr>
          <p:cxnSp>
            <p:nvCxnSpPr>
              <p:cNvPr id="124" name="Straight Arrow Connector 123">
                <a:extLst>
                  <a:ext uri="{FF2B5EF4-FFF2-40B4-BE49-F238E27FC236}">
                    <a16:creationId xmlns:a16="http://schemas.microsoft.com/office/drawing/2014/main" id="{7EF4921F-C0C6-47B2-BBEC-C176241BBC9E}"/>
                  </a:ext>
                </a:extLst>
              </p:cNvPr>
              <p:cNvCxnSpPr>
                <a:cxnSpLocks/>
              </p:cNvCxnSpPr>
              <p:nvPr/>
            </p:nvCxnSpPr>
            <p:spPr>
              <a:xfrm>
                <a:off x="4783122" y="342958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B1804D87-E1AE-48B5-8D70-12C037E47EBA}"/>
                  </a:ext>
                </a:extLst>
              </p:cNvPr>
              <p:cNvSpPr txBox="1"/>
              <p:nvPr/>
            </p:nvSpPr>
            <p:spPr>
              <a:xfrm>
                <a:off x="3511453" y="3541434"/>
                <a:ext cx="2121093" cy="378315"/>
              </a:xfrm>
              <a:prstGeom prst="rect">
                <a:avLst/>
              </a:prstGeom>
              <a:noFill/>
            </p:spPr>
            <p:txBody>
              <a:bodyPr wrap="none" rtlCol="0">
                <a:spAutoFit/>
              </a:bodyPr>
              <a:lstStyle/>
              <a:p>
                <a:pPr algn="ctr"/>
                <a:r>
                  <a:rPr lang="sv-SE" dirty="0" err="1"/>
                  <a:t>Parallel</a:t>
                </a:r>
                <a:r>
                  <a:rPr lang="sv-SE" dirty="0"/>
                  <a:t> </a:t>
                </a:r>
                <a:r>
                  <a:rPr lang="sv-SE" dirty="0" err="1"/>
                  <a:t>line</a:t>
                </a:r>
                <a:r>
                  <a:rPr lang="en-US" dirty="0"/>
                  <a:t> detector</a:t>
                </a:r>
                <a:endParaRPr lang="sv-SE" dirty="0"/>
              </a:p>
            </p:txBody>
          </p:sp>
        </p:grpSp>
        <p:cxnSp>
          <p:nvCxnSpPr>
            <p:cNvPr id="125" name="Straight Arrow Connector 124">
              <a:extLst>
                <a:ext uri="{FF2B5EF4-FFF2-40B4-BE49-F238E27FC236}">
                  <a16:creationId xmlns:a16="http://schemas.microsoft.com/office/drawing/2014/main" id="{83F0D9C7-3437-48E5-ADB4-628D72419FCE}"/>
                </a:ext>
              </a:extLst>
            </p:cNvPr>
            <p:cNvCxnSpPr>
              <a:cxnSpLocks/>
            </p:cNvCxnSpPr>
            <p:nvPr/>
          </p:nvCxnSpPr>
          <p:spPr>
            <a:xfrm>
              <a:off x="1233990"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32C126F6-20EA-48D3-9347-04A20D3732BA}"/>
                </a:ext>
              </a:extLst>
            </p:cNvPr>
            <p:cNvCxnSpPr>
              <a:cxnSpLocks/>
            </p:cNvCxnSpPr>
            <p:nvPr/>
          </p:nvCxnSpPr>
          <p:spPr>
            <a:xfrm>
              <a:off x="822930"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823E00EE-DBD5-4154-97EF-D542D174595A}"/>
                </a:ext>
              </a:extLst>
            </p:cNvPr>
            <p:cNvCxnSpPr>
              <a:cxnSpLocks/>
            </p:cNvCxnSpPr>
            <p:nvPr/>
          </p:nvCxnSpPr>
          <p:spPr>
            <a:xfrm>
              <a:off x="1601708"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7E2670C2-0570-4AA7-A787-0D7C6E4DDB8C}"/>
                </a:ext>
              </a:extLst>
            </p:cNvPr>
            <p:cNvCxnSpPr>
              <a:cxnSpLocks/>
            </p:cNvCxnSpPr>
            <p:nvPr/>
          </p:nvCxnSpPr>
          <p:spPr>
            <a:xfrm>
              <a:off x="1233990"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FB78E976-37E7-4956-8D62-D54E6C3BBC2F}"/>
                </a:ext>
              </a:extLst>
            </p:cNvPr>
            <p:cNvCxnSpPr>
              <a:cxnSpLocks/>
            </p:cNvCxnSpPr>
            <p:nvPr/>
          </p:nvCxnSpPr>
          <p:spPr>
            <a:xfrm>
              <a:off x="822930"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C1DED6D6-A980-4EF0-8F26-7E8383393472}"/>
                </a:ext>
              </a:extLst>
            </p:cNvPr>
            <p:cNvCxnSpPr>
              <a:cxnSpLocks/>
            </p:cNvCxnSpPr>
            <p:nvPr/>
          </p:nvCxnSpPr>
          <p:spPr>
            <a:xfrm>
              <a:off x="822930"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1049D074-3E28-4786-9879-C412A0993112}"/>
                </a:ext>
              </a:extLst>
            </p:cNvPr>
            <p:cNvCxnSpPr>
              <a:cxnSpLocks/>
            </p:cNvCxnSpPr>
            <p:nvPr/>
          </p:nvCxnSpPr>
          <p:spPr>
            <a:xfrm>
              <a:off x="1233990"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37DFFB0D-C610-4DDE-97C3-423015B863AF}"/>
                </a:ext>
              </a:extLst>
            </p:cNvPr>
            <p:cNvCxnSpPr>
              <a:cxnSpLocks/>
            </p:cNvCxnSpPr>
            <p:nvPr/>
          </p:nvCxnSpPr>
          <p:spPr>
            <a:xfrm>
              <a:off x="1601708"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E3847A59-6B3F-4A15-82B9-01F858E7CF99}"/>
              </a:ext>
            </a:extLst>
          </p:cNvPr>
          <p:cNvSpPr/>
          <p:nvPr/>
        </p:nvSpPr>
        <p:spPr>
          <a:xfrm>
            <a:off x="3741490" y="2374084"/>
            <a:ext cx="4579580" cy="20301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7A73C75-200A-4DF7-9FC1-92292F2FF93B}"/>
              </a:ext>
            </a:extLst>
          </p:cNvPr>
          <p:cNvSpPr txBox="1"/>
          <p:nvPr/>
        </p:nvSpPr>
        <p:spPr>
          <a:xfrm>
            <a:off x="5521618" y="4472706"/>
            <a:ext cx="958917" cy="369332"/>
          </a:xfrm>
          <a:prstGeom prst="rect">
            <a:avLst/>
          </a:prstGeom>
          <a:noFill/>
        </p:spPr>
        <p:txBody>
          <a:bodyPr wrap="none" rtlCol="0">
            <a:spAutoFit/>
          </a:bodyPr>
          <a:lstStyle/>
          <a:p>
            <a:r>
              <a:rPr lang="sv-SE" dirty="0" err="1"/>
              <a:t>Patterns</a:t>
            </a:r>
            <a:endParaRPr lang="en-US" dirty="0"/>
          </a:p>
        </p:txBody>
      </p:sp>
      <p:sp>
        <p:nvSpPr>
          <p:cNvPr id="133" name="Rectangle 132">
            <a:extLst>
              <a:ext uri="{FF2B5EF4-FFF2-40B4-BE49-F238E27FC236}">
                <a16:creationId xmlns:a16="http://schemas.microsoft.com/office/drawing/2014/main" id="{25EBA5F4-DA80-415E-B963-A6E4C5E077A1}"/>
              </a:ext>
            </a:extLst>
          </p:cNvPr>
          <p:cNvSpPr/>
          <p:nvPr/>
        </p:nvSpPr>
        <p:spPr>
          <a:xfrm>
            <a:off x="234739" y="2785205"/>
            <a:ext cx="2216393" cy="12337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TextBox 133">
            <a:extLst>
              <a:ext uri="{FF2B5EF4-FFF2-40B4-BE49-F238E27FC236}">
                <a16:creationId xmlns:a16="http://schemas.microsoft.com/office/drawing/2014/main" id="{0C85807B-ED30-4F6F-9701-7544563F9A9D}"/>
              </a:ext>
            </a:extLst>
          </p:cNvPr>
          <p:cNvSpPr txBox="1"/>
          <p:nvPr/>
        </p:nvSpPr>
        <p:spPr>
          <a:xfrm>
            <a:off x="986908" y="4106770"/>
            <a:ext cx="712054" cy="369332"/>
          </a:xfrm>
          <a:prstGeom prst="rect">
            <a:avLst/>
          </a:prstGeom>
          <a:noFill/>
        </p:spPr>
        <p:txBody>
          <a:bodyPr wrap="none" rtlCol="0">
            <a:spAutoFit/>
          </a:bodyPr>
          <a:lstStyle/>
          <a:p>
            <a:r>
              <a:rPr lang="sv-SE" dirty="0"/>
              <a:t>filters</a:t>
            </a:r>
            <a:endParaRPr lang="en-US" dirty="0"/>
          </a:p>
        </p:txBody>
      </p:sp>
    </p:spTree>
    <p:extLst>
      <p:ext uri="{BB962C8B-B14F-4D97-AF65-F5344CB8AC3E}">
        <p14:creationId xmlns:p14="http://schemas.microsoft.com/office/powerpoint/2010/main" val="3662919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Detecting patterns in the image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a:bodyPr>
              <a:lstStyle/>
              <a:p>
                <a:r>
                  <a:rPr lang="sv-SE" sz="2000" dirty="0"/>
                  <a:t>How do </a:t>
                </a:r>
                <a:r>
                  <a:rPr lang="sv-SE" sz="2000" dirty="0" err="1"/>
                  <a:t>we</a:t>
                </a:r>
                <a:r>
                  <a:rPr lang="sv-SE" sz="2000" dirty="0"/>
                  <a:t> </a:t>
                </a:r>
                <a:r>
                  <a:rPr lang="sv-SE" sz="2000" dirty="0" err="1"/>
                  <a:t>calculate</a:t>
                </a:r>
                <a:r>
                  <a:rPr lang="sv-SE" sz="2000" dirty="0"/>
                  <a:t> the </a:t>
                </a:r>
                <a:r>
                  <a:rPr lang="sv-SE" sz="2000" dirty="0" err="1"/>
                  <a:t>scalar</a:t>
                </a:r>
                <a:r>
                  <a:rPr lang="sv-SE" sz="2000" dirty="0"/>
                  <a:t> </a:t>
                </a:r>
                <a:r>
                  <a:rPr lang="sv-SE" sz="2000" dirty="0" err="1"/>
                  <a:t>product</a:t>
                </a:r>
                <a:r>
                  <a:rPr lang="sv-SE" sz="2000" dirty="0"/>
                  <a:t> </a:t>
                </a:r>
                <a:r>
                  <a:rPr lang="sv-SE" sz="2000" dirty="0" err="1"/>
                  <a:t>between</a:t>
                </a:r>
                <a:r>
                  <a:rPr lang="sv-SE" sz="2000" dirty="0"/>
                  <a:t> ”</a:t>
                </a:r>
                <a:r>
                  <a:rPr lang="sv-SE" sz="2000" dirty="0" err="1"/>
                  <a:t>arrows</a:t>
                </a:r>
                <a:r>
                  <a:rPr lang="sv-SE" sz="2000" dirty="0"/>
                  <a:t>”/</a:t>
                </a:r>
                <a:r>
                  <a:rPr lang="sv-SE" sz="2000" dirty="0" err="1"/>
                  <a:t>vectors</a:t>
                </a:r>
                <a:r>
                  <a:rPr lang="sv-SE" sz="2000" dirty="0"/>
                  <a:t>??</a:t>
                </a:r>
              </a:p>
              <a:p>
                <a:r>
                  <a:rPr lang="sv-SE" sz="2000" dirty="0" err="1"/>
                  <a:t>When</a:t>
                </a:r>
                <a:r>
                  <a:rPr lang="sv-SE" sz="2000" dirty="0"/>
                  <a:t> </a:t>
                </a:r>
                <a:r>
                  <a:rPr lang="sv-SE" sz="2000" dirty="0" err="1"/>
                  <a:t>calculating</a:t>
                </a:r>
                <a:r>
                  <a:rPr lang="sv-SE" sz="2000" dirty="0"/>
                  <a:t> the </a:t>
                </a:r>
                <a:r>
                  <a:rPr lang="sv-SE" sz="2000" dirty="0" err="1"/>
                  <a:t>scalar</a:t>
                </a:r>
                <a:r>
                  <a:rPr lang="sv-SE" sz="2000" dirty="0"/>
                  <a:t> </a:t>
                </a:r>
                <a:r>
                  <a:rPr lang="sv-SE" sz="2000" dirty="0" err="1"/>
                  <a:t>product</a:t>
                </a:r>
                <a:r>
                  <a:rPr lang="sv-SE" sz="2000" dirty="0"/>
                  <a:t> </a:t>
                </a:r>
                <a:r>
                  <a:rPr lang="sv-SE" sz="2000" dirty="0" err="1"/>
                  <a:t>with</a:t>
                </a:r>
                <a:r>
                  <a:rPr lang="sv-SE" sz="2000" dirty="0"/>
                  <a:t> </a:t>
                </a:r>
                <a:r>
                  <a:rPr lang="sv-SE" sz="2000" dirty="0" err="1"/>
                  <a:t>complex</a:t>
                </a:r>
                <a:r>
                  <a:rPr lang="sv-SE" sz="2000" dirty="0"/>
                  <a:t> </a:t>
                </a:r>
                <a:r>
                  <a:rPr lang="sv-SE" sz="2000" dirty="0" err="1"/>
                  <a:t>numbers</a:t>
                </a:r>
                <a:r>
                  <a:rPr lang="sv-SE" sz="2000" dirty="0"/>
                  <a:t>, </a:t>
                </a:r>
                <a:r>
                  <a:rPr lang="sv-SE" sz="2000" dirty="0" err="1"/>
                  <a:t>we</a:t>
                </a:r>
                <a:r>
                  <a:rPr lang="sv-SE" sz="2000" dirty="0"/>
                  <a:t> </a:t>
                </a:r>
                <a:r>
                  <a:rPr lang="sv-SE" sz="2000" dirty="0" err="1"/>
                  <a:t>conjugate</a:t>
                </a:r>
                <a:r>
                  <a:rPr lang="sv-SE" sz="2000" dirty="0"/>
                  <a:t> the second </a:t>
                </a:r>
                <a:r>
                  <a:rPr lang="sv-SE" sz="2000" dirty="0" err="1"/>
                  <a:t>vector</a:t>
                </a:r>
                <a:endParaRPr lang="sv-SE" sz="2000" dirty="0"/>
              </a:p>
              <a:p>
                <a:pPr marL="0" indent="0">
                  <a:buNone/>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&lt;</m:t>
                      </m:r>
                      <m:r>
                        <a:rPr lang="sv-SE" sz="2000" b="0" i="1" smtClean="0">
                          <a:latin typeface="Cambria Math" panose="02040503050406030204" pitchFamily="18" charset="0"/>
                          <a:ea typeface="Cambria Math" panose="02040503050406030204" pitchFamily="18" charset="0"/>
                        </a:rPr>
                        <m:t>𝑓</m:t>
                      </m:r>
                      <m:r>
                        <a:rPr lang="sv-SE" sz="2000" b="0" i="1" smtClean="0">
                          <a:latin typeface="Cambria Math" panose="02040503050406030204" pitchFamily="18" charset="0"/>
                          <a:ea typeface="Cambria Math" panose="02040503050406030204" pitchFamily="18" charset="0"/>
                        </a:rPr>
                        <m:t>,</m:t>
                      </m:r>
                      <m:r>
                        <a:rPr lang="sv-SE" sz="2000" b="0" i="1" smtClean="0">
                          <a:latin typeface="Cambria Math" panose="02040503050406030204" pitchFamily="18" charset="0"/>
                          <a:ea typeface="Cambria Math" panose="02040503050406030204" pitchFamily="18" charset="0"/>
                        </a:rPr>
                        <m:t>h</m:t>
                      </m:r>
                      <m:r>
                        <a:rPr lang="sv-SE" sz="2000" b="0" i="1" smtClean="0">
                          <a:latin typeface="Cambria Math" panose="02040503050406030204" pitchFamily="18" charset="0"/>
                          <a:ea typeface="Cambria Math" panose="02040503050406030204" pitchFamily="18" charset="0"/>
                        </a:rPr>
                        <m:t>&gt; =</m:t>
                      </m:r>
                      <m:nary>
                        <m:naryPr>
                          <m:chr m:val="∑"/>
                          <m:supHide m:val="on"/>
                          <m:ctrlPr>
                            <a:rPr lang="sv-SE" sz="2000" b="0" i="1" smtClean="0">
                              <a:latin typeface="Cambria Math" panose="02040503050406030204" pitchFamily="18" charset="0"/>
                              <a:ea typeface="Cambria Math" panose="02040503050406030204" pitchFamily="18" charset="0"/>
                            </a:rPr>
                          </m:ctrlPr>
                        </m:naryPr>
                        <m:sub>
                          <m:r>
                            <m:rPr>
                              <m:brk m:alnAt="7"/>
                            </m:rPr>
                            <a:rPr lang="sv-SE" sz="2000" b="0" i="1" smtClean="0">
                              <a:latin typeface="Cambria Math" panose="02040503050406030204" pitchFamily="18" charset="0"/>
                              <a:ea typeface="Cambria Math" panose="02040503050406030204" pitchFamily="18" charset="0"/>
                            </a:rPr>
                            <m:t>𝑖</m:t>
                          </m:r>
                        </m:sub>
                        <m:sup/>
                        <m:e>
                          <m:sSub>
                            <m:sSubPr>
                              <m:ctrlPr>
                                <a:rPr lang="sv-SE" sz="2000" b="0" i="1" smtClean="0">
                                  <a:latin typeface="Cambria Math" panose="02040503050406030204" pitchFamily="18" charset="0"/>
                                  <a:ea typeface="Cambria Math" panose="02040503050406030204" pitchFamily="18" charset="0"/>
                                </a:rPr>
                              </m:ctrlPr>
                            </m:sSubPr>
                            <m:e>
                              <m:r>
                                <a:rPr lang="sv-SE" sz="2000" b="0" i="1" smtClean="0">
                                  <a:latin typeface="Cambria Math" panose="02040503050406030204" pitchFamily="18" charset="0"/>
                                  <a:ea typeface="Cambria Math" panose="02040503050406030204" pitchFamily="18" charset="0"/>
                                </a:rPr>
                                <m:t>𝑓</m:t>
                              </m:r>
                            </m:e>
                            <m:sub>
                              <m:r>
                                <a:rPr lang="sv-SE" sz="2000" b="0" i="1" smtClean="0">
                                  <a:latin typeface="Cambria Math" panose="02040503050406030204" pitchFamily="18" charset="0"/>
                                  <a:ea typeface="Cambria Math" panose="02040503050406030204" pitchFamily="18" charset="0"/>
                                </a:rPr>
                                <m:t>𝑖</m:t>
                              </m:r>
                            </m:sub>
                          </m:sSub>
                          <m:sSubSup>
                            <m:sSubSupPr>
                              <m:ctrlPr>
                                <a:rPr lang="sv-SE" sz="2000" b="0" i="1" smtClean="0">
                                  <a:latin typeface="Cambria Math" panose="02040503050406030204" pitchFamily="18" charset="0"/>
                                  <a:ea typeface="Cambria Math" panose="02040503050406030204" pitchFamily="18" charset="0"/>
                                </a:rPr>
                              </m:ctrlPr>
                            </m:sSubSupPr>
                            <m:e>
                              <m:r>
                                <a:rPr lang="sv-SE" sz="2000" b="0" i="1" smtClean="0">
                                  <a:latin typeface="Cambria Math" panose="02040503050406030204" pitchFamily="18" charset="0"/>
                                  <a:ea typeface="Cambria Math" panose="02040503050406030204" pitchFamily="18" charset="0"/>
                                </a:rPr>
                                <m:t>h</m:t>
                              </m:r>
                            </m:e>
                            <m:sub>
                              <m:r>
                                <a:rPr lang="sv-SE" sz="2000" b="0" i="1" smtClean="0">
                                  <a:latin typeface="Cambria Math" panose="02040503050406030204" pitchFamily="18" charset="0"/>
                                  <a:ea typeface="Cambria Math" panose="02040503050406030204" pitchFamily="18" charset="0"/>
                                </a:rPr>
                                <m:t>𝑖</m:t>
                              </m:r>
                            </m:sub>
                            <m:sup>
                              <m:r>
                                <a:rPr lang="sv-SE" sz="2000" b="0" i="1" smtClean="0">
                                  <a:latin typeface="Cambria Math" panose="02040503050406030204" pitchFamily="18" charset="0"/>
                                  <a:ea typeface="Cambria Math" panose="02040503050406030204" pitchFamily="18" charset="0"/>
                                </a:rPr>
                                <m:t>∗</m:t>
                              </m:r>
                            </m:sup>
                          </m:sSubSup>
                        </m:e>
                      </m:nary>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sv-SE" sz="2000" b="0" i="1" smtClean="0">
                          <a:latin typeface="Cambria Math" panose="02040503050406030204" pitchFamily="18" charset="0"/>
                        </a:rPr>
                        <m:t>h</m:t>
                      </m:r>
                      <m:r>
                        <a:rPr lang="sv-SE" sz="2000" b="0" i="1" smtClean="0">
                          <a:latin typeface="Cambria Math" panose="02040503050406030204" pitchFamily="18" charset="0"/>
                        </a:rPr>
                        <m:t>=</m:t>
                      </m:r>
                      <m:r>
                        <a:rPr lang="sv-SE" sz="2000" b="0" i="1" smtClean="0">
                          <a:latin typeface="Cambria Math" panose="02040503050406030204" pitchFamily="18" charset="0"/>
                        </a:rPr>
                        <m:t>𝑅𝑒𝑎𝑙</m:t>
                      </m:r>
                      <m:r>
                        <a:rPr lang="sv-SE" sz="2000" b="0" i="1" smtClean="0">
                          <a:latin typeface="Cambria Math" panose="02040503050406030204" pitchFamily="18" charset="0"/>
                        </a:rPr>
                        <m:t>+</m:t>
                      </m:r>
                      <m:r>
                        <a:rPr lang="sv-SE" sz="2000" b="0" i="1" smtClean="0">
                          <a:latin typeface="Cambria Math" panose="02040503050406030204" pitchFamily="18" charset="0"/>
                        </a:rPr>
                        <m:t>𝑖</m:t>
                      </m:r>
                      <m:r>
                        <a:rPr lang="sv-SE" sz="2000" b="0" i="1" smtClean="0">
                          <a:latin typeface="Cambria Math" panose="02040503050406030204" pitchFamily="18" charset="0"/>
                        </a:rPr>
                        <m:t> </m:t>
                      </m:r>
                      <m:r>
                        <a:rPr lang="sv-SE" sz="2000" b="0" i="1" smtClean="0">
                          <a:latin typeface="Cambria Math" panose="02040503050406030204" pitchFamily="18" charset="0"/>
                        </a:rPr>
                        <m:t>𝐼𝑚𝑔</m:t>
                      </m:r>
                      <m:r>
                        <a:rPr lang="sv-SE" sz="2000" b="0" i="1" smtClean="0">
                          <a:latin typeface="Cambria Math" panose="02040503050406030204" pitchFamily="18" charset="0"/>
                        </a:rPr>
                        <m:t> →</m:t>
                      </m:r>
                      <m:sSup>
                        <m:sSupPr>
                          <m:ctrlPr>
                            <a:rPr lang="sv-SE" sz="2000" b="0" i="1" smtClean="0">
                              <a:latin typeface="Cambria Math" panose="02040503050406030204" pitchFamily="18" charset="0"/>
                              <a:ea typeface="Cambria Math" panose="02040503050406030204" pitchFamily="18" charset="0"/>
                            </a:rPr>
                          </m:ctrlPr>
                        </m:sSupPr>
                        <m:e>
                          <m:r>
                            <a:rPr lang="sv-SE" sz="2000" b="0" i="1" smtClean="0">
                              <a:latin typeface="Cambria Math" panose="02040503050406030204" pitchFamily="18" charset="0"/>
                              <a:ea typeface="Cambria Math" panose="02040503050406030204" pitchFamily="18" charset="0"/>
                            </a:rPr>
                            <m:t>h</m:t>
                          </m:r>
                        </m:e>
                        <m:sup>
                          <m:r>
                            <a:rPr lang="sv-SE" sz="2000" b="0" i="1" smtClean="0">
                              <a:latin typeface="Cambria Math" panose="02040503050406030204" pitchFamily="18" charset="0"/>
                              <a:ea typeface="Cambria Math" panose="02040503050406030204" pitchFamily="18" charset="0"/>
                            </a:rPr>
                            <m:t>∗</m:t>
                          </m:r>
                        </m:sup>
                      </m:sSup>
                      <m:r>
                        <a:rPr lang="sv-SE" sz="2000" b="0" i="1" smtClean="0">
                          <a:latin typeface="Cambria Math" panose="02040503050406030204" pitchFamily="18" charset="0"/>
                          <a:ea typeface="Cambria Math" panose="02040503050406030204" pitchFamily="18" charset="0"/>
                        </a:rPr>
                        <m:t>=</m:t>
                      </m:r>
                      <m:r>
                        <a:rPr lang="sv-SE" sz="2000" b="0" i="1" smtClean="0">
                          <a:latin typeface="Cambria Math" panose="02040503050406030204" pitchFamily="18" charset="0"/>
                          <a:ea typeface="Cambria Math" panose="02040503050406030204" pitchFamily="18" charset="0"/>
                        </a:rPr>
                        <m:t>𝑅𝑒𝑎𝑙</m:t>
                      </m:r>
                      <m:r>
                        <a:rPr lang="sv-SE" sz="2000" b="0" i="1" smtClean="0">
                          <a:latin typeface="Cambria Math" panose="02040503050406030204" pitchFamily="18" charset="0"/>
                          <a:ea typeface="Cambria Math" panose="02040503050406030204" pitchFamily="18" charset="0"/>
                        </a:rPr>
                        <m:t> −</m:t>
                      </m:r>
                      <m:r>
                        <a:rPr lang="sv-SE" sz="2000" b="0" i="1" smtClean="0">
                          <a:latin typeface="Cambria Math" panose="02040503050406030204" pitchFamily="18" charset="0"/>
                          <a:ea typeface="Cambria Math" panose="02040503050406030204" pitchFamily="18" charset="0"/>
                        </a:rPr>
                        <m:t>𝑖</m:t>
                      </m:r>
                      <m:r>
                        <a:rPr lang="sv-SE" sz="2000" b="0" i="1" smtClean="0">
                          <a:latin typeface="Cambria Math" panose="02040503050406030204" pitchFamily="18" charset="0"/>
                          <a:ea typeface="Cambria Math" panose="02040503050406030204" pitchFamily="18" charset="0"/>
                        </a:rPr>
                        <m:t> </m:t>
                      </m:r>
                      <m:r>
                        <a:rPr lang="sv-SE" sz="2000" b="0" i="1" smtClean="0">
                          <a:latin typeface="Cambria Math" panose="02040503050406030204" pitchFamily="18" charset="0"/>
                          <a:ea typeface="Cambria Math" panose="02040503050406030204" pitchFamily="18" charset="0"/>
                        </a:rPr>
                        <m:t>𝐼𝑚𝑔</m:t>
                      </m:r>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r>
                        <a:rPr lang="sv-SE" sz="2000" b="0" i="1" smtClean="0">
                          <a:latin typeface="Cambria Math" panose="02040503050406030204" pitchFamily="18" charset="0"/>
                        </a:rPr>
                        <m:t>h</m:t>
                      </m:r>
                      <m:r>
                        <a:rPr lang="sv-SE" sz="2000" b="0" i="1" smtClean="0">
                          <a:latin typeface="Cambria Math" panose="02040503050406030204" pitchFamily="18" charset="0"/>
                        </a:rPr>
                        <m:t>=</m:t>
                      </m:r>
                      <m:r>
                        <a:rPr lang="sv-SE" sz="2000" b="0" i="1" smtClean="0">
                          <a:latin typeface="Cambria Math" panose="02040503050406030204" pitchFamily="18" charset="0"/>
                        </a:rPr>
                        <m:t>𝑀</m:t>
                      </m:r>
                      <m:sSup>
                        <m:sSupPr>
                          <m:ctrlPr>
                            <a:rPr lang="sv-SE" sz="2000" b="0" i="1" smtClean="0">
                              <a:latin typeface="Cambria Math" panose="02040503050406030204" pitchFamily="18" charset="0"/>
                            </a:rPr>
                          </m:ctrlPr>
                        </m:sSupPr>
                        <m:e>
                          <m:r>
                            <a:rPr lang="sv-SE" sz="2000" b="0" i="1" smtClean="0">
                              <a:latin typeface="Cambria Math" panose="02040503050406030204" pitchFamily="18" charset="0"/>
                            </a:rPr>
                            <m:t>𝑒</m:t>
                          </m:r>
                        </m:e>
                        <m:sup>
                          <m:r>
                            <a:rPr lang="sv-SE" sz="2000" b="0" i="1" smtClean="0">
                              <a:latin typeface="Cambria Math" panose="02040503050406030204" pitchFamily="18" charset="0"/>
                            </a:rPr>
                            <m:t>𝑖</m:t>
                          </m:r>
                          <m:r>
                            <a:rPr lang="sv-SE" sz="2000" b="0" i="1" smtClean="0">
                              <a:latin typeface="Cambria Math" panose="02040503050406030204" pitchFamily="18" charset="0"/>
                              <a:ea typeface="Cambria Math" panose="02040503050406030204" pitchFamily="18" charset="0"/>
                            </a:rPr>
                            <m:t>𝜑</m:t>
                          </m:r>
                        </m:sup>
                      </m:sSup>
                      <m:r>
                        <a:rPr lang="sv-SE" sz="2000" b="0" i="1" smtClean="0">
                          <a:latin typeface="Cambria Math" panose="02040503050406030204" pitchFamily="18" charset="0"/>
                        </a:rPr>
                        <m:t> </m:t>
                      </m:r>
                      <m:r>
                        <a:rPr lang="sv-SE" sz="2000" b="0" i="1" smtClean="0">
                          <a:latin typeface="Cambria Math" panose="02040503050406030204" pitchFamily="18" charset="0"/>
                          <a:ea typeface="Cambria Math" panose="02040503050406030204" pitchFamily="18" charset="0"/>
                        </a:rPr>
                        <m:t>→</m:t>
                      </m:r>
                      <m:sSup>
                        <m:sSupPr>
                          <m:ctrlPr>
                            <a:rPr lang="sv-SE" sz="2000" b="0" i="1" smtClean="0">
                              <a:latin typeface="Cambria Math" panose="02040503050406030204" pitchFamily="18" charset="0"/>
                              <a:ea typeface="Cambria Math" panose="02040503050406030204" pitchFamily="18" charset="0"/>
                            </a:rPr>
                          </m:ctrlPr>
                        </m:sSupPr>
                        <m:e>
                          <m:r>
                            <a:rPr lang="sv-SE" sz="2000" b="0" i="1" smtClean="0">
                              <a:latin typeface="Cambria Math" panose="02040503050406030204" pitchFamily="18" charset="0"/>
                              <a:ea typeface="Cambria Math" panose="02040503050406030204" pitchFamily="18" charset="0"/>
                            </a:rPr>
                            <m:t>h</m:t>
                          </m:r>
                        </m:e>
                        <m:sup>
                          <m:r>
                            <a:rPr lang="sv-SE" sz="2000" b="0" i="1" smtClean="0">
                              <a:latin typeface="Cambria Math" panose="02040503050406030204" pitchFamily="18" charset="0"/>
                              <a:ea typeface="Cambria Math" panose="02040503050406030204" pitchFamily="18" charset="0"/>
                            </a:rPr>
                            <m:t>∗</m:t>
                          </m:r>
                        </m:sup>
                      </m:sSup>
                      <m:r>
                        <a:rPr lang="sv-SE" sz="2000" b="0" i="1" smtClean="0">
                          <a:latin typeface="Cambria Math" panose="02040503050406030204" pitchFamily="18" charset="0"/>
                          <a:ea typeface="Cambria Math" panose="02040503050406030204" pitchFamily="18" charset="0"/>
                        </a:rPr>
                        <m:t>=</m:t>
                      </m:r>
                      <m:r>
                        <a:rPr lang="sv-SE" sz="2000" b="0" i="1" smtClean="0">
                          <a:latin typeface="Cambria Math" panose="02040503050406030204" pitchFamily="18" charset="0"/>
                          <a:ea typeface="Cambria Math" panose="02040503050406030204" pitchFamily="18" charset="0"/>
                        </a:rPr>
                        <m:t>𝑀</m:t>
                      </m:r>
                      <m:sSup>
                        <m:sSupPr>
                          <m:ctrlPr>
                            <a:rPr lang="sv-SE" sz="2000" b="0" i="1" smtClean="0">
                              <a:latin typeface="Cambria Math" panose="02040503050406030204" pitchFamily="18" charset="0"/>
                              <a:ea typeface="Cambria Math" panose="02040503050406030204" pitchFamily="18" charset="0"/>
                            </a:rPr>
                          </m:ctrlPr>
                        </m:sSupPr>
                        <m:e>
                          <m:r>
                            <a:rPr lang="sv-SE" sz="2000" b="0" i="1" smtClean="0">
                              <a:latin typeface="Cambria Math" panose="02040503050406030204" pitchFamily="18" charset="0"/>
                              <a:ea typeface="Cambria Math" panose="02040503050406030204" pitchFamily="18" charset="0"/>
                            </a:rPr>
                            <m:t>𝑒</m:t>
                          </m:r>
                        </m:e>
                        <m:sup>
                          <m:r>
                            <a:rPr lang="sv-SE" sz="2000" b="0" i="1" smtClean="0">
                              <a:latin typeface="Cambria Math" panose="02040503050406030204" pitchFamily="18" charset="0"/>
                              <a:ea typeface="Cambria Math" panose="02040503050406030204" pitchFamily="18" charset="0"/>
                            </a:rPr>
                            <m:t>−</m:t>
                          </m:r>
                          <m:r>
                            <a:rPr lang="sv-SE" sz="2000" b="0" i="1" smtClean="0">
                              <a:latin typeface="Cambria Math" panose="02040503050406030204" pitchFamily="18" charset="0"/>
                              <a:ea typeface="Cambria Math" panose="02040503050406030204" pitchFamily="18" charset="0"/>
                            </a:rPr>
                            <m:t>𝑖</m:t>
                          </m:r>
                          <m:r>
                            <a:rPr lang="sv-SE" sz="2000" b="0" i="1" smtClean="0">
                              <a:latin typeface="Cambria Math" panose="02040503050406030204" pitchFamily="18" charset="0"/>
                              <a:ea typeface="Cambria Math" panose="02040503050406030204" pitchFamily="18" charset="0"/>
                            </a:rPr>
                            <m:t>𝜑</m:t>
                          </m:r>
                        </m:sup>
                      </m:sSup>
                    </m:oMath>
                  </m:oMathPara>
                </a14:m>
                <a:endParaRPr lang="en-US" sz="2000" dirty="0"/>
              </a:p>
              <a:p>
                <a:pPr marL="0" indent="0">
                  <a:buNone/>
                </a:pPr>
                <a:endParaRPr lang="en-US" sz="2000"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500642C8-BBD6-4EEB-A6ED-34342652B87A}"/>
                  </a:ext>
                </a:extLst>
              </p:cNvPr>
              <p:cNvSpPr>
                <a:spLocks noGrp="1" noRot="1" noChangeAspect="1" noMove="1" noResize="1" noEditPoints="1" noAdjustHandles="1" noChangeArrowheads="1" noChangeShapeType="1" noTextEdit="1"/>
              </p:cNvSpPr>
              <p:nvPr>
                <p:ph idx="1"/>
              </p:nvPr>
            </p:nvSpPr>
            <p:spPr>
              <a:blipFill>
                <a:blip r:embed="rId2"/>
                <a:stretch>
                  <a:fillRect l="-655" t="-809"/>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3C3E9688-A328-46AD-B3BB-F389BF39AEA8}"/>
              </a:ext>
            </a:extLst>
          </p:cNvPr>
          <p:cNvSpPr txBox="1"/>
          <p:nvPr/>
        </p:nvSpPr>
        <p:spPr>
          <a:xfrm>
            <a:off x="6085092" y="2785145"/>
            <a:ext cx="2245743" cy="307777"/>
          </a:xfrm>
          <a:prstGeom prst="rect">
            <a:avLst/>
          </a:prstGeom>
          <a:noFill/>
        </p:spPr>
        <p:txBody>
          <a:bodyPr wrap="none" rtlCol="0">
            <a:spAutoFit/>
          </a:bodyPr>
          <a:lstStyle/>
          <a:p>
            <a:r>
              <a:rPr lang="sv-SE" sz="1400" dirty="0"/>
              <a:t>* </a:t>
            </a:r>
            <a:r>
              <a:rPr lang="sv-SE" sz="1400" dirty="0" err="1"/>
              <a:t>Represents</a:t>
            </a:r>
            <a:r>
              <a:rPr lang="sv-SE" sz="1400" dirty="0"/>
              <a:t> the </a:t>
            </a:r>
            <a:r>
              <a:rPr lang="sv-SE" sz="1400" dirty="0" err="1"/>
              <a:t>conjugated</a:t>
            </a:r>
            <a:endParaRPr lang="en-US" sz="1400" dirty="0"/>
          </a:p>
        </p:txBody>
      </p:sp>
      <p:grpSp>
        <p:nvGrpSpPr>
          <p:cNvPr id="18" name="Group 17">
            <a:extLst>
              <a:ext uri="{FF2B5EF4-FFF2-40B4-BE49-F238E27FC236}">
                <a16:creationId xmlns:a16="http://schemas.microsoft.com/office/drawing/2014/main" id="{10F63573-D64A-4876-8078-4045495A54CF}"/>
              </a:ext>
            </a:extLst>
          </p:cNvPr>
          <p:cNvGrpSpPr/>
          <p:nvPr/>
        </p:nvGrpSpPr>
        <p:grpSpPr>
          <a:xfrm>
            <a:off x="457199" y="4580521"/>
            <a:ext cx="1937282" cy="1436473"/>
            <a:chOff x="794653" y="4322104"/>
            <a:chExt cx="1937282" cy="1436473"/>
          </a:xfrm>
        </p:grpSpPr>
        <p:cxnSp>
          <p:nvCxnSpPr>
            <p:cNvPr id="12" name="Straight Arrow Connector 11">
              <a:extLst>
                <a:ext uri="{FF2B5EF4-FFF2-40B4-BE49-F238E27FC236}">
                  <a16:creationId xmlns:a16="http://schemas.microsoft.com/office/drawing/2014/main" id="{D35AF1A7-41E1-463C-AD58-F1F7098E9726}"/>
                </a:ext>
              </a:extLst>
            </p:cNvPr>
            <p:cNvCxnSpPr/>
            <p:nvPr/>
          </p:nvCxnSpPr>
          <p:spPr>
            <a:xfrm flipV="1">
              <a:off x="1300294" y="4521666"/>
              <a:ext cx="0" cy="880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1E6AC78-B777-40EB-9750-1D3CA14580F6}"/>
                </a:ext>
              </a:extLst>
            </p:cNvPr>
            <p:cNvCxnSpPr/>
            <p:nvPr/>
          </p:nvCxnSpPr>
          <p:spPr>
            <a:xfrm>
              <a:off x="1291905" y="5419288"/>
              <a:ext cx="9647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570B861-EAC3-40B8-9046-1BFA74AEBD85}"/>
                </a:ext>
              </a:extLst>
            </p:cNvPr>
            <p:cNvCxnSpPr>
              <a:cxnSpLocks/>
            </p:cNvCxnSpPr>
            <p:nvPr/>
          </p:nvCxnSpPr>
          <p:spPr>
            <a:xfrm flipV="1">
              <a:off x="1300294" y="4758132"/>
              <a:ext cx="0" cy="64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30C216A-75CA-4828-B6FC-8A3CBDE2C428}"/>
                </a:ext>
              </a:extLst>
            </p:cNvPr>
            <p:cNvSpPr txBox="1"/>
            <p:nvPr/>
          </p:nvSpPr>
          <p:spPr>
            <a:xfrm>
              <a:off x="2008013" y="5450800"/>
              <a:ext cx="497252" cy="307777"/>
            </a:xfrm>
            <a:prstGeom prst="rect">
              <a:avLst/>
            </a:prstGeom>
            <a:noFill/>
          </p:spPr>
          <p:txBody>
            <a:bodyPr wrap="none" rtlCol="0">
              <a:spAutoFit/>
            </a:bodyPr>
            <a:lstStyle/>
            <a:p>
              <a:r>
                <a:rPr lang="sv-SE" sz="1400" dirty="0"/>
                <a:t>Real</a:t>
              </a:r>
              <a:endParaRPr lang="en-US" sz="1400" dirty="0"/>
            </a:p>
          </p:txBody>
        </p:sp>
        <p:sp>
          <p:nvSpPr>
            <p:cNvPr id="53" name="TextBox 52">
              <a:extLst>
                <a:ext uri="{FF2B5EF4-FFF2-40B4-BE49-F238E27FC236}">
                  <a16:creationId xmlns:a16="http://schemas.microsoft.com/office/drawing/2014/main" id="{846FC655-EBA9-48D4-9746-7127F49C9341}"/>
                </a:ext>
              </a:extLst>
            </p:cNvPr>
            <p:cNvSpPr txBox="1"/>
            <p:nvPr/>
          </p:nvSpPr>
          <p:spPr>
            <a:xfrm>
              <a:off x="794653" y="4322104"/>
              <a:ext cx="444352" cy="307777"/>
            </a:xfrm>
            <a:prstGeom prst="rect">
              <a:avLst/>
            </a:prstGeom>
            <a:noFill/>
          </p:spPr>
          <p:txBody>
            <a:bodyPr wrap="none" rtlCol="0">
              <a:spAutoFit/>
            </a:bodyPr>
            <a:lstStyle/>
            <a:p>
              <a:r>
                <a:rPr lang="sv-SE" sz="1400" dirty="0" err="1"/>
                <a:t>Img</a:t>
              </a:r>
              <a:endParaRPr lang="en-US" sz="1400" dirty="0"/>
            </a:p>
          </p:txBody>
        </p:sp>
        <p:sp>
          <p:nvSpPr>
            <p:cNvPr id="56" name="TextBox 55">
              <a:extLst>
                <a:ext uri="{FF2B5EF4-FFF2-40B4-BE49-F238E27FC236}">
                  <a16:creationId xmlns:a16="http://schemas.microsoft.com/office/drawing/2014/main" id="{356A47E7-DC08-4657-A85E-81D0A4ADF605}"/>
                </a:ext>
              </a:extLst>
            </p:cNvPr>
            <p:cNvSpPr txBox="1"/>
            <p:nvPr/>
          </p:nvSpPr>
          <p:spPr>
            <a:xfrm>
              <a:off x="1358226" y="4729836"/>
              <a:ext cx="1373709" cy="307777"/>
            </a:xfrm>
            <a:prstGeom prst="rect">
              <a:avLst/>
            </a:prstGeom>
            <a:noFill/>
          </p:spPr>
          <p:txBody>
            <a:bodyPr wrap="none" rtlCol="0">
              <a:spAutoFit/>
            </a:bodyPr>
            <a:lstStyle/>
            <a:p>
              <a:r>
                <a:rPr lang="sv-SE" sz="1400" dirty="0" err="1"/>
                <a:t>Complex</a:t>
              </a:r>
              <a:r>
                <a:rPr lang="sv-SE" sz="1400" dirty="0"/>
                <a:t> </a:t>
              </a:r>
              <a:r>
                <a:rPr lang="sv-SE" sz="1400" dirty="0" err="1"/>
                <a:t>vector</a:t>
              </a:r>
              <a:endParaRPr lang="en-US" sz="1400" dirty="0"/>
            </a:p>
          </p:txBody>
        </p:sp>
      </p:grpSp>
      <p:grpSp>
        <p:nvGrpSpPr>
          <p:cNvPr id="57" name="Group 56">
            <a:extLst>
              <a:ext uri="{FF2B5EF4-FFF2-40B4-BE49-F238E27FC236}">
                <a16:creationId xmlns:a16="http://schemas.microsoft.com/office/drawing/2014/main" id="{4443CE27-05C3-4779-86E7-CA9B882D8CBD}"/>
              </a:ext>
            </a:extLst>
          </p:cNvPr>
          <p:cNvGrpSpPr/>
          <p:nvPr/>
        </p:nvGrpSpPr>
        <p:grpSpPr>
          <a:xfrm>
            <a:off x="2949607" y="4649075"/>
            <a:ext cx="1995185" cy="1436473"/>
            <a:chOff x="794653" y="4322104"/>
            <a:chExt cx="1995185" cy="1436473"/>
          </a:xfrm>
        </p:grpSpPr>
        <p:cxnSp>
          <p:nvCxnSpPr>
            <p:cNvPr id="58" name="Straight Arrow Connector 57">
              <a:extLst>
                <a:ext uri="{FF2B5EF4-FFF2-40B4-BE49-F238E27FC236}">
                  <a16:creationId xmlns:a16="http://schemas.microsoft.com/office/drawing/2014/main" id="{0457E503-7818-4755-8CF9-E43F9916963F}"/>
                </a:ext>
              </a:extLst>
            </p:cNvPr>
            <p:cNvCxnSpPr/>
            <p:nvPr/>
          </p:nvCxnSpPr>
          <p:spPr>
            <a:xfrm flipV="1">
              <a:off x="1300294" y="4521666"/>
              <a:ext cx="0" cy="880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5B3DE0A4-D980-467C-866F-31D52C8FE469}"/>
                </a:ext>
              </a:extLst>
            </p:cNvPr>
            <p:cNvCxnSpPr/>
            <p:nvPr/>
          </p:nvCxnSpPr>
          <p:spPr>
            <a:xfrm>
              <a:off x="1291905" y="5419288"/>
              <a:ext cx="9647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38C903E-65AA-4E81-8560-7215C52FBE55}"/>
                </a:ext>
              </a:extLst>
            </p:cNvPr>
            <p:cNvCxnSpPr>
              <a:cxnSpLocks/>
            </p:cNvCxnSpPr>
            <p:nvPr/>
          </p:nvCxnSpPr>
          <p:spPr>
            <a:xfrm flipV="1">
              <a:off x="1300294" y="4790529"/>
              <a:ext cx="324518" cy="611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B468CC1-EC6B-461F-8D23-42A050BB7AF5}"/>
                </a:ext>
              </a:extLst>
            </p:cNvPr>
            <p:cNvSpPr txBox="1"/>
            <p:nvPr/>
          </p:nvSpPr>
          <p:spPr>
            <a:xfrm>
              <a:off x="2008013" y="5450800"/>
              <a:ext cx="497252" cy="307777"/>
            </a:xfrm>
            <a:prstGeom prst="rect">
              <a:avLst/>
            </a:prstGeom>
            <a:noFill/>
          </p:spPr>
          <p:txBody>
            <a:bodyPr wrap="none" rtlCol="0">
              <a:spAutoFit/>
            </a:bodyPr>
            <a:lstStyle/>
            <a:p>
              <a:r>
                <a:rPr lang="sv-SE" sz="1400" dirty="0"/>
                <a:t>Real</a:t>
              </a:r>
              <a:endParaRPr lang="en-US" sz="1400" dirty="0"/>
            </a:p>
          </p:txBody>
        </p:sp>
        <p:sp>
          <p:nvSpPr>
            <p:cNvPr id="65" name="TextBox 64">
              <a:extLst>
                <a:ext uri="{FF2B5EF4-FFF2-40B4-BE49-F238E27FC236}">
                  <a16:creationId xmlns:a16="http://schemas.microsoft.com/office/drawing/2014/main" id="{7A5D5A3D-6A62-4C2F-8D5F-5529C803DC8A}"/>
                </a:ext>
              </a:extLst>
            </p:cNvPr>
            <p:cNvSpPr txBox="1"/>
            <p:nvPr/>
          </p:nvSpPr>
          <p:spPr>
            <a:xfrm>
              <a:off x="794653" y="4322104"/>
              <a:ext cx="444352" cy="307777"/>
            </a:xfrm>
            <a:prstGeom prst="rect">
              <a:avLst/>
            </a:prstGeom>
            <a:noFill/>
          </p:spPr>
          <p:txBody>
            <a:bodyPr wrap="none" rtlCol="0">
              <a:spAutoFit/>
            </a:bodyPr>
            <a:lstStyle/>
            <a:p>
              <a:r>
                <a:rPr lang="sv-SE" sz="1400" dirty="0" err="1"/>
                <a:t>Img</a:t>
              </a:r>
              <a:endParaRPr lang="en-US" sz="1400" dirty="0"/>
            </a:p>
          </p:txBody>
        </p:sp>
        <p:sp>
          <p:nvSpPr>
            <p:cNvPr id="67" name="TextBox 66">
              <a:extLst>
                <a:ext uri="{FF2B5EF4-FFF2-40B4-BE49-F238E27FC236}">
                  <a16:creationId xmlns:a16="http://schemas.microsoft.com/office/drawing/2014/main" id="{AAF81D70-5EE3-4733-8FD8-5A44A642B219}"/>
                </a:ext>
              </a:extLst>
            </p:cNvPr>
            <p:cNvSpPr txBox="1"/>
            <p:nvPr/>
          </p:nvSpPr>
          <p:spPr>
            <a:xfrm>
              <a:off x="1416129" y="4481604"/>
              <a:ext cx="1373709" cy="307777"/>
            </a:xfrm>
            <a:prstGeom prst="rect">
              <a:avLst/>
            </a:prstGeom>
            <a:noFill/>
          </p:spPr>
          <p:txBody>
            <a:bodyPr wrap="none" rtlCol="0">
              <a:spAutoFit/>
            </a:bodyPr>
            <a:lstStyle/>
            <a:p>
              <a:r>
                <a:rPr lang="sv-SE" sz="1400" dirty="0" err="1"/>
                <a:t>Complex</a:t>
              </a:r>
              <a:r>
                <a:rPr lang="sv-SE" sz="1400" dirty="0"/>
                <a:t> </a:t>
              </a:r>
              <a:r>
                <a:rPr lang="sv-SE" sz="1400" dirty="0" err="1"/>
                <a:t>vector</a:t>
              </a:r>
              <a:endParaRPr lang="en-US" sz="1400" dirty="0"/>
            </a:p>
          </p:txBody>
        </p:sp>
      </p:grpSp>
      <p:sp>
        <p:nvSpPr>
          <p:cNvPr id="20" name="TextBox 19">
            <a:extLst>
              <a:ext uri="{FF2B5EF4-FFF2-40B4-BE49-F238E27FC236}">
                <a16:creationId xmlns:a16="http://schemas.microsoft.com/office/drawing/2014/main" id="{00C9353A-4265-4B9A-B8A8-05053263B416}"/>
              </a:ext>
            </a:extLst>
          </p:cNvPr>
          <p:cNvSpPr txBox="1"/>
          <p:nvPr/>
        </p:nvSpPr>
        <p:spPr>
          <a:xfrm>
            <a:off x="2699025" y="5154072"/>
            <a:ext cx="280846" cy="369332"/>
          </a:xfrm>
          <a:prstGeom prst="rect">
            <a:avLst/>
          </a:prstGeom>
          <a:noFill/>
        </p:spPr>
        <p:txBody>
          <a:bodyPr wrap="none" rtlCol="0">
            <a:spAutoFit/>
          </a:bodyPr>
          <a:lstStyle/>
          <a:p>
            <a:r>
              <a:rPr lang="sv-SE" dirty="0"/>
              <a:t>*</a:t>
            </a:r>
            <a:endParaRPr lang="en-US" dirty="0"/>
          </a:p>
        </p:txBody>
      </p:sp>
      <p:sp>
        <p:nvSpPr>
          <p:cNvPr id="21" name="TextBox 20">
            <a:extLst>
              <a:ext uri="{FF2B5EF4-FFF2-40B4-BE49-F238E27FC236}">
                <a16:creationId xmlns:a16="http://schemas.microsoft.com/office/drawing/2014/main" id="{C74A9518-ECC6-47DB-91C3-FD780B97AABF}"/>
              </a:ext>
            </a:extLst>
          </p:cNvPr>
          <p:cNvSpPr txBox="1"/>
          <p:nvPr/>
        </p:nvSpPr>
        <p:spPr>
          <a:xfrm>
            <a:off x="5067184" y="5116352"/>
            <a:ext cx="319318" cy="369332"/>
          </a:xfrm>
          <a:prstGeom prst="rect">
            <a:avLst/>
          </a:prstGeom>
          <a:noFill/>
        </p:spPr>
        <p:txBody>
          <a:bodyPr wrap="none" rtlCol="0">
            <a:spAutoFit/>
          </a:bodyPr>
          <a:lstStyle/>
          <a:p>
            <a:r>
              <a:rPr lang="sv-SE" dirty="0"/>
              <a:t>=</a:t>
            </a:r>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98EF2E4-7BB5-4164-99A2-EFA648053E99}"/>
                  </a:ext>
                </a:extLst>
              </p:cNvPr>
              <p:cNvSpPr txBox="1"/>
              <p:nvPr/>
            </p:nvSpPr>
            <p:spPr>
              <a:xfrm>
                <a:off x="5460021" y="5132198"/>
                <a:ext cx="1869165" cy="285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sv-SE" b="0" i="1" smtClean="0">
                              <a:latin typeface="Cambria Math" panose="02040503050406030204" pitchFamily="18" charset="0"/>
                            </a:rPr>
                            <m:t>𝑒</m:t>
                          </m:r>
                        </m:e>
                        <m:sup>
                          <m:r>
                            <a:rPr lang="sv-SE" b="0" i="1" smtClean="0">
                              <a:latin typeface="Cambria Math" panose="02040503050406030204" pitchFamily="18" charset="0"/>
                            </a:rPr>
                            <m:t>𝑖</m:t>
                          </m:r>
                          <m:r>
                            <a:rPr lang="sv-SE" b="0" i="1" smtClean="0">
                              <a:latin typeface="Cambria Math" panose="02040503050406030204" pitchFamily="18" charset="0"/>
                            </a:rPr>
                            <m:t>90</m:t>
                          </m:r>
                        </m:sup>
                      </m:sSup>
                      <m:r>
                        <a:rPr lang="sv-SE" b="0" i="1" smtClean="0">
                          <a:latin typeface="Cambria Math" panose="02040503050406030204" pitchFamily="18" charset="0"/>
                        </a:rPr>
                        <m:t>∗</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𝑒</m:t>
                          </m:r>
                        </m:e>
                        <m:sup>
                          <m:r>
                            <a:rPr lang="sv-SE" b="0" i="1" smtClean="0">
                              <a:latin typeface="Cambria Math" panose="02040503050406030204" pitchFamily="18" charset="0"/>
                            </a:rPr>
                            <m:t>−</m:t>
                          </m:r>
                          <m:r>
                            <a:rPr lang="sv-SE" b="0" i="1" smtClean="0">
                              <a:latin typeface="Cambria Math" panose="02040503050406030204" pitchFamily="18" charset="0"/>
                            </a:rPr>
                            <m:t>𝑖</m:t>
                          </m:r>
                          <m:r>
                            <a:rPr lang="sv-SE" b="0" i="1" smtClean="0">
                              <a:latin typeface="Cambria Math" panose="02040503050406030204" pitchFamily="18" charset="0"/>
                            </a:rPr>
                            <m:t>60</m:t>
                          </m:r>
                        </m:sup>
                      </m:sSup>
                      <m:r>
                        <a:rPr lang="sv-SE" b="0" i="1" smtClean="0">
                          <a:latin typeface="Cambria Math" panose="02040503050406030204" pitchFamily="18" charset="0"/>
                        </a:rPr>
                        <m:t>=</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𝑒</m:t>
                          </m:r>
                        </m:e>
                        <m:sup>
                          <m:r>
                            <a:rPr lang="sv-SE" b="0" i="1" smtClean="0">
                              <a:latin typeface="Cambria Math" panose="02040503050406030204" pitchFamily="18" charset="0"/>
                            </a:rPr>
                            <m:t>𝑖</m:t>
                          </m:r>
                          <m:r>
                            <a:rPr lang="sv-SE" b="0" i="1" smtClean="0">
                              <a:latin typeface="Cambria Math" panose="02040503050406030204" pitchFamily="18" charset="0"/>
                            </a:rPr>
                            <m:t>30</m:t>
                          </m:r>
                        </m:sup>
                      </m:sSup>
                    </m:oMath>
                  </m:oMathPara>
                </a14:m>
                <a:endParaRPr lang="en-US" dirty="0"/>
              </a:p>
            </p:txBody>
          </p:sp>
        </mc:Choice>
        <mc:Fallback xmlns="">
          <p:sp>
            <p:nvSpPr>
              <p:cNvPr id="22" name="TextBox 21">
                <a:extLst>
                  <a:ext uri="{FF2B5EF4-FFF2-40B4-BE49-F238E27FC236}">
                    <a16:creationId xmlns:a16="http://schemas.microsoft.com/office/drawing/2014/main" id="{F98EF2E4-7BB5-4164-99A2-EFA648053E99}"/>
                  </a:ext>
                </a:extLst>
              </p:cNvPr>
              <p:cNvSpPr txBox="1">
                <a:spLocks noRot="1" noChangeAspect="1" noMove="1" noResize="1" noEditPoints="1" noAdjustHandles="1" noChangeArrowheads="1" noChangeShapeType="1" noTextEdit="1"/>
              </p:cNvSpPr>
              <p:nvPr/>
            </p:nvSpPr>
            <p:spPr>
              <a:xfrm>
                <a:off x="5460021" y="5132198"/>
                <a:ext cx="1869165" cy="285912"/>
              </a:xfrm>
              <a:prstGeom prst="rect">
                <a:avLst/>
              </a:prstGeom>
              <a:blipFill>
                <a:blip r:embed="rId3"/>
                <a:stretch>
                  <a:fillRect l="-980" t="-6383" r="-980"/>
                </a:stretch>
              </a:blipFill>
            </p:spPr>
            <p:txBody>
              <a:bodyPr/>
              <a:lstStyle/>
              <a:p>
                <a:r>
                  <a:rPr lang="en-US">
                    <a:noFill/>
                  </a:rPr>
                  <a:t> </a:t>
                </a:r>
              </a:p>
            </p:txBody>
          </p:sp>
        </mc:Fallback>
      </mc:AlternateContent>
      <p:grpSp>
        <p:nvGrpSpPr>
          <p:cNvPr id="70" name="Group 69">
            <a:extLst>
              <a:ext uri="{FF2B5EF4-FFF2-40B4-BE49-F238E27FC236}">
                <a16:creationId xmlns:a16="http://schemas.microsoft.com/office/drawing/2014/main" id="{11880AE5-FE22-4FE6-91D0-478AC84AA14F}"/>
              </a:ext>
            </a:extLst>
          </p:cNvPr>
          <p:cNvGrpSpPr/>
          <p:nvPr/>
        </p:nvGrpSpPr>
        <p:grpSpPr>
          <a:xfrm>
            <a:off x="7099726" y="4649075"/>
            <a:ext cx="1879350" cy="1436473"/>
            <a:chOff x="794653" y="4322104"/>
            <a:chExt cx="1879350" cy="1436473"/>
          </a:xfrm>
        </p:grpSpPr>
        <p:cxnSp>
          <p:nvCxnSpPr>
            <p:cNvPr id="71" name="Straight Arrow Connector 70">
              <a:extLst>
                <a:ext uri="{FF2B5EF4-FFF2-40B4-BE49-F238E27FC236}">
                  <a16:creationId xmlns:a16="http://schemas.microsoft.com/office/drawing/2014/main" id="{C47E3663-1A23-4E2B-B36C-2124B5480DE2}"/>
                </a:ext>
              </a:extLst>
            </p:cNvPr>
            <p:cNvCxnSpPr/>
            <p:nvPr/>
          </p:nvCxnSpPr>
          <p:spPr>
            <a:xfrm flipV="1">
              <a:off x="1300294" y="4521666"/>
              <a:ext cx="0" cy="880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EFB52A6-F285-4EDA-84BE-6E16B3BB6CA1}"/>
                </a:ext>
              </a:extLst>
            </p:cNvPr>
            <p:cNvCxnSpPr/>
            <p:nvPr/>
          </p:nvCxnSpPr>
          <p:spPr>
            <a:xfrm>
              <a:off x="1291905" y="5419288"/>
              <a:ext cx="9647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7942204-A135-47A2-A239-F06D206F23DD}"/>
                </a:ext>
              </a:extLst>
            </p:cNvPr>
            <p:cNvCxnSpPr>
              <a:cxnSpLocks/>
            </p:cNvCxnSpPr>
            <p:nvPr/>
          </p:nvCxnSpPr>
          <p:spPr>
            <a:xfrm flipV="1">
              <a:off x="1291905" y="5131431"/>
              <a:ext cx="775084" cy="279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76F80638-5B61-433E-8D53-B9C53123780B}"/>
                </a:ext>
              </a:extLst>
            </p:cNvPr>
            <p:cNvSpPr txBox="1"/>
            <p:nvPr/>
          </p:nvSpPr>
          <p:spPr>
            <a:xfrm>
              <a:off x="2008013" y="5450800"/>
              <a:ext cx="497252" cy="307777"/>
            </a:xfrm>
            <a:prstGeom prst="rect">
              <a:avLst/>
            </a:prstGeom>
            <a:noFill/>
          </p:spPr>
          <p:txBody>
            <a:bodyPr wrap="none" rtlCol="0">
              <a:spAutoFit/>
            </a:bodyPr>
            <a:lstStyle/>
            <a:p>
              <a:r>
                <a:rPr lang="sv-SE" sz="1400" dirty="0"/>
                <a:t>Real</a:t>
              </a:r>
              <a:endParaRPr lang="en-US" sz="1400" dirty="0"/>
            </a:p>
          </p:txBody>
        </p:sp>
        <p:sp>
          <p:nvSpPr>
            <p:cNvPr id="77" name="TextBox 76">
              <a:extLst>
                <a:ext uri="{FF2B5EF4-FFF2-40B4-BE49-F238E27FC236}">
                  <a16:creationId xmlns:a16="http://schemas.microsoft.com/office/drawing/2014/main" id="{2FF7FB9E-AC79-4DD8-97F0-3942DDEE3BFC}"/>
                </a:ext>
              </a:extLst>
            </p:cNvPr>
            <p:cNvSpPr txBox="1"/>
            <p:nvPr/>
          </p:nvSpPr>
          <p:spPr>
            <a:xfrm>
              <a:off x="794653" y="4322104"/>
              <a:ext cx="444352" cy="307777"/>
            </a:xfrm>
            <a:prstGeom prst="rect">
              <a:avLst/>
            </a:prstGeom>
            <a:noFill/>
          </p:spPr>
          <p:txBody>
            <a:bodyPr wrap="none" rtlCol="0">
              <a:spAutoFit/>
            </a:bodyPr>
            <a:lstStyle/>
            <a:p>
              <a:r>
                <a:rPr lang="sv-SE" sz="1400" dirty="0" err="1"/>
                <a:t>Img</a:t>
              </a:r>
              <a:endParaRPr lang="en-US" sz="1400" dirty="0"/>
            </a:p>
          </p:txBody>
        </p:sp>
        <p:sp>
          <p:nvSpPr>
            <p:cNvPr id="78" name="TextBox 77">
              <a:extLst>
                <a:ext uri="{FF2B5EF4-FFF2-40B4-BE49-F238E27FC236}">
                  <a16:creationId xmlns:a16="http://schemas.microsoft.com/office/drawing/2014/main" id="{93DE2639-35C1-4888-9870-05E90ACA7B99}"/>
                </a:ext>
              </a:extLst>
            </p:cNvPr>
            <p:cNvSpPr txBox="1"/>
            <p:nvPr/>
          </p:nvSpPr>
          <p:spPr>
            <a:xfrm>
              <a:off x="1300294" y="4730954"/>
              <a:ext cx="1373709" cy="307777"/>
            </a:xfrm>
            <a:prstGeom prst="rect">
              <a:avLst/>
            </a:prstGeom>
            <a:noFill/>
          </p:spPr>
          <p:txBody>
            <a:bodyPr wrap="none" rtlCol="0">
              <a:spAutoFit/>
            </a:bodyPr>
            <a:lstStyle/>
            <a:p>
              <a:r>
                <a:rPr lang="sv-SE" sz="1400" dirty="0" err="1"/>
                <a:t>Complex</a:t>
              </a:r>
              <a:r>
                <a:rPr lang="sv-SE" sz="1400" dirty="0"/>
                <a:t> </a:t>
              </a:r>
              <a:r>
                <a:rPr lang="sv-SE" sz="1400" dirty="0" err="1"/>
                <a:t>vector</a:t>
              </a:r>
              <a:endParaRPr lang="en-US" sz="1400" dirty="0"/>
            </a:p>
          </p:txBody>
        </p:sp>
      </p:grpSp>
    </p:spTree>
    <p:extLst>
      <p:ext uri="{BB962C8B-B14F-4D97-AF65-F5344CB8AC3E}">
        <p14:creationId xmlns:p14="http://schemas.microsoft.com/office/powerpoint/2010/main" val="885472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Detecting patterns in the image</a:t>
            </a:r>
          </a:p>
        </p:txBody>
      </p:sp>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a:bodyPr>
          <a:lstStyle/>
          <a:p>
            <a:r>
              <a:rPr lang="sv-SE" dirty="0" err="1"/>
              <a:t>Detecting</a:t>
            </a:r>
            <a:r>
              <a:rPr lang="sv-SE" dirty="0"/>
              <a:t> </a:t>
            </a:r>
            <a:r>
              <a:rPr lang="sv-SE" dirty="0" err="1"/>
              <a:t>paraller</a:t>
            </a:r>
            <a:r>
              <a:rPr lang="sv-SE" dirty="0"/>
              <a:t> </a:t>
            </a:r>
            <a:r>
              <a:rPr lang="sv-SE" dirty="0" err="1"/>
              <a:t>lines</a:t>
            </a:r>
            <a:r>
              <a:rPr lang="sv-SE" dirty="0"/>
              <a:t>:</a:t>
            </a:r>
            <a:endParaRPr lang="en-US" dirty="0"/>
          </a:p>
        </p:txBody>
      </p:sp>
      <p:grpSp>
        <p:nvGrpSpPr>
          <p:cNvPr id="26" name="Group 25">
            <a:extLst>
              <a:ext uri="{FF2B5EF4-FFF2-40B4-BE49-F238E27FC236}">
                <a16:creationId xmlns:a16="http://schemas.microsoft.com/office/drawing/2014/main" id="{50DBE515-574A-4902-80B8-3C035B4E5C00}"/>
              </a:ext>
            </a:extLst>
          </p:cNvPr>
          <p:cNvGrpSpPr/>
          <p:nvPr/>
        </p:nvGrpSpPr>
        <p:grpSpPr>
          <a:xfrm>
            <a:off x="3709331" y="2955344"/>
            <a:ext cx="1064191" cy="269458"/>
            <a:chOff x="822930" y="3042795"/>
            <a:chExt cx="1064191" cy="269458"/>
          </a:xfrm>
        </p:grpSpPr>
        <p:cxnSp>
          <p:nvCxnSpPr>
            <p:cNvPr id="124" name="Straight Arrow Connector 123">
              <a:extLst>
                <a:ext uri="{FF2B5EF4-FFF2-40B4-BE49-F238E27FC236}">
                  <a16:creationId xmlns:a16="http://schemas.microsoft.com/office/drawing/2014/main" id="{7EF4921F-C0C6-47B2-BBEC-C176241BBC9E}"/>
                </a:ext>
              </a:extLst>
            </p:cNvPr>
            <p:cNvCxnSpPr>
              <a:cxnSpLocks/>
            </p:cNvCxnSpPr>
            <p:nvPr/>
          </p:nvCxnSpPr>
          <p:spPr>
            <a:xfrm>
              <a:off x="1601708"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83F0D9C7-3437-48E5-ADB4-628D72419FCE}"/>
                </a:ext>
              </a:extLst>
            </p:cNvPr>
            <p:cNvCxnSpPr>
              <a:cxnSpLocks/>
            </p:cNvCxnSpPr>
            <p:nvPr/>
          </p:nvCxnSpPr>
          <p:spPr>
            <a:xfrm>
              <a:off x="1233990"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32C126F6-20EA-48D3-9347-04A20D3732BA}"/>
                </a:ext>
              </a:extLst>
            </p:cNvPr>
            <p:cNvCxnSpPr>
              <a:cxnSpLocks/>
            </p:cNvCxnSpPr>
            <p:nvPr/>
          </p:nvCxnSpPr>
          <p:spPr>
            <a:xfrm>
              <a:off x="822930"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823E00EE-DBD5-4154-97EF-D542D174595A}"/>
                </a:ext>
              </a:extLst>
            </p:cNvPr>
            <p:cNvCxnSpPr>
              <a:cxnSpLocks/>
            </p:cNvCxnSpPr>
            <p:nvPr/>
          </p:nvCxnSpPr>
          <p:spPr>
            <a:xfrm>
              <a:off x="1601708"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7E2670C2-0570-4AA7-A787-0D7C6E4DDB8C}"/>
                </a:ext>
              </a:extLst>
            </p:cNvPr>
            <p:cNvCxnSpPr>
              <a:cxnSpLocks/>
            </p:cNvCxnSpPr>
            <p:nvPr/>
          </p:nvCxnSpPr>
          <p:spPr>
            <a:xfrm>
              <a:off x="1233990"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FB78E976-37E7-4956-8D62-D54E6C3BBC2F}"/>
                </a:ext>
              </a:extLst>
            </p:cNvPr>
            <p:cNvCxnSpPr>
              <a:cxnSpLocks/>
            </p:cNvCxnSpPr>
            <p:nvPr/>
          </p:nvCxnSpPr>
          <p:spPr>
            <a:xfrm>
              <a:off x="822930"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C1DED6D6-A980-4EF0-8F26-7E8383393472}"/>
                </a:ext>
              </a:extLst>
            </p:cNvPr>
            <p:cNvCxnSpPr>
              <a:cxnSpLocks/>
            </p:cNvCxnSpPr>
            <p:nvPr/>
          </p:nvCxnSpPr>
          <p:spPr>
            <a:xfrm>
              <a:off x="822930"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1049D074-3E28-4786-9879-C412A0993112}"/>
                </a:ext>
              </a:extLst>
            </p:cNvPr>
            <p:cNvCxnSpPr>
              <a:cxnSpLocks/>
            </p:cNvCxnSpPr>
            <p:nvPr/>
          </p:nvCxnSpPr>
          <p:spPr>
            <a:xfrm>
              <a:off x="1233990"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37DFFB0D-C610-4DDE-97C3-423015B863AF}"/>
                </a:ext>
              </a:extLst>
            </p:cNvPr>
            <p:cNvCxnSpPr>
              <a:cxnSpLocks/>
            </p:cNvCxnSpPr>
            <p:nvPr/>
          </p:nvCxnSpPr>
          <p:spPr>
            <a:xfrm>
              <a:off x="1601708"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4" name="TextBox 133">
            <a:extLst>
              <a:ext uri="{FF2B5EF4-FFF2-40B4-BE49-F238E27FC236}">
                <a16:creationId xmlns:a16="http://schemas.microsoft.com/office/drawing/2014/main" id="{0C85807B-ED30-4F6F-9701-7544563F9A9D}"/>
              </a:ext>
            </a:extLst>
          </p:cNvPr>
          <p:cNvSpPr txBox="1"/>
          <p:nvPr/>
        </p:nvSpPr>
        <p:spPr>
          <a:xfrm>
            <a:off x="3907070" y="3448532"/>
            <a:ext cx="712054" cy="369332"/>
          </a:xfrm>
          <a:prstGeom prst="rect">
            <a:avLst/>
          </a:prstGeom>
          <a:noFill/>
        </p:spPr>
        <p:txBody>
          <a:bodyPr wrap="none" rtlCol="0">
            <a:spAutoFit/>
          </a:bodyPr>
          <a:lstStyle/>
          <a:p>
            <a:r>
              <a:rPr lang="sv-SE" dirty="0"/>
              <a:t>filters</a:t>
            </a:r>
            <a:endParaRPr lang="en-US" dirty="0"/>
          </a:p>
        </p:txBody>
      </p:sp>
      <p:grpSp>
        <p:nvGrpSpPr>
          <p:cNvPr id="7" name="Group 6">
            <a:extLst>
              <a:ext uri="{FF2B5EF4-FFF2-40B4-BE49-F238E27FC236}">
                <a16:creationId xmlns:a16="http://schemas.microsoft.com/office/drawing/2014/main" id="{BFB7E8CE-BE3A-4814-A7BE-C480B8BBDA7A}"/>
              </a:ext>
            </a:extLst>
          </p:cNvPr>
          <p:cNvGrpSpPr/>
          <p:nvPr/>
        </p:nvGrpSpPr>
        <p:grpSpPr>
          <a:xfrm>
            <a:off x="1021777" y="2788840"/>
            <a:ext cx="1898468" cy="1022168"/>
            <a:chOff x="4464733" y="2718033"/>
            <a:chExt cx="1898468" cy="1022168"/>
          </a:xfrm>
        </p:grpSpPr>
        <p:grpSp>
          <p:nvGrpSpPr>
            <p:cNvPr id="9" name="Group 8">
              <a:extLst>
                <a:ext uri="{FF2B5EF4-FFF2-40B4-BE49-F238E27FC236}">
                  <a16:creationId xmlns:a16="http://schemas.microsoft.com/office/drawing/2014/main" id="{F722EE60-905C-4353-9D34-A8AE3601667B}"/>
                </a:ext>
              </a:extLst>
            </p:cNvPr>
            <p:cNvGrpSpPr/>
            <p:nvPr/>
          </p:nvGrpSpPr>
          <p:grpSpPr>
            <a:xfrm>
              <a:off x="4464733" y="2718033"/>
              <a:ext cx="1898468" cy="1022168"/>
              <a:chOff x="3984890" y="2886804"/>
              <a:chExt cx="1898468" cy="1022168"/>
            </a:xfrm>
          </p:grpSpPr>
          <p:cxnSp>
            <p:nvCxnSpPr>
              <p:cNvPr id="48" name="Straight Arrow Connector 47">
                <a:extLst>
                  <a:ext uri="{FF2B5EF4-FFF2-40B4-BE49-F238E27FC236}">
                    <a16:creationId xmlns:a16="http://schemas.microsoft.com/office/drawing/2014/main" id="{07414615-B903-4868-B798-212019772B77}"/>
                  </a:ext>
                </a:extLst>
              </p:cNvPr>
              <p:cNvCxnSpPr>
                <a:cxnSpLocks/>
              </p:cNvCxnSpPr>
              <p:nvPr/>
            </p:nvCxnSpPr>
            <p:spPr>
              <a:xfrm flipH="1" flipV="1">
                <a:off x="4934124" y="2886804"/>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2BB0066-38B1-41E9-86A0-FF2791802EE5}"/>
                  </a:ext>
                </a:extLst>
              </p:cNvPr>
              <p:cNvSpPr txBox="1"/>
              <p:nvPr/>
            </p:nvSpPr>
            <p:spPr>
              <a:xfrm>
                <a:off x="3984890" y="3539640"/>
                <a:ext cx="1898468" cy="369332"/>
              </a:xfrm>
              <a:prstGeom prst="rect">
                <a:avLst/>
              </a:prstGeom>
              <a:noFill/>
            </p:spPr>
            <p:txBody>
              <a:bodyPr wrap="none" rtlCol="0">
                <a:spAutoFit/>
              </a:bodyPr>
              <a:lstStyle/>
              <a:p>
                <a:pPr algn="ctr"/>
                <a:r>
                  <a:rPr lang="sv-SE" dirty="0" err="1"/>
                  <a:t>Parallel</a:t>
                </a:r>
                <a:r>
                  <a:rPr lang="sv-SE" dirty="0"/>
                  <a:t> </a:t>
                </a:r>
                <a:r>
                  <a:rPr lang="sv-SE" dirty="0" err="1"/>
                  <a:t>line</a:t>
                </a:r>
                <a:r>
                  <a:rPr lang="sv-SE" dirty="0"/>
                  <a:t> region</a:t>
                </a:r>
              </a:p>
            </p:txBody>
          </p:sp>
        </p:grpSp>
        <p:cxnSp>
          <p:nvCxnSpPr>
            <p:cNvPr id="51" name="Straight Arrow Connector 50">
              <a:extLst>
                <a:ext uri="{FF2B5EF4-FFF2-40B4-BE49-F238E27FC236}">
                  <a16:creationId xmlns:a16="http://schemas.microsoft.com/office/drawing/2014/main" id="{2F2396D8-7E01-4AD5-980C-C13F1D4207AE}"/>
                </a:ext>
              </a:extLst>
            </p:cNvPr>
            <p:cNvCxnSpPr>
              <a:cxnSpLocks/>
            </p:cNvCxnSpPr>
            <p:nvPr/>
          </p:nvCxnSpPr>
          <p:spPr>
            <a:xfrm flipH="1" flipV="1">
              <a:off x="5138528" y="2718033"/>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6941759-F25F-4F5E-8778-67AEC11C1889}"/>
                </a:ext>
              </a:extLst>
            </p:cNvPr>
            <p:cNvCxnSpPr>
              <a:cxnSpLocks/>
            </p:cNvCxnSpPr>
            <p:nvPr/>
          </p:nvCxnSpPr>
          <p:spPr>
            <a:xfrm flipH="1" flipV="1">
              <a:off x="4863089" y="2718033"/>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0DBDEB2-B11C-4F73-B6BE-962D4C58EBB1}"/>
                </a:ext>
              </a:extLst>
            </p:cNvPr>
            <p:cNvCxnSpPr>
              <a:cxnSpLocks/>
            </p:cNvCxnSpPr>
            <p:nvPr/>
          </p:nvCxnSpPr>
          <p:spPr>
            <a:xfrm flipH="1" flipV="1">
              <a:off x="5449193" y="3049557"/>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8064F32-E027-42D0-8059-E73D5F648098}"/>
                </a:ext>
              </a:extLst>
            </p:cNvPr>
            <p:cNvCxnSpPr>
              <a:cxnSpLocks/>
            </p:cNvCxnSpPr>
            <p:nvPr/>
          </p:nvCxnSpPr>
          <p:spPr>
            <a:xfrm flipH="1" flipV="1">
              <a:off x="5138527" y="3072060"/>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16AD499-5961-4278-AFD2-18E98A59B2FF}"/>
                </a:ext>
              </a:extLst>
            </p:cNvPr>
            <p:cNvCxnSpPr>
              <a:cxnSpLocks/>
            </p:cNvCxnSpPr>
            <p:nvPr/>
          </p:nvCxnSpPr>
          <p:spPr>
            <a:xfrm flipH="1" flipV="1">
              <a:off x="4863089" y="3057209"/>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8DDA8293-1885-4379-9AD3-7266BF4462CA}"/>
              </a:ext>
            </a:extLst>
          </p:cNvPr>
          <p:cNvSpPr txBox="1"/>
          <p:nvPr/>
        </p:nvSpPr>
        <p:spPr>
          <a:xfrm>
            <a:off x="3091935" y="2944536"/>
            <a:ext cx="280846" cy="369332"/>
          </a:xfrm>
          <a:prstGeom prst="rect">
            <a:avLst/>
          </a:prstGeom>
          <a:noFill/>
        </p:spPr>
        <p:txBody>
          <a:bodyPr wrap="none" rtlCol="0">
            <a:spAutoFit/>
          </a:bodyPr>
          <a:lstStyle/>
          <a:p>
            <a:r>
              <a:rPr lang="sv-SE" dirty="0"/>
              <a:t>*</a:t>
            </a:r>
            <a:endParaRPr lang="en-US" dirty="0"/>
          </a:p>
        </p:txBody>
      </p:sp>
      <p:sp>
        <p:nvSpPr>
          <p:cNvPr id="11" name="TextBox 10">
            <a:extLst>
              <a:ext uri="{FF2B5EF4-FFF2-40B4-BE49-F238E27FC236}">
                <a16:creationId xmlns:a16="http://schemas.microsoft.com/office/drawing/2014/main" id="{C0F9CAF9-DD35-4830-81C5-EED11002E2D6}"/>
              </a:ext>
            </a:extLst>
          </p:cNvPr>
          <p:cNvSpPr txBox="1"/>
          <p:nvPr/>
        </p:nvSpPr>
        <p:spPr>
          <a:xfrm>
            <a:off x="5300204" y="2904043"/>
            <a:ext cx="319318" cy="369332"/>
          </a:xfrm>
          <a:prstGeom prst="rect">
            <a:avLst/>
          </a:prstGeom>
          <a:noFill/>
        </p:spPr>
        <p:txBody>
          <a:bodyPr wrap="none" rtlCol="0">
            <a:spAutoFit/>
          </a:bodyPr>
          <a:lstStyle/>
          <a:p>
            <a:r>
              <a:rPr lang="sv-SE" dirty="0"/>
              <a:t>=</a:t>
            </a:r>
            <a:endParaRPr lang="en-US" dirty="0"/>
          </a:p>
        </p:txBody>
      </p:sp>
      <p:cxnSp>
        <p:nvCxnSpPr>
          <p:cNvPr id="13" name="Straight Arrow Connector 12">
            <a:extLst>
              <a:ext uri="{FF2B5EF4-FFF2-40B4-BE49-F238E27FC236}">
                <a16:creationId xmlns:a16="http://schemas.microsoft.com/office/drawing/2014/main" id="{8D9FC5BF-E6F3-41C4-99A0-64A1C9BB9ED6}"/>
              </a:ext>
            </a:extLst>
          </p:cNvPr>
          <p:cNvCxnSpPr/>
          <p:nvPr/>
        </p:nvCxnSpPr>
        <p:spPr>
          <a:xfrm flipV="1">
            <a:off x="7013196" y="2499919"/>
            <a:ext cx="0" cy="948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81483A7-EB13-4376-93ED-69F78A4BEE63}"/>
              </a:ext>
            </a:extLst>
          </p:cNvPr>
          <p:cNvCxnSpPr/>
          <p:nvPr/>
        </p:nvCxnSpPr>
        <p:spPr>
          <a:xfrm>
            <a:off x="6014906" y="3448532"/>
            <a:ext cx="194624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F7F9738-023D-4F2E-AAD7-618E242C7895}"/>
              </a:ext>
            </a:extLst>
          </p:cNvPr>
          <p:cNvCxnSpPr>
            <a:cxnSpLocks/>
          </p:cNvCxnSpPr>
          <p:nvPr/>
        </p:nvCxnSpPr>
        <p:spPr>
          <a:xfrm flipH="1" flipV="1">
            <a:off x="6855202" y="3218126"/>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0FCB87B-1B0B-4EF3-BA41-C4DD4D97961F}"/>
              </a:ext>
            </a:extLst>
          </p:cNvPr>
          <p:cNvCxnSpPr>
            <a:cxnSpLocks/>
          </p:cNvCxnSpPr>
          <p:nvPr/>
        </p:nvCxnSpPr>
        <p:spPr>
          <a:xfrm flipH="1" flipV="1">
            <a:off x="6704156" y="2992208"/>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D826782-547B-4DFF-B69C-818F39F5B7BF}"/>
              </a:ext>
            </a:extLst>
          </p:cNvPr>
          <p:cNvCxnSpPr>
            <a:cxnSpLocks/>
          </p:cNvCxnSpPr>
          <p:nvPr/>
        </p:nvCxnSpPr>
        <p:spPr>
          <a:xfrm flipH="1" flipV="1">
            <a:off x="6543981" y="2768003"/>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A9263C4-1942-442D-A6BD-961398ACB410}"/>
              </a:ext>
            </a:extLst>
          </p:cNvPr>
          <p:cNvCxnSpPr>
            <a:cxnSpLocks/>
          </p:cNvCxnSpPr>
          <p:nvPr/>
        </p:nvCxnSpPr>
        <p:spPr>
          <a:xfrm flipH="1" flipV="1">
            <a:off x="6394922" y="2558434"/>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B53AD6F-9E8F-4C11-B281-3D722150AE1E}"/>
              </a:ext>
            </a:extLst>
          </p:cNvPr>
          <p:cNvCxnSpPr>
            <a:cxnSpLocks/>
          </p:cNvCxnSpPr>
          <p:nvPr/>
        </p:nvCxnSpPr>
        <p:spPr>
          <a:xfrm flipH="1" flipV="1">
            <a:off x="6235129" y="2326601"/>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251F419-79CE-4D1E-A9AA-ED1250A89255}"/>
              </a:ext>
            </a:extLst>
          </p:cNvPr>
          <p:cNvCxnSpPr>
            <a:cxnSpLocks/>
          </p:cNvCxnSpPr>
          <p:nvPr/>
        </p:nvCxnSpPr>
        <p:spPr>
          <a:xfrm flipH="1" flipV="1">
            <a:off x="6075336" y="2103157"/>
            <a:ext cx="157993" cy="230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72DF2D5A-717C-45F3-880D-47548E760259}"/>
              </a:ext>
            </a:extLst>
          </p:cNvPr>
          <p:cNvGrpSpPr/>
          <p:nvPr/>
        </p:nvGrpSpPr>
        <p:grpSpPr>
          <a:xfrm>
            <a:off x="737872" y="4561151"/>
            <a:ext cx="2073388" cy="1026597"/>
            <a:chOff x="5628960" y="2877908"/>
            <a:chExt cx="2073388" cy="1026597"/>
          </a:xfrm>
        </p:grpSpPr>
        <p:cxnSp>
          <p:nvCxnSpPr>
            <p:cNvPr id="70" name="Straight Arrow Connector 69">
              <a:extLst>
                <a:ext uri="{FF2B5EF4-FFF2-40B4-BE49-F238E27FC236}">
                  <a16:creationId xmlns:a16="http://schemas.microsoft.com/office/drawing/2014/main" id="{943480EF-5237-4E79-B7E7-0CA9F9B71F98}"/>
                </a:ext>
              </a:extLst>
            </p:cNvPr>
            <p:cNvCxnSpPr/>
            <p:nvPr/>
          </p:nvCxnSpPr>
          <p:spPr>
            <a:xfrm flipH="1">
              <a:off x="6553564" y="2877908"/>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57F72A3A-F73B-4A12-845B-A69737BD522A}"/>
                </a:ext>
              </a:extLst>
            </p:cNvPr>
            <p:cNvCxnSpPr>
              <a:cxnSpLocks/>
            </p:cNvCxnSpPr>
            <p:nvPr/>
          </p:nvCxnSpPr>
          <p:spPr>
            <a:xfrm>
              <a:off x="6561588" y="3466679"/>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60F37C0-C6E3-477F-93A7-30528A63C288}"/>
                </a:ext>
              </a:extLst>
            </p:cNvPr>
            <p:cNvCxnSpPr>
              <a:cxnSpLocks/>
            </p:cNvCxnSpPr>
            <p:nvPr/>
          </p:nvCxnSpPr>
          <p:spPr>
            <a:xfrm flipV="1">
              <a:off x="6838790" y="3336964"/>
              <a:ext cx="182795" cy="124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1E5C2F7-3F5B-48A8-97A1-85A4D0FE01BA}"/>
                </a:ext>
              </a:extLst>
            </p:cNvPr>
            <p:cNvCxnSpPr>
              <a:cxnSpLocks/>
            </p:cNvCxnSpPr>
            <p:nvPr/>
          </p:nvCxnSpPr>
          <p:spPr>
            <a:xfrm flipV="1">
              <a:off x="7021585" y="3063308"/>
              <a:ext cx="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8F257EA-7DF1-4BF5-93E3-299FB267C304}"/>
                </a:ext>
              </a:extLst>
            </p:cNvPr>
            <p:cNvCxnSpPr>
              <a:cxnSpLocks/>
            </p:cNvCxnSpPr>
            <p:nvPr/>
          </p:nvCxnSpPr>
          <p:spPr>
            <a:xfrm flipH="1">
              <a:off x="6350466" y="2885911"/>
              <a:ext cx="203099" cy="189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1ED4679-EEEA-40C9-BFB5-B378255BEB67}"/>
                </a:ext>
              </a:extLst>
            </p:cNvPr>
            <p:cNvCxnSpPr>
              <a:cxnSpLocks/>
            </p:cNvCxnSpPr>
            <p:nvPr/>
          </p:nvCxnSpPr>
          <p:spPr>
            <a:xfrm flipH="1" flipV="1">
              <a:off x="6853988" y="2877908"/>
              <a:ext cx="15240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4D4B87BE-C811-4329-8D4F-FA0A6FD7BDB8}"/>
                </a:ext>
              </a:extLst>
            </p:cNvPr>
            <p:cNvCxnSpPr>
              <a:cxnSpLocks/>
            </p:cNvCxnSpPr>
            <p:nvPr/>
          </p:nvCxnSpPr>
          <p:spPr>
            <a:xfrm>
              <a:off x="6350466" y="3063308"/>
              <a:ext cx="0" cy="246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FB02B848-40B2-403F-AF36-58DD8B6CF441}"/>
                </a:ext>
              </a:extLst>
            </p:cNvPr>
            <p:cNvCxnSpPr>
              <a:cxnSpLocks/>
            </p:cNvCxnSpPr>
            <p:nvPr/>
          </p:nvCxnSpPr>
          <p:spPr>
            <a:xfrm>
              <a:off x="6349675" y="3270169"/>
              <a:ext cx="211913" cy="217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E05B9A39-6F15-4CFC-830E-25A2A6DA4652}"/>
                </a:ext>
              </a:extLst>
            </p:cNvPr>
            <p:cNvSpPr/>
            <p:nvPr/>
          </p:nvSpPr>
          <p:spPr>
            <a:xfrm>
              <a:off x="6665655" y="316516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DE047C05-66CB-4195-A0E4-CFB2FE4708DE}"/>
                </a:ext>
              </a:extLst>
            </p:cNvPr>
            <p:cNvSpPr txBox="1"/>
            <p:nvPr/>
          </p:nvSpPr>
          <p:spPr>
            <a:xfrm>
              <a:off x="5628960" y="3535173"/>
              <a:ext cx="2073388" cy="369332"/>
            </a:xfrm>
            <a:prstGeom prst="rect">
              <a:avLst/>
            </a:prstGeom>
            <a:noFill/>
          </p:spPr>
          <p:txBody>
            <a:bodyPr wrap="none" rtlCol="0">
              <a:spAutoFit/>
            </a:bodyPr>
            <a:lstStyle/>
            <a:p>
              <a:pPr algn="ctr"/>
              <a:r>
                <a:rPr lang="sv-SE" dirty="0" err="1"/>
                <a:t>Core</a:t>
              </a:r>
              <a:r>
                <a:rPr lang="sv-SE" dirty="0"/>
                <a:t> </a:t>
              </a:r>
              <a:r>
                <a:rPr lang="sv-SE" dirty="0" err="1"/>
                <a:t>pattern</a:t>
              </a:r>
              <a:r>
                <a:rPr lang="sv-SE" dirty="0"/>
                <a:t> region</a:t>
              </a:r>
            </a:p>
          </p:txBody>
        </p:sp>
      </p:grpSp>
      <p:grpSp>
        <p:nvGrpSpPr>
          <p:cNvPr id="82" name="Group 81">
            <a:extLst>
              <a:ext uri="{FF2B5EF4-FFF2-40B4-BE49-F238E27FC236}">
                <a16:creationId xmlns:a16="http://schemas.microsoft.com/office/drawing/2014/main" id="{4645C8F6-F7A0-4C18-980E-945B5E83B0F4}"/>
              </a:ext>
            </a:extLst>
          </p:cNvPr>
          <p:cNvGrpSpPr/>
          <p:nvPr/>
        </p:nvGrpSpPr>
        <p:grpSpPr>
          <a:xfrm>
            <a:off x="3711051" y="4725228"/>
            <a:ext cx="1064191" cy="269458"/>
            <a:chOff x="822930" y="3042795"/>
            <a:chExt cx="1064191" cy="269458"/>
          </a:xfrm>
        </p:grpSpPr>
        <p:cxnSp>
          <p:nvCxnSpPr>
            <p:cNvPr id="83" name="Straight Arrow Connector 82">
              <a:extLst>
                <a:ext uri="{FF2B5EF4-FFF2-40B4-BE49-F238E27FC236}">
                  <a16:creationId xmlns:a16="http://schemas.microsoft.com/office/drawing/2014/main" id="{17F0FE06-25E6-4AF7-8B5A-5E9E4DE8B717}"/>
                </a:ext>
              </a:extLst>
            </p:cNvPr>
            <p:cNvCxnSpPr>
              <a:cxnSpLocks/>
            </p:cNvCxnSpPr>
            <p:nvPr/>
          </p:nvCxnSpPr>
          <p:spPr>
            <a:xfrm>
              <a:off x="1601708"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20FEE654-90D7-4392-B35F-A43C136B2EC3}"/>
                </a:ext>
              </a:extLst>
            </p:cNvPr>
            <p:cNvCxnSpPr>
              <a:cxnSpLocks/>
            </p:cNvCxnSpPr>
            <p:nvPr/>
          </p:nvCxnSpPr>
          <p:spPr>
            <a:xfrm>
              <a:off x="1233990"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89D56428-76E7-4438-B494-50C5E5CB999D}"/>
                </a:ext>
              </a:extLst>
            </p:cNvPr>
            <p:cNvCxnSpPr>
              <a:cxnSpLocks/>
            </p:cNvCxnSpPr>
            <p:nvPr/>
          </p:nvCxnSpPr>
          <p:spPr>
            <a:xfrm>
              <a:off x="822930"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C85DBA3-25AF-475D-8655-E139D3415345}"/>
                </a:ext>
              </a:extLst>
            </p:cNvPr>
            <p:cNvCxnSpPr>
              <a:cxnSpLocks/>
            </p:cNvCxnSpPr>
            <p:nvPr/>
          </p:nvCxnSpPr>
          <p:spPr>
            <a:xfrm>
              <a:off x="1601708"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7EE334F5-A9C7-4761-BE12-1CEF4358C4A2}"/>
                </a:ext>
              </a:extLst>
            </p:cNvPr>
            <p:cNvCxnSpPr>
              <a:cxnSpLocks/>
            </p:cNvCxnSpPr>
            <p:nvPr/>
          </p:nvCxnSpPr>
          <p:spPr>
            <a:xfrm>
              <a:off x="1233990"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3BC01A80-00CC-4864-976D-218FC68CBAEB}"/>
                </a:ext>
              </a:extLst>
            </p:cNvPr>
            <p:cNvCxnSpPr>
              <a:cxnSpLocks/>
            </p:cNvCxnSpPr>
            <p:nvPr/>
          </p:nvCxnSpPr>
          <p:spPr>
            <a:xfrm>
              <a:off x="822930"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6DFFDF6-F0D9-4F0F-881F-BC0665A08FC8}"/>
                </a:ext>
              </a:extLst>
            </p:cNvPr>
            <p:cNvCxnSpPr>
              <a:cxnSpLocks/>
            </p:cNvCxnSpPr>
            <p:nvPr/>
          </p:nvCxnSpPr>
          <p:spPr>
            <a:xfrm>
              <a:off x="822930"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2723192A-23F2-4D9E-B9AE-CA14609BEBD2}"/>
                </a:ext>
              </a:extLst>
            </p:cNvPr>
            <p:cNvCxnSpPr>
              <a:cxnSpLocks/>
            </p:cNvCxnSpPr>
            <p:nvPr/>
          </p:nvCxnSpPr>
          <p:spPr>
            <a:xfrm>
              <a:off x="1233990"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093CD75D-10B3-4293-9F9C-E7F5FF1E1292}"/>
                </a:ext>
              </a:extLst>
            </p:cNvPr>
            <p:cNvCxnSpPr>
              <a:cxnSpLocks/>
            </p:cNvCxnSpPr>
            <p:nvPr/>
          </p:nvCxnSpPr>
          <p:spPr>
            <a:xfrm>
              <a:off x="1601708"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2" name="TextBox 91">
            <a:extLst>
              <a:ext uri="{FF2B5EF4-FFF2-40B4-BE49-F238E27FC236}">
                <a16:creationId xmlns:a16="http://schemas.microsoft.com/office/drawing/2014/main" id="{C82276A7-CDC9-484E-822C-F819FFC59869}"/>
              </a:ext>
            </a:extLst>
          </p:cNvPr>
          <p:cNvSpPr txBox="1"/>
          <p:nvPr/>
        </p:nvSpPr>
        <p:spPr>
          <a:xfrm>
            <a:off x="3908790" y="5218416"/>
            <a:ext cx="712054" cy="369332"/>
          </a:xfrm>
          <a:prstGeom prst="rect">
            <a:avLst/>
          </a:prstGeom>
          <a:noFill/>
        </p:spPr>
        <p:txBody>
          <a:bodyPr wrap="none" rtlCol="0">
            <a:spAutoFit/>
          </a:bodyPr>
          <a:lstStyle/>
          <a:p>
            <a:r>
              <a:rPr lang="sv-SE" dirty="0"/>
              <a:t>filters</a:t>
            </a:r>
            <a:endParaRPr lang="en-US" dirty="0"/>
          </a:p>
        </p:txBody>
      </p:sp>
      <p:sp>
        <p:nvSpPr>
          <p:cNvPr id="93" name="TextBox 92">
            <a:extLst>
              <a:ext uri="{FF2B5EF4-FFF2-40B4-BE49-F238E27FC236}">
                <a16:creationId xmlns:a16="http://schemas.microsoft.com/office/drawing/2014/main" id="{3E305DD1-F4E2-4F03-A66B-39972191D9C9}"/>
              </a:ext>
            </a:extLst>
          </p:cNvPr>
          <p:cNvSpPr txBox="1"/>
          <p:nvPr/>
        </p:nvSpPr>
        <p:spPr>
          <a:xfrm>
            <a:off x="3093655" y="4714420"/>
            <a:ext cx="280846" cy="369332"/>
          </a:xfrm>
          <a:prstGeom prst="rect">
            <a:avLst/>
          </a:prstGeom>
          <a:noFill/>
        </p:spPr>
        <p:txBody>
          <a:bodyPr wrap="none" rtlCol="0">
            <a:spAutoFit/>
          </a:bodyPr>
          <a:lstStyle/>
          <a:p>
            <a:r>
              <a:rPr lang="sv-SE" dirty="0"/>
              <a:t>*</a:t>
            </a:r>
            <a:endParaRPr lang="en-US" dirty="0"/>
          </a:p>
        </p:txBody>
      </p:sp>
      <p:cxnSp>
        <p:nvCxnSpPr>
          <p:cNvPr id="94" name="Straight Arrow Connector 93">
            <a:extLst>
              <a:ext uri="{FF2B5EF4-FFF2-40B4-BE49-F238E27FC236}">
                <a16:creationId xmlns:a16="http://schemas.microsoft.com/office/drawing/2014/main" id="{6D45D742-A9A9-425D-BE89-CD8353A263E2}"/>
              </a:ext>
            </a:extLst>
          </p:cNvPr>
          <p:cNvCxnSpPr/>
          <p:nvPr/>
        </p:nvCxnSpPr>
        <p:spPr>
          <a:xfrm flipV="1">
            <a:off x="7013196" y="4263469"/>
            <a:ext cx="0" cy="948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805B1854-10A7-4F2B-AD96-4C1A548D64AA}"/>
              </a:ext>
            </a:extLst>
          </p:cNvPr>
          <p:cNvCxnSpPr/>
          <p:nvPr/>
        </p:nvCxnSpPr>
        <p:spPr>
          <a:xfrm>
            <a:off x="6014906" y="5212082"/>
            <a:ext cx="194624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A49A075-B7DA-4286-BB15-7771AE9B1943}"/>
              </a:ext>
            </a:extLst>
          </p:cNvPr>
          <p:cNvCxnSpPr/>
          <p:nvPr/>
        </p:nvCxnSpPr>
        <p:spPr>
          <a:xfrm flipH="1">
            <a:off x="6542407" y="4997391"/>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0F971E1A-A53D-46D7-A7E2-A7D8B7E2969A}"/>
              </a:ext>
            </a:extLst>
          </p:cNvPr>
          <p:cNvCxnSpPr>
            <a:cxnSpLocks/>
          </p:cNvCxnSpPr>
          <p:nvPr/>
        </p:nvCxnSpPr>
        <p:spPr>
          <a:xfrm>
            <a:off x="6550431" y="558616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F2825CAB-4376-4DCE-8C5D-E73CD3860E33}"/>
              </a:ext>
            </a:extLst>
          </p:cNvPr>
          <p:cNvCxnSpPr>
            <a:cxnSpLocks/>
          </p:cNvCxnSpPr>
          <p:nvPr/>
        </p:nvCxnSpPr>
        <p:spPr>
          <a:xfrm flipV="1">
            <a:off x="6827633" y="5456447"/>
            <a:ext cx="182795" cy="124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80D58A54-3F4B-44EF-BD5B-DF5DC09A458E}"/>
              </a:ext>
            </a:extLst>
          </p:cNvPr>
          <p:cNvCxnSpPr>
            <a:cxnSpLocks/>
          </p:cNvCxnSpPr>
          <p:nvPr/>
        </p:nvCxnSpPr>
        <p:spPr>
          <a:xfrm flipV="1">
            <a:off x="7010428" y="5182791"/>
            <a:ext cx="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C40E3D15-EFF3-45C2-970E-3DF40DD2C6A8}"/>
              </a:ext>
            </a:extLst>
          </p:cNvPr>
          <p:cNvCxnSpPr>
            <a:cxnSpLocks/>
          </p:cNvCxnSpPr>
          <p:nvPr/>
        </p:nvCxnSpPr>
        <p:spPr>
          <a:xfrm flipH="1">
            <a:off x="6339309" y="5005394"/>
            <a:ext cx="203099" cy="189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888913C8-7D43-4B7D-960A-E23B68E2A62E}"/>
              </a:ext>
            </a:extLst>
          </p:cNvPr>
          <p:cNvCxnSpPr>
            <a:cxnSpLocks/>
          </p:cNvCxnSpPr>
          <p:nvPr/>
        </p:nvCxnSpPr>
        <p:spPr>
          <a:xfrm flipH="1" flipV="1">
            <a:off x="6842831" y="4997391"/>
            <a:ext cx="15240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B01F67E7-62D0-416D-9539-012EBE101DD8}"/>
              </a:ext>
            </a:extLst>
          </p:cNvPr>
          <p:cNvCxnSpPr>
            <a:cxnSpLocks/>
          </p:cNvCxnSpPr>
          <p:nvPr/>
        </p:nvCxnSpPr>
        <p:spPr>
          <a:xfrm>
            <a:off x="6339309" y="5182791"/>
            <a:ext cx="0" cy="246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AAC2BD63-8BE6-40CE-AA5F-1B72D229D04E}"/>
              </a:ext>
            </a:extLst>
          </p:cNvPr>
          <p:cNvCxnSpPr>
            <a:cxnSpLocks/>
          </p:cNvCxnSpPr>
          <p:nvPr/>
        </p:nvCxnSpPr>
        <p:spPr>
          <a:xfrm>
            <a:off x="6338518" y="5389652"/>
            <a:ext cx="211913" cy="217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94F5B67-6002-4422-982F-DF1BE769C69C}"/>
              </a:ext>
            </a:extLst>
          </p:cNvPr>
          <p:cNvSpPr txBox="1"/>
          <p:nvPr/>
        </p:nvSpPr>
        <p:spPr>
          <a:xfrm>
            <a:off x="7734646" y="2197034"/>
            <a:ext cx="1057918" cy="738664"/>
          </a:xfrm>
          <a:prstGeom prst="rect">
            <a:avLst/>
          </a:prstGeom>
          <a:noFill/>
        </p:spPr>
        <p:txBody>
          <a:bodyPr wrap="none" rtlCol="0">
            <a:spAutoFit/>
          </a:bodyPr>
          <a:lstStyle/>
          <a:p>
            <a:r>
              <a:rPr lang="sv-SE" sz="1400" dirty="0">
                <a:solidFill>
                  <a:srgbClr val="FF0000"/>
                </a:solidFill>
              </a:rPr>
              <a:t>Long </a:t>
            </a:r>
            <a:r>
              <a:rPr lang="sv-SE" sz="1400" dirty="0" err="1">
                <a:solidFill>
                  <a:srgbClr val="FF0000"/>
                </a:solidFill>
              </a:rPr>
              <a:t>vector</a:t>
            </a:r>
            <a:endParaRPr lang="sv-SE" sz="1400" dirty="0">
              <a:solidFill>
                <a:srgbClr val="FF0000"/>
              </a:solidFill>
            </a:endParaRPr>
          </a:p>
          <a:p>
            <a:r>
              <a:rPr lang="sv-SE" sz="1400" dirty="0" err="1">
                <a:solidFill>
                  <a:srgbClr val="FF0000"/>
                </a:solidFill>
              </a:rPr>
              <a:t>Pointing</a:t>
            </a:r>
            <a:r>
              <a:rPr lang="sv-SE" sz="1400" dirty="0">
                <a:solidFill>
                  <a:srgbClr val="FF0000"/>
                </a:solidFill>
              </a:rPr>
              <a:t> at</a:t>
            </a:r>
          </a:p>
          <a:p>
            <a:r>
              <a:rPr lang="sv-SE" sz="1400" dirty="0">
                <a:solidFill>
                  <a:srgbClr val="FF0000"/>
                </a:solidFill>
              </a:rPr>
              <a:t>1 </a:t>
            </a:r>
            <a:r>
              <a:rPr lang="sv-SE" sz="1400" dirty="0" err="1">
                <a:solidFill>
                  <a:srgbClr val="FF0000"/>
                </a:solidFill>
              </a:rPr>
              <a:t>direction</a:t>
            </a:r>
            <a:endParaRPr lang="en-US" sz="1400" dirty="0">
              <a:solidFill>
                <a:srgbClr val="FF0000"/>
              </a:solidFill>
            </a:endParaRPr>
          </a:p>
        </p:txBody>
      </p:sp>
      <p:sp>
        <p:nvSpPr>
          <p:cNvPr id="17" name="TextBox 16">
            <a:extLst>
              <a:ext uri="{FF2B5EF4-FFF2-40B4-BE49-F238E27FC236}">
                <a16:creationId xmlns:a16="http://schemas.microsoft.com/office/drawing/2014/main" id="{7970E975-B4B2-4D12-B302-85CF8EAE1322}"/>
              </a:ext>
            </a:extLst>
          </p:cNvPr>
          <p:cNvSpPr txBox="1"/>
          <p:nvPr/>
        </p:nvSpPr>
        <p:spPr>
          <a:xfrm>
            <a:off x="7812666" y="4545688"/>
            <a:ext cx="1127232" cy="523220"/>
          </a:xfrm>
          <a:prstGeom prst="rect">
            <a:avLst/>
          </a:prstGeom>
          <a:noFill/>
        </p:spPr>
        <p:txBody>
          <a:bodyPr wrap="none" rtlCol="0">
            <a:spAutoFit/>
          </a:bodyPr>
          <a:lstStyle/>
          <a:p>
            <a:r>
              <a:rPr lang="sv-SE" sz="1400" dirty="0" err="1">
                <a:solidFill>
                  <a:srgbClr val="FF0000"/>
                </a:solidFill>
              </a:rPr>
              <a:t>Null</a:t>
            </a:r>
            <a:r>
              <a:rPr lang="sv-SE" sz="1400" dirty="0">
                <a:solidFill>
                  <a:srgbClr val="FF0000"/>
                </a:solidFill>
              </a:rPr>
              <a:t> or small</a:t>
            </a:r>
          </a:p>
          <a:p>
            <a:r>
              <a:rPr lang="sv-SE" sz="1400" dirty="0" err="1">
                <a:solidFill>
                  <a:srgbClr val="FF0000"/>
                </a:solidFill>
              </a:rPr>
              <a:t>vector</a:t>
            </a:r>
            <a:endParaRPr lang="en-US" sz="1400" dirty="0">
              <a:solidFill>
                <a:srgbClr val="FF0000"/>
              </a:solidFill>
            </a:endParaRPr>
          </a:p>
        </p:txBody>
      </p:sp>
    </p:spTree>
    <p:extLst>
      <p:ext uri="{BB962C8B-B14F-4D97-AF65-F5344CB8AC3E}">
        <p14:creationId xmlns:p14="http://schemas.microsoft.com/office/powerpoint/2010/main" val="1995903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Detecting patterns in the image</a:t>
            </a:r>
          </a:p>
        </p:txBody>
      </p:sp>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a:bodyPr>
          <a:lstStyle/>
          <a:p>
            <a:r>
              <a:rPr lang="sv-SE" dirty="0" err="1"/>
              <a:t>Detecting</a:t>
            </a:r>
            <a:r>
              <a:rPr lang="sv-SE" dirty="0"/>
              <a:t> </a:t>
            </a:r>
            <a:r>
              <a:rPr lang="sv-SE" dirty="0" err="1"/>
              <a:t>core</a:t>
            </a:r>
            <a:r>
              <a:rPr lang="sv-SE" dirty="0"/>
              <a:t> </a:t>
            </a:r>
            <a:r>
              <a:rPr lang="sv-SE" dirty="0" err="1"/>
              <a:t>patterns</a:t>
            </a:r>
            <a:r>
              <a:rPr lang="sv-SE" dirty="0"/>
              <a:t>:</a:t>
            </a:r>
            <a:endParaRPr lang="en-US" dirty="0"/>
          </a:p>
        </p:txBody>
      </p:sp>
      <p:grpSp>
        <p:nvGrpSpPr>
          <p:cNvPr id="9" name="Group 8">
            <a:extLst>
              <a:ext uri="{FF2B5EF4-FFF2-40B4-BE49-F238E27FC236}">
                <a16:creationId xmlns:a16="http://schemas.microsoft.com/office/drawing/2014/main" id="{F722EE60-905C-4353-9D34-A8AE3601667B}"/>
              </a:ext>
            </a:extLst>
          </p:cNvPr>
          <p:cNvGrpSpPr/>
          <p:nvPr/>
        </p:nvGrpSpPr>
        <p:grpSpPr>
          <a:xfrm>
            <a:off x="4102609" y="2948439"/>
            <a:ext cx="1898468" cy="1070555"/>
            <a:chOff x="3622766" y="3117210"/>
            <a:chExt cx="1898468" cy="1070555"/>
          </a:xfrm>
        </p:grpSpPr>
        <p:grpSp>
          <p:nvGrpSpPr>
            <p:cNvPr id="6" name="Group 5">
              <a:extLst>
                <a:ext uri="{FF2B5EF4-FFF2-40B4-BE49-F238E27FC236}">
                  <a16:creationId xmlns:a16="http://schemas.microsoft.com/office/drawing/2014/main" id="{09458448-4541-4778-8C42-E66B7796BCB6}"/>
                </a:ext>
              </a:extLst>
            </p:cNvPr>
            <p:cNvGrpSpPr/>
            <p:nvPr/>
          </p:nvGrpSpPr>
          <p:grpSpPr>
            <a:xfrm>
              <a:off x="4051882" y="3117210"/>
              <a:ext cx="1040235" cy="311790"/>
              <a:chOff x="3657600" y="3892492"/>
              <a:chExt cx="1040235" cy="311790"/>
            </a:xfrm>
          </p:grpSpPr>
          <p:cxnSp>
            <p:nvCxnSpPr>
              <p:cNvPr id="5" name="Straight Arrow Connector 4">
                <a:extLst>
                  <a:ext uri="{FF2B5EF4-FFF2-40B4-BE49-F238E27FC236}">
                    <a16:creationId xmlns:a16="http://schemas.microsoft.com/office/drawing/2014/main" id="{CD41C7C9-6168-421E-9D83-D2B18C3C6322}"/>
                  </a:ext>
                </a:extLst>
              </p:cNvPr>
              <p:cNvCxnSpPr/>
              <p:nvPr/>
            </p:nvCxnSpPr>
            <p:spPr>
              <a:xfrm flipH="1">
                <a:off x="3657600" y="389249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2238111-DB88-4DB2-826B-9D8AA4E67BA3}"/>
                  </a:ext>
                </a:extLst>
              </p:cNvPr>
              <p:cNvCxnSpPr/>
              <p:nvPr/>
            </p:nvCxnSpPr>
            <p:spPr>
              <a:xfrm flipH="1">
                <a:off x="3657600" y="4053281"/>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2DDDC83-021E-4485-B02B-8504CD169B3F}"/>
                  </a:ext>
                </a:extLst>
              </p:cNvPr>
              <p:cNvCxnSpPr/>
              <p:nvPr/>
            </p:nvCxnSpPr>
            <p:spPr>
              <a:xfrm flipH="1">
                <a:off x="3657600" y="420428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0839546-0AD6-438F-9257-684B58DD2018}"/>
                  </a:ext>
                </a:extLst>
              </p:cNvPr>
              <p:cNvCxnSpPr/>
              <p:nvPr/>
            </p:nvCxnSpPr>
            <p:spPr>
              <a:xfrm flipH="1">
                <a:off x="4036502" y="389249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9D6D74F-3D4B-46FF-B5A6-8B4CE7997543}"/>
                  </a:ext>
                </a:extLst>
              </p:cNvPr>
              <p:cNvCxnSpPr/>
              <p:nvPr/>
            </p:nvCxnSpPr>
            <p:spPr>
              <a:xfrm flipH="1">
                <a:off x="4036502" y="4053281"/>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0859654-2279-448A-94E0-45E8633FDA5E}"/>
                  </a:ext>
                </a:extLst>
              </p:cNvPr>
              <p:cNvCxnSpPr/>
              <p:nvPr/>
            </p:nvCxnSpPr>
            <p:spPr>
              <a:xfrm flipH="1">
                <a:off x="4036502" y="420428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7414615-B903-4868-B798-212019772B77}"/>
                  </a:ext>
                </a:extLst>
              </p:cNvPr>
              <p:cNvCxnSpPr/>
              <p:nvPr/>
            </p:nvCxnSpPr>
            <p:spPr>
              <a:xfrm flipH="1">
                <a:off x="4412609" y="389249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9ABC966-85F1-40BF-9E04-6E458C4C4F57}"/>
                  </a:ext>
                </a:extLst>
              </p:cNvPr>
              <p:cNvCxnSpPr/>
              <p:nvPr/>
            </p:nvCxnSpPr>
            <p:spPr>
              <a:xfrm flipH="1">
                <a:off x="4412609" y="4053281"/>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044CF41-A5CB-440B-A81E-4E88F26DE34D}"/>
                  </a:ext>
                </a:extLst>
              </p:cNvPr>
              <p:cNvCxnSpPr/>
              <p:nvPr/>
            </p:nvCxnSpPr>
            <p:spPr>
              <a:xfrm flipH="1">
                <a:off x="4397229" y="420428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F2BB0066-38B1-41E9-86A0-FF2791802EE5}"/>
                </a:ext>
              </a:extLst>
            </p:cNvPr>
            <p:cNvSpPr txBox="1"/>
            <p:nvPr/>
          </p:nvSpPr>
          <p:spPr>
            <a:xfrm>
              <a:off x="3622766" y="3541434"/>
              <a:ext cx="1898468" cy="646331"/>
            </a:xfrm>
            <a:prstGeom prst="rect">
              <a:avLst/>
            </a:prstGeom>
            <a:noFill/>
          </p:spPr>
          <p:txBody>
            <a:bodyPr wrap="none" rtlCol="0">
              <a:spAutoFit/>
            </a:bodyPr>
            <a:lstStyle/>
            <a:p>
              <a:pPr algn="ctr"/>
              <a:r>
                <a:rPr lang="sv-SE" dirty="0" err="1"/>
                <a:t>Parallel</a:t>
              </a:r>
              <a:r>
                <a:rPr lang="sv-SE" dirty="0"/>
                <a:t> </a:t>
              </a:r>
              <a:r>
                <a:rPr lang="sv-SE" dirty="0" err="1"/>
                <a:t>line</a:t>
              </a:r>
              <a:r>
                <a:rPr lang="sv-SE" dirty="0"/>
                <a:t> region</a:t>
              </a:r>
            </a:p>
            <a:p>
              <a:pPr algn="ctr"/>
              <a:r>
                <a:rPr lang="sv-SE" dirty="0"/>
                <a:t>Gradient </a:t>
              </a:r>
              <a:r>
                <a:rPr lang="sv-SE" dirty="0" err="1"/>
                <a:t>vectors</a:t>
              </a:r>
              <a:endParaRPr lang="en-US" dirty="0"/>
            </a:p>
          </p:txBody>
        </p:sp>
      </p:grpSp>
      <p:grpSp>
        <p:nvGrpSpPr>
          <p:cNvPr id="24" name="Group 23">
            <a:extLst>
              <a:ext uri="{FF2B5EF4-FFF2-40B4-BE49-F238E27FC236}">
                <a16:creationId xmlns:a16="http://schemas.microsoft.com/office/drawing/2014/main" id="{EB24DB22-60F4-4473-BF26-2A254CD36AD5}"/>
              </a:ext>
            </a:extLst>
          </p:cNvPr>
          <p:cNvGrpSpPr/>
          <p:nvPr/>
        </p:nvGrpSpPr>
        <p:grpSpPr>
          <a:xfrm>
            <a:off x="6247681" y="2777202"/>
            <a:ext cx="2073389" cy="1303596"/>
            <a:chOff x="5628960" y="2877908"/>
            <a:chExt cx="2073389" cy="1303596"/>
          </a:xfrm>
        </p:grpSpPr>
        <p:cxnSp>
          <p:nvCxnSpPr>
            <p:cNvPr id="54" name="Straight Arrow Connector 53">
              <a:extLst>
                <a:ext uri="{FF2B5EF4-FFF2-40B4-BE49-F238E27FC236}">
                  <a16:creationId xmlns:a16="http://schemas.microsoft.com/office/drawing/2014/main" id="{F24DCFC9-9322-46C6-B519-4A188099C6F5}"/>
                </a:ext>
              </a:extLst>
            </p:cNvPr>
            <p:cNvCxnSpPr/>
            <p:nvPr/>
          </p:nvCxnSpPr>
          <p:spPr>
            <a:xfrm flipH="1">
              <a:off x="6553564" y="2877908"/>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444238E-6B93-4122-9BAA-26AB072EF067}"/>
                </a:ext>
              </a:extLst>
            </p:cNvPr>
            <p:cNvCxnSpPr>
              <a:cxnSpLocks/>
            </p:cNvCxnSpPr>
            <p:nvPr/>
          </p:nvCxnSpPr>
          <p:spPr>
            <a:xfrm>
              <a:off x="6561588" y="3466679"/>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B2D655DF-1731-4266-AA84-8B76644E851E}"/>
                </a:ext>
              </a:extLst>
            </p:cNvPr>
            <p:cNvCxnSpPr>
              <a:cxnSpLocks/>
            </p:cNvCxnSpPr>
            <p:nvPr/>
          </p:nvCxnSpPr>
          <p:spPr>
            <a:xfrm flipV="1">
              <a:off x="6838790" y="3336964"/>
              <a:ext cx="182795" cy="124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D0D16B1-DCEF-48F4-91AE-197D6A16E592}"/>
                </a:ext>
              </a:extLst>
            </p:cNvPr>
            <p:cNvCxnSpPr>
              <a:cxnSpLocks/>
            </p:cNvCxnSpPr>
            <p:nvPr/>
          </p:nvCxnSpPr>
          <p:spPr>
            <a:xfrm flipV="1">
              <a:off x="7021585" y="3063308"/>
              <a:ext cx="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54E94D3-BF92-4230-957E-119C1E4EABBB}"/>
                </a:ext>
              </a:extLst>
            </p:cNvPr>
            <p:cNvCxnSpPr>
              <a:cxnSpLocks/>
            </p:cNvCxnSpPr>
            <p:nvPr/>
          </p:nvCxnSpPr>
          <p:spPr>
            <a:xfrm flipH="1">
              <a:off x="6350466" y="2885911"/>
              <a:ext cx="203099" cy="189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BC1873B0-D0E1-4926-926E-33F60766F2BA}"/>
                </a:ext>
              </a:extLst>
            </p:cNvPr>
            <p:cNvCxnSpPr>
              <a:cxnSpLocks/>
            </p:cNvCxnSpPr>
            <p:nvPr/>
          </p:nvCxnSpPr>
          <p:spPr>
            <a:xfrm flipH="1" flipV="1">
              <a:off x="6853988" y="2877908"/>
              <a:ext cx="15240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A66B14B-87BC-47AC-9FA2-A45E2659BE11}"/>
                </a:ext>
              </a:extLst>
            </p:cNvPr>
            <p:cNvCxnSpPr>
              <a:cxnSpLocks/>
            </p:cNvCxnSpPr>
            <p:nvPr/>
          </p:nvCxnSpPr>
          <p:spPr>
            <a:xfrm>
              <a:off x="6350466" y="3063308"/>
              <a:ext cx="0" cy="246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5D8A534-BAD8-460D-A5A7-F931C72E9566}"/>
                </a:ext>
              </a:extLst>
            </p:cNvPr>
            <p:cNvCxnSpPr>
              <a:cxnSpLocks/>
            </p:cNvCxnSpPr>
            <p:nvPr/>
          </p:nvCxnSpPr>
          <p:spPr>
            <a:xfrm>
              <a:off x="6349675" y="3270169"/>
              <a:ext cx="211913" cy="217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93DC97A8-A86E-45E3-840C-7865FBB0C1F1}"/>
                </a:ext>
              </a:extLst>
            </p:cNvPr>
            <p:cNvSpPr/>
            <p:nvPr/>
          </p:nvSpPr>
          <p:spPr>
            <a:xfrm>
              <a:off x="6665655" y="316516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E941E440-82B2-4012-9EEA-B4383527EADA}"/>
                </a:ext>
              </a:extLst>
            </p:cNvPr>
            <p:cNvSpPr txBox="1"/>
            <p:nvPr/>
          </p:nvSpPr>
          <p:spPr>
            <a:xfrm>
              <a:off x="5628960" y="3535173"/>
              <a:ext cx="2073389" cy="646331"/>
            </a:xfrm>
            <a:prstGeom prst="rect">
              <a:avLst/>
            </a:prstGeom>
            <a:noFill/>
          </p:spPr>
          <p:txBody>
            <a:bodyPr wrap="none" rtlCol="0">
              <a:spAutoFit/>
            </a:bodyPr>
            <a:lstStyle/>
            <a:p>
              <a:pPr algn="ctr"/>
              <a:r>
                <a:rPr lang="sv-SE" dirty="0" err="1"/>
                <a:t>Core</a:t>
              </a:r>
              <a:r>
                <a:rPr lang="sv-SE" dirty="0"/>
                <a:t> </a:t>
              </a:r>
              <a:r>
                <a:rPr lang="sv-SE" dirty="0" err="1"/>
                <a:t>pattern</a:t>
              </a:r>
              <a:r>
                <a:rPr lang="sv-SE" dirty="0"/>
                <a:t> region</a:t>
              </a:r>
            </a:p>
            <a:p>
              <a:pPr algn="ctr"/>
              <a:r>
                <a:rPr lang="sv-SE" dirty="0"/>
                <a:t>Gradient </a:t>
              </a:r>
              <a:r>
                <a:rPr lang="sv-SE" dirty="0" err="1"/>
                <a:t>vectors</a:t>
              </a:r>
              <a:endParaRPr lang="en-US" dirty="0"/>
            </a:p>
          </p:txBody>
        </p:sp>
      </p:grpSp>
      <p:grpSp>
        <p:nvGrpSpPr>
          <p:cNvPr id="26" name="Group 25">
            <a:extLst>
              <a:ext uri="{FF2B5EF4-FFF2-40B4-BE49-F238E27FC236}">
                <a16:creationId xmlns:a16="http://schemas.microsoft.com/office/drawing/2014/main" id="{50DBE515-574A-4902-80B8-3C035B4E5C00}"/>
              </a:ext>
            </a:extLst>
          </p:cNvPr>
          <p:cNvGrpSpPr/>
          <p:nvPr/>
        </p:nvGrpSpPr>
        <p:grpSpPr>
          <a:xfrm>
            <a:off x="624479" y="2777202"/>
            <a:ext cx="1547411" cy="1013578"/>
            <a:chOff x="616881" y="2777202"/>
            <a:chExt cx="1547411" cy="1013578"/>
          </a:xfrm>
        </p:grpSpPr>
        <p:grpSp>
          <p:nvGrpSpPr>
            <p:cNvPr id="105" name="Group 104">
              <a:extLst>
                <a:ext uri="{FF2B5EF4-FFF2-40B4-BE49-F238E27FC236}">
                  <a16:creationId xmlns:a16="http://schemas.microsoft.com/office/drawing/2014/main" id="{CFDF5E3E-661D-48EB-89D7-368F93825407}"/>
                </a:ext>
              </a:extLst>
            </p:cNvPr>
            <p:cNvGrpSpPr/>
            <p:nvPr/>
          </p:nvGrpSpPr>
          <p:grpSpPr>
            <a:xfrm>
              <a:off x="616881" y="3260410"/>
              <a:ext cx="1547411" cy="530370"/>
              <a:chOff x="3798295" y="3376479"/>
              <a:chExt cx="1547411" cy="543270"/>
            </a:xfrm>
          </p:grpSpPr>
          <p:cxnSp>
            <p:nvCxnSpPr>
              <p:cNvPr id="124" name="Straight Arrow Connector 123">
                <a:extLst>
                  <a:ext uri="{FF2B5EF4-FFF2-40B4-BE49-F238E27FC236}">
                    <a16:creationId xmlns:a16="http://schemas.microsoft.com/office/drawing/2014/main" id="{7EF4921F-C0C6-47B2-BBEC-C176241BBC9E}"/>
                  </a:ext>
                </a:extLst>
              </p:cNvPr>
              <p:cNvCxnSpPr>
                <a:cxnSpLocks/>
              </p:cNvCxnSpPr>
              <p:nvPr/>
            </p:nvCxnSpPr>
            <p:spPr>
              <a:xfrm>
                <a:off x="4715246" y="3376479"/>
                <a:ext cx="201925" cy="216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B1804D87-E1AE-48B5-8D70-12C037E47EBA}"/>
                  </a:ext>
                </a:extLst>
              </p:cNvPr>
              <p:cNvSpPr txBox="1"/>
              <p:nvPr/>
            </p:nvSpPr>
            <p:spPr>
              <a:xfrm>
                <a:off x="3798295" y="3541434"/>
                <a:ext cx="1547411" cy="378315"/>
              </a:xfrm>
              <a:prstGeom prst="rect">
                <a:avLst/>
              </a:prstGeom>
              <a:noFill/>
            </p:spPr>
            <p:txBody>
              <a:bodyPr wrap="none" rtlCol="0">
                <a:spAutoFit/>
              </a:bodyPr>
              <a:lstStyle/>
              <a:p>
                <a:pPr algn="ctr"/>
                <a:r>
                  <a:rPr lang="sv-SE" dirty="0" err="1"/>
                  <a:t>Core</a:t>
                </a:r>
                <a:r>
                  <a:rPr lang="sv-SE" dirty="0"/>
                  <a:t> </a:t>
                </a:r>
                <a:r>
                  <a:rPr lang="en-US" dirty="0"/>
                  <a:t>detector</a:t>
                </a:r>
                <a:endParaRPr lang="sv-SE" dirty="0"/>
              </a:p>
            </p:txBody>
          </p:sp>
        </p:grpSp>
        <p:cxnSp>
          <p:nvCxnSpPr>
            <p:cNvPr id="125" name="Straight Arrow Connector 124">
              <a:extLst>
                <a:ext uri="{FF2B5EF4-FFF2-40B4-BE49-F238E27FC236}">
                  <a16:creationId xmlns:a16="http://schemas.microsoft.com/office/drawing/2014/main" id="{83F0D9C7-3437-48E5-ADB4-628D72419FCE}"/>
                </a:ext>
              </a:extLst>
            </p:cNvPr>
            <p:cNvCxnSpPr>
              <a:cxnSpLocks/>
            </p:cNvCxnSpPr>
            <p:nvPr/>
          </p:nvCxnSpPr>
          <p:spPr>
            <a:xfrm>
              <a:off x="1360521" y="3236258"/>
              <a:ext cx="0" cy="293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32C126F6-20EA-48D3-9347-04A20D3732BA}"/>
                </a:ext>
              </a:extLst>
            </p:cNvPr>
            <p:cNvCxnSpPr>
              <a:cxnSpLocks/>
            </p:cNvCxnSpPr>
            <p:nvPr/>
          </p:nvCxnSpPr>
          <p:spPr>
            <a:xfrm flipH="1">
              <a:off x="933384" y="3257084"/>
              <a:ext cx="260868" cy="202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823E00EE-DBD5-4154-97EF-D542D174595A}"/>
                </a:ext>
              </a:extLst>
            </p:cNvPr>
            <p:cNvCxnSpPr>
              <a:cxnSpLocks/>
            </p:cNvCxnSpPr>
            <p:nvPr/>
          </p:nvCxnSpPr>
          <p:spPr>
            <a:xfrm>
              <a:off x="1601708"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FB78E976-37E7-4956-8D62-D54E6C3BBC2F}"/>
                </a:ext>
              </a:extLst>
            </p:cNvPr>
            <p:cNvCxnSpPr>
              <a:cxnSpLocks/>
            </p:cNvCxnSpPr>
            <p:nvPr/>
          </p:nvCxnSpPr>
          <p:spPr>
            <a:xfrm flipH="1">
              <a:off x="835501" y="3183750"/>
              <a:ext cx="302813" cy="4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C1DED6D6-A980-4EF0-8F26-7E8383393472}"/>
                </a:ext>
              </a:extLst>
            </p:cNvPr>
            <p:cNvCxnSpPr>
              <a:cxnSpLocks/>
            </p:cNvCxnSpPr>
            <p:nvPr/>
          </p:nvCxnSpPr>
          <p:spPr>
            <a:xfrm flipH="1" flipV="1">
              <a:off x="902344" y="2855187"/>
              <a:ext cx="218923" cy="173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1049D074-3E28-4786-9879-C412A0993112}"/>
                </a:ext>
              </a:extLst>
            </p:cNvPr>
            <p:cNvCxnSpPr>
              <a:cxnSpLocks/>
            </p:cNvCxnSpPr>
            <p:nvPr/>
          </p:nvCxnSpPr>
          <p:spPr>
            <a:xfrm flipV="1">
              <a:off x="1360521" y="2777202"/>
              <a:ext cx="0" cy="2575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37DFFB0D-C610-4DDE-97C3-423015B863AF}"/>
                </a:ext>
              </a:extLst>
            </p:cNvPr>
            <p:cNvCxnSpPr>
              <a:cxnSpLocks/>
            </p:cNvCxnSpPr>
            <p:nvPr/>
          </p:nvCxnSpPr>
          <p:spPr>
            <a:xfrm flipV="1">
              <a:off x="1528026" y="2867774"/>
              <a:ext cx="285413" cy="173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E3847A59-6B3F-4A15-82B9-01F858E7CF99}"/>
              </a:ext>
            </a:extLst>
          </p:cNvPr>
          <p:cNvSpPr/>
          <p:nvPr/>
        </p:nvSpPr>
        <p:spPr>
          <a:xfrm>
            <a:off x="3741490" y="2374084"/>
            <a:ext cx="4579580" cy="20301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7A73C75-200A-4DF7-9FC1-92292F2FF93B}"/>
              </a:ext>
            </a:extLst>
          </p:cNvPr>
          <p:cNvSpPr txBox="1"/>
          <p:nvPr/>
        </p:nvSpPr>
        <p:spPr>
          <a:xfrm>
            <a:off x="5521618" y="4472706"/>
            <a:ext cx="958917" cy="369332"/>
          </a:xfrm>
          <a:prstGeom prst="rect">
            <a:avLst/>
          </a:prstGeom>
          <a:noFill/>
        </p:spPr>
        <p:txBody>
          <a:bodyPr wrap="none" rtlCol="0">
            <a:spAutoFit/>
          </a:bodyPr>
          <a:lstStyle/>
          <a:p>
            <a:r>
              <a:rPr lang="sv-SE" dirty="0" err="1"/>
              <a:t>Patterns</a:t>
            </a:r>
            <a:endParaRPr lang="en-US" dirty="0"/>
          </a:p>
        </p:txBody>
      </p:sp>
      <p:sp>
        <p:nvSpPr>
          <p:cNvPr id="133" name="Rectangle 132">
            <a:extLst>
              <a:ext uri="{FF2B5EF4-FFF2-40B4-BE49-F238E27FC236}">
                <a16:creationId xmlns:a16="http://schemas.microsoft.com/office/drawing/2014/main" id="{25EBA5F4-DA80-415E-B963-A6E4C5E077A1}"/>
              </a:ext>
            </a:extLst>
          </p:cNvPr>
          <p:cNvSpPr/>
          <p:nvPr/>
        </p:nvSpPr>
        <p:spPr>
          <a:xfrm>
            <a:off x="234739" y="2785205"/>
            <a:ext cx="2216393" cy="12337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TextBox 133">
            <a:extLst>
              <a:ext uri="{FF2B5EF4-FFF2-40B4-BE49-F238E27FC236}">
                <a16:creationId xmlns:a16="http://schemas.microsoft.com/office/drawing/2014/main" id="{0C85807B-ED30-4F6F-9701-7544563F9A9D}"/>
              </a:ext>
            </a:extLst>
          </p:cNvPr>
          <p:cNvSpPr txBox="1"/>
          <p:nvPr/>
        </p:nvSpPr>
        <p:spPr>
          <a:xfrm>
            <a:off x="986908" y="4106770"/>
            <a:ext cx="712054" cy="369332"/>
          </a:xfrm>
          <a:prstGeom prst="rect">
            <a:avLst/>
          </a:prstGeom>
          <a:noFill/>
        </p:spPr>
        <p:txBody>
          <a:bodyPr wrap="none" rtlCol="0">
            <a:spAutoFit/>
          </a:bodyPr>
          <a:lstStyle/>
          <a:p>
            <a:r>
              <a:rPr lang="sv-SE" dirty="0"/>
              <a:t>filters</a:t>
            </a:r>
            <a:endParaRPr lang="en-US" dirty="0"/>
          </a:p>
        </p:txBody>
      </p:sp>
      <p:sp>
        <p:nvSpPr>
          <p:cNvPr id="15" name="Oval 14">
            <a:extLst>
              <a:ext uri="{FF2B5EF4-FFF2-40B4-BE49-F238E27FC236}">
                <a16:creationId xmlns:a16="http://schemas.microsoft.com/office/drawing/2014/main" id="{790D846D-2996-4667-A1FD-640D03213D5D}"/>
              </a:ext>
            </a:extLst>
          </p:cNvPr>
          <p:cNvSpPr/>
          <p:nvPr/>
        </p:nvSpPr>
        <p:spPr>
          <a:xfrm>
            <a:off x="1342935" y="312942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2143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A292-A173-4544-A7D7-285F52CFACC8}"/>
              </a:ext>
            </a:extLst>
          </p:cNvPr>
          <p:cNvSpPr>
            <a:spLocks noGrp="1"/>
          </p:cNvSpPr>
          <p:nvPr>
            <p:ph type="title"/>
          </p:nvPr>
        </p:nvSpPr>
        <p:spPr/>
        <p:txBody>
          <a:bodyPr>
            <a:normAutofit fontScale="90000"/>
          </a:bodyPr>
          <a:lstStyle/>
          <a:p>
            <a:r>
              <a:rPr lang="en-US" dirty="0"/>
              <a:t>Fingerprint Recognition: Detecting patterns in the image</a:t>
            </a:r>
          </a:p>
        </p:txBody>
      </p:sp>
      <p:sp>
        <p:nvSpPr>
          <p:cNvPr id="3" name="Content Placeholder 2">
            <a:extLst>
              <a:ext uri="{FF2B5EF4-FFF2-40B4-BE49-F238E27FC236}">
                <a16:creationId xmlns:a16="http://schemas.microsoft.com/office/drawing/2014/main" id="{500642C8-BBD6-4EEB-A6ED-34342652B87A}"/>
              </a:ext>
            </a:extLst>
          </p:cNvPr>
          <p:cNvSpPr>
            <a:spLocks noGrp="1"/>
          </p:cNvSpPr>
          <p:nvPr>
            <p:ph idx="1"/>
          </p:nvPr>
        </p:nvSpPr>
        <p:spPr/>
        <p:txBody>
          <a:bodyPr>
            <a:normAutofit/>
          </a:bodyPr>
          <a:lstStyle/>
          <a:p>
            <a:r>
              <a:rPr lang="sv-SE" dirty="0" err="1"/>
              <a:t>Detecting</a:t>
            </a:r>
            <a:r>
              <a:rPr lang="sv-SE" dirty="0"/>
              <a:t> </a:t>
            </a:r>
            <a:r>
              <a:rPr lang="sv-SE" dirty="0" err="1"/>
              <a:t>paraller</a:t>
            </a:r>
            <a:r>
              <a:rPr lang="sv-SE" dirty="0"/>
              <a:t> </a:t>
            </a:r>
            <a:r>
              <a:rPr lang="sv-SE" dirty="0" err="1"/>
              <a:t>lines</a:t>
            </a:r>
            <a:r>
              <a:rPr lang="sv-SE" dirty="0"/>
              <a:t>:</a:t>
            </a:r>
            <a:endParaRPr lang="en-US" dirty="0"/>
          </a:p>
        </p:txBody>
      </p:sp>
      <p:sp>
        <p:nvSpPr>
          <p:cNvPr id="134" name="TextBox 133">
            <a:extLst>
              <a:ext uri="{FF2B5EF4-FFF2-40B4-BE49-F238E27FC236}">
                <a16:creationId xmlns:a16="http://schemas.microsoft.com/office/drawing/2014/main" id="{0C85807B-ED30-4F6F-9701-7544563F9A9D}"/>
              </a:ext>
            </a:extLst>
          </p:cNvPr>
          <p:cNvSpPr txBox="1"/>
          <p:nvPr/>
        </p:nvSpPr>
        <p:spPr>
          <a:xfrm>
            <a:off x="3907070" y="3448532"/>
            <a:ext cx="712054" cy="369332"/>
          </a:xfrm>
          <a:prstGeom prst="rect">
            <a:avLst/>
          </a:prstGeom>
          <a:noFill/>
        </p:spPr>
        <p:txBody>
          <a:bodyPr wrap="none" rtlCol="0">
            <a:spAutoFit/>
          </a:bodyPr>
          <a:lstStyle/>
          <a:p>
            <a:r>
              <a:rPr lang="sv-SE" dirty="0"/>
              <a:t>filters</a:t>
            </a:r>
            <a:endParaRPr lang="en-US" dirty="0"/>
          </a:p>
        </p:txBody>
      </p:sp>
      <p:sp>
        <p:nvSpPr>
          <p:cNvPr id="8" name="TextBox 7">
            <a:extLst>
              <a:ext uri="{FF2B5EF4-FFF2-40B4-BE49-F238E27FC236}">
                <a16:creationId xmlns:a16="http://schemas.microsoft.com/office/drawing/2014/main" id="{F2BB0066-38B1-41E9-86A0-FF2791802EE5}"/>
              </a:ext>
            </a:extLst>
          </p:cNvPr>
          <p:cNvSpPr txBox="1"/>
          <p:nvPr/>
        </p:nvSpPr>
        <p:spPr>
          <a:xfrm>
            <a:off x="1021777" y="3441676"/>
            <a:ext cx="1898468" cy="369332"/>
          </a:xfrm>
          <a:prstGeom prst="rect">
            <a:avLst/>
          </a:prstGeom>
          <a:noFill/>
        </p:spPr>
        <p:txBody>
          <a:bodyPr wrap="none" rtlCol="0">
            <a:spAutoFit/>
          </a:bodyPr>
          <a:lstStyle/>
          <a:p>
            <a:pPr algn="ctr"/>
            <a:r>
              <a:rPr lang="sv-SE" dirty="0" err="1"/>
              <a:t>Parallel</a:t>
            </a:r>
            <a:r>
              <a:rPr lang="sv-SE" dirty="0"/>
              <a:t> </a:t>
            </a:r>
            <a:r>
              <a:rPr lang="sv-SE" dirty="0" err="1"/>
              <a:t>line</a:t>
            </a:r>
            <a:r>
              <a:rPr lang="sv-SE" dirty="0"/>
              <a:t> region</a:t>
            </a:r>
          </a:p>
        </p:txBody>
      </p:sp>
      <p:sp>
        <p:nvSpPr>
          <p:cNvPr id="10" name="TextBox 9">
            <a:extLst>
              <a:ext uri="{FF2B5EF4-FFF2-40B4-BE49-F238E27FC236}">
                <a16:creationId xmlns:a16="http://schemas.microsoft.com/office/drawing/2014/main" id="{8DDA8293-1885-4379-9AD3-7266BF4462CA}"/>
              </a:ext>
            </a:extLst>
          </p:cNvPr>
          <p:cNvSpPr txBox="1"/>
          <p:nvPr/>
        </p:nvSpPr>
        <p:spPr>
          <a:xfrm>
            <a:off x="3091935" y="2944536"/>
            <a:ext cx="280846" cy="369332"/>
          </a:xfrm>
          <a:prstGeom prst="rect">
            <a:avLst/>
          </a:prstGeom>
          <a:noFill/>
        </p:spPr>
        <p:txBody>
          <a:bodyPr wrap="none" rtlCol="0">
            <a:spAutoFit/>
          </a:bodyPr>
          <a:lstStyle/>
          <a:p>
            <a:r>
              <a:rPr lang="sv-SE" dirty="0"/>
              <a:t>*</a:t>
            </a:r>
            <a:endParaRPr lang="en-US" dirty="0"/>
          </a:p>
        </p:txBody>
      </p:sp>
      <p:sp>
        <p:nvSpPr>
          <p:cNvPr id="11" name="TextBox 10">
            <a:extLst>
              <a:ext uri="{FF2B5EF4-FFF2-40B4-BE49-F238E27FC236}">
                <a16:creationId xmlns:a16="http://schemas.microsoft.com/office/drawing/2014/main" id="{C0F9CAF9-DD35-4830-81C5-EED11002E2D6}"/>
              </a:ext>
            </a:extLst>
          </p:cNvPr>
          <p:cNvSpPr txBox="1"/>
          <p:nvPr/>
        </p:nvSpPr>
        <p:spPr>
          <a:xfrm>
            <a:off x="5300204" y="2904043"/>
            <a:ext cx="319318" cy="369332"/>
          </a:xfrm>
          <a:prstGeom prst="rect">
            <a:avLst/>
          </a:prstGeom>
          <a:noFill/>
        </p:spPr>
        <p:txBody>
          <a:bodyPr wrap="none" rtlCol="0">
            <a:spAutoFit/>
          </a:bodyPr>
          <a:lstStyle/>
          <a:p>
            <a:r>
              <a:rPr lang="sv-SE" dirty="0"/>
              <a:t>=</a:t>
            </a:r>
            <a:endParaRPr lang="en-US" dirty="0"/>
          </a:p>
        </p:txBody>
      </p:sp>
      <p:grpSp>
        <p:nvGrpSpPr>
          <p:cNvPr id="68" name="Group 67">
            <a:extLst>
              <a:ext uri="{FF2B5EF4-FFF2-40B4-BE49-F238E27FC236}">
                <a16:creationId xmlns:a16="http://schemas.microsoft.com/office/drawing/2014/main" id="{72DF2D5A-717C-45F3-880D-47548E760259}"/>
              </a:ext>
            </a:extLst>
          </p:cNvPr>
          <p:cNvGrpSpPr/>
          <p:nvPr/>
        </p:nvGrpSpPr>
        <p:grpSpPr>
          <a:xfrm>
            <a:off x="737872" y="4561151"/>
            <a:ext cx="2073388" cy="1026597"/>
            <a:chOff x="5628960" y="2877908"/>
            <a:chExt cx="2073388" cy="1026597"/>
          </a:xfrm>
        </p:grpSpPr>
        <p:cxnSp>
          <p:nvCxnSpPr>
            <p:cNvPr id="70" name="Straight Arrow Connector 69">
              <a:extLst>
                <a:ext uri="{FF2B5EF4-FFF2-40B4-BE49-F238E27FC236}">
                  <a16:creationId xmlns:a16="http://schemas.microsoft.com/office/drawing/2014/main" id="{943480EF-5237-4E79-B7E7-0CA9F9B71F98}"/>
                </a:ext>
              </a:extLst>
            </p:cNvPr>
            <p:cNvCxnSpPr/>
            <p:nvPr/>
          </p:nvCxnSpPr>
          <p:spPr>
            <a:xfrm flipH="1">
              <a:off x="6553564" y="2877908"/>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57F72A3A-F73B-4A12-845B-A69737BD522A}"/>
                </a:ext>
              </a:extLst>
            </p:cNvPr>
            <p:cNvCxnSpPr>
              <a:cxnSpLocks/>
            </p:cNvCxnSpPr>
            <p:nvPr/>
          </p:nvCxnSpPr>
          <p:spPr>
            <a:xfrm>
              <a:off x="6561588" y="3466679"/>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60F37C0-C6E3-477F-93A7-30528A63C288}"/>
                </a:ext>
              </a:extLst>
            </p:cNvPr>
            <p:cNvCxnSpPr>
              <a:cxnSpLocks/>
            </p:cNvCxnSpPr>
            <p:nvPr/>
          </p:nvCxnSpPr>
          <p:spPr>
            <a:xfrm flipV="1">
              <a:off x="6838790" y="3336964"/>
              <a:ext cx="182795" cy="124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1E5C2F7-3F5B-48A8-97A1-85A4D0FE01BA}"/>
                </a:ext>
              </a:extLst>
            </p:cNvPr>
            <p:cNvCxnSpPr>
              <a:cxnSpLocks/>
            </p:cNvCxnSpPr>
            <p:nvPr/>
          </p:nvCxnSpPr>
          <p:spPr>
            <a:xfrm flipV="1">
              <a:off x="7021585" y="3063308"/>
              <a:ext cx="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8F257EA-7DF1-4BF5-93E3-299FB267C304}"/>
                </a:ext>
              </a:extLst>
            </p:cNvPr>
            <p:cNvCxnSpPr>
              <a:cxnSpLocks/>
            </p:cNvCxnSpPr>
            <p:nvPr/>
          </p:nvCxnSpPr>
          <p:spPr>
            <a:xfrm flipH="1">
              <a:off x="6350466" y="2885911"/>
              <a:ext cx="203099" cy="189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1ED4679-EEEA-40C9-BFB5-B378255BEB67}"/>
                </a:ext>
              </a:extLst>
            </p:cNvPr>
            <p:cNvCxnSpPr>
              <a:cxnSpLocks/>
            </p:cNvCxnSpPr>
            <p:nvPr/>
          </p:nvCxnSpPr>
          <p:spPr>
            <a:xfrm flipH="1" flipV="1">
              <a:off x="6853988" y="2877908"/>
              <a:ext cx="15240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4D4B87BE-C811-4329-8D4F-FA0A6FD7BDB8}"/>
                </a:ext>
              </a:extLst>
            </p:cNvPr>
            <p:cNvCxnSpPr>
              <a:cxnSpLocks/>
            </p:cNvCxnSpPr>
            <p:nvPr/>
          </p:nvCxnSpPr>
          <p:spPr>
            <a:xfrm>
              <a:off x="6350466" y="3063308"/>
              <a:ext cx="0" cy="246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FB02B848-40B2-403F-AF36-58DD8B6CF441}"/>
                </a:ext>
              </a:extLst>
            </p:cNvPr>
            <p:cNvCxnSpPr>
              <a:cxnSpLocks/>
            </p:cNvCxnSpPr>
            <p:nvPr/>
          </p:nvCxnSpPr>
          <p:spPr>
            <a:xfrm>
              <a:off x="6349675" y="3270169"/>
              <a:ext cx="211913" cy="217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E05B9A39-6F15-4CFC-830E-25A2A6DA4652}"/>
                </a:ext>
              </a:extLst>
            </p:cNvPr>
            <p:cNvSpPr/>
            <p:nvPr/>
          </p:nvSpPr>
          <p:spPr>
            <a:xfrm>
              <a:off x="6665655" y="316516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DE047C05-66CB-4195-A0E4-CFB2FE4708DE}"/>
                </a:ext>
              </a:extLst>
            </p:cNvPr>
            <p:cNvSpPr txBox="1"/>
            <p:nvPr/>
          </p:nvSpPr>
          <p:spPr>
            <a:xfrm>
              <a:off x="5628960" y="3535173"/>
              <a:ext cx="2073388" cy="369332"/>
            </a:xfrm>
            <a:prstGeom prst="rect">
              <a:avLst/>
            </a:prstGeom>
            <a:noFill/>
          </p:spPr>
          <p:txBody>
            <a:bodyPr wrap="none" rtlCol="0">
              <a:spAutoFit/>
            </a:bodyPr>
            <a:lstStyle/>
            <a:p>
              <a:pPr algn="ctr"/>
              <a:r>
                <a:rPr lang="sv-SE" dirty="0" err="1"/>
                <a:t>Core</a:t>
              </a:r>
              <a:r>
                <a:rPr lang="sv-SE" dirty="0"/>
                <a:t> </a:t>
              </a:r>
              <a:r>
                <a:rPr lang="sv-SE" dirty="0" err="1"/>
                <a:t>pattern</a:t>
              </a:r>
              <a:r>
                <a:rPr lang="sv-SE" dirty="0"/>
                <a:t> region</a:t>
              </a:r>
            </a:p>
          </p:txBody>
        </p:sp>
      </p:grpSp>
      <p:sp>
        <p:nvSpPr>
          <p:cNvPr id="92" name="TextBox 91">
            <a:extLst>
              <a:ext uri="{FF2B5EF4-FFF2-40B4-BE49-F238E27FC236}">
                <a16:creationId xmlns:a16="http://schemas.microsoft.com/office/drawing/2014/main" id="{C82276A7-CDC9-484E-822C-F819FFC59869}"/>
              </a:ext>
            </a:extLst>
          </p:cNvPr>
          <p:cNvSpPr txBox="1"/>
          <p:nvPr/>
        </p:nvSpPr>
        <p:spPr>
          <a:xfrm>
            <a:off x="3908790" y="5218416"/>
            <a:ext cx="712054" cy="369332"/>
          </a:xfrm>
          <a:prstGeom prst="rect">
            <a:avLst/>
          </a:prstGeom>
          <a:noFill/>
        </p:spPr>
        <p:txBody>
          <a:bodyPr wrap="none" rtlCol="0">
            <a:spAutoFit/>
          </a:bodyPr>
          <a:lstStyle/>
          <a:p>
            <a:r>
              <a:rPr lang="sv-SE" dirty="0"/>
              <a:t>filters</a:t>
            </a:r>
            <a:endParaRPr lang="en-US" dirty="0"/>
          </a:p>
        </p:txBody>
      </p:sp>
      <p:sp>
        <p:nvSpPr>
          <p:cNvPr id="93" name="TextBox 92">
            <a:extLst>
              <a:ext uri="{FF2B5EF4-FFF2-40B4-BE49-F238E27FC236}">
                <a16:creationId xmlns:a16="http://schemas.microsoft.com/office/drawing/2014/main" id="{3E305DD1-F4E2-4F03-A66B-39972191D9C9}"/>
              </a:ext>
            </a:extLst>
          </p:cNvPr>
          <p:cNvSpPr txBox="1"/>
          <p:nvPr/>
        </p:nvSpPr>
        <p:spPr>
          <a:xfrm>
            <a:off x="3093655" y="4714420"/>
            <a:ext cx="280846" cy="369332"/>
          </a:xfrm>
          <a:prstGeom prst="rect">
            <a:avLst/>
          </a:prstGeom>
          <a:noFill/>
        </p:spPr>
        <p:txBody>
          <a:bodyPr wrap="none" rtlCol="0">
            <a:spAutoFit/>
          </a:bodyPr>
          <a:lstStyle/>
          <a:p>
            <a:r>
              <a:rPr lang="sv-SE" dirty="0"/>
              <a:t>*</a:t>
            </a:r>
            <a:endParaRPr lang="en-US" dirty="0"/>
          </a:p>
        </p:txBody>
      </p:sp>
      <p:grpSp>
        <p:nvGrpSpPr>
          <p:cNvPr id="5" name="Group 4">
            <a:extLst>
              <a:ext uri="{FF2B5EF4-FFF2-40B4-BE49-F238E27FC236}">
                <a16:creationId xmlns:a16="http://schemas.microsoft.com/office/drawing/2014/main" id="{3F9204BF-8B3F-49CC-98F9-ABA6C0DA562A}"/>
              </a:ext>
            </a:extLst>
          </p:cNvPr>
          <p:cNvGrpSpPr/>
          <p:nvPr/>
        </p:nvGrpSpPr>
        <p:grpSpPr>
          <a:xfrm>
            <a:off x="5963780" y="2174419"/>
            <a:ext cx="2924992" cy="1343665"/>
            <a:chOff x="6014906" y="4263469"/>
            <a:chExt cx="2924992" cy="1343665"/>
          </a:xfrm>
        </p:grpSpPr>
        <p:cxnSp>
          <p:nvCxnSpPr>
            <p:cNvPr id="94" name="Straight Arrow Connector 93">
              <a:extLst>
                <a:ext uri="{FF2B5EF4-FFF2-40B4-BE49-F238E27FC236}">
                  <a16:creationId xmlns:a16="http://schemas.microsoft.com/office/drawing/2014/main" id="{6D45D742-A9A9-425D-BE89-CD8353A263E2}"/>
                </a:ext>
              </a:extLst>
            </p:cNvPr>
            <p:cNvCxnSpPr/>
            <p:nvPr/>
          </p:nvCxnSpPr>
          <p:spPr>
            <a:xfrm flipV="1">
              <a:off x="7013196" y="4263469"/>
              <a:ext cx="0" cy="948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805B1854-10A7-4F2B-AD96-4C1A548D64AA}"/>
                </a:ext>
              </a:extLst>
            </p:cNvPr>
            <p:cNvCxnSpPr/>
            <p:nvPr/>
          </p:nvCxnSpPr>
          <p:spPr>
            <a:xfrm>
              <a:off x="6014906" y="5212082"/>
              <a:ext cx="194624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A49A075-B7DA-4286-BB15-7771AE9B1943}"/>
                </a:ext>
              </a:extLst>
            </p:cNvPr>
            <p:cNvCxnSpPr/>
            <p:nvPr/>
          </p:nvCxnSpPr>
          <p:spPr>
            <a:xfrm flipH="1">
              <a:off x="6542407" y="4997391"/>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0F971E1A-A53D-46D7-A7E2-A7D8B7E2969A}"/>
                </a:ext>
              </a:extLst>
            </p:cNvPr>
            <p:cNvCxnSpPr>
              <a:cxnSpLocks/>
            </p:cNvCxnSpPr>
            <p:nvPr/>
          </p:nvCxnSpPr>
          <p:spPr>
            <a:xfrm>
              <a:off x="6550431" y="5586162"/>
              <a:ext cx="2852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F2825CAB-4376-4DCE-8C5D-E73CD3860E33}"/>
                </a:ext>
              </a:extLst>
            </p:cNvPr>
            <p:cNvCxnSpPr>
              <a:cxnSpLocks/>
            </p:cNvCxnSpPr>
            <p:nvPr/>
          </p:nvCxnSpPr>
          <p:spPr>
            <a:xfrm flipV="1">
              <a:off x="6827633" y="5456447"/>
              <a:ext cx="182795" cy="124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80D58A54-3F4B-44EF-BD5B-DF5DC09A458E}"/>
                </a:ext>
              </a:extLst>
            </p:cNvPr>
            <p:cNvCxnSpPr>
              <a:cxnSpLocks/>
            </p:cNvCxnSpPr>
            <p:nvPr/>
          </p:nvCxnSpPr>
          <p:spPr>
            <a:xfrm flipV="1">
              <a:off x="7010428" y="5182791"/>
              <a:ext cx="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C40E3D15-EFF3-45C2-970E-3DF40DD2C6A8}"/>
                </a:ext>
              </a:extLst>
            </p:cNvPr>
            <p:cNvCxnSpPr>
              <a:cxnSpLocks/>
            </p:cNvCxnSpPr>
            <p:nvPr/>
          </p:nvCxnSpPr>
          <p:spPr>
            <a:xfrm flipH="1">
              <a:off x="6339309" y="5005394"/>
              <a:ext cx="203099" cy="189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888913C8-7D43-4B7D-960A-E23B68E2A62E}"/>
                </a:ext>
              </a:extLst>
            </p:cNvPr>
            <p:cNvCxnSpPr>
              <a:cxnSpLocks/>
            </p:cNvCxnSpPr>
            <p:nvPr/>
          </p:nvCxnSpPr>
          <p:spPr>
            <a:xfrm flipH="1" flipV="1">
              <a:off x="6842831" y="4997391"/>
              <a:ext cx="152400" cy="21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B01F67E7-62D0-416D-9539-012EBE101DD8}"/>
                </a:ext>
              </a:extLst>
            </p:cNvPr>
            <p:cNvCxnSpPr>
              <a:cxnSpLocks/>
            </p:cNvCxnSpPr>
            <p:nvPr/>
          </p:nvCxnSpPr>
          <p:spPr>
            <a:xfrm>
              <a:off x="6339309" y="5182791"/>
              <a:ext cx="0" cy="246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AAC2BD63-8BE6-40CE-AA5F-1B72D229D04E}"/>
                </a:ext>
              </a:extLst>
            </p:cNvPr>
            <p:cNvCxnSpPr>
              <a:cxnSpLocks/>
            </p:cNvCxnSpPr>
            <p:nvPr/>
          </p:nvCxnSpPr>
          <p:spPr>
            <a:xfrm>
              <a:off x="6338518" y="5389652"/>
              <a:ext cx="211913" cy="217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970E975-B4B2-4D12-B302-85CF8EAE1322}"/>
                </a:ext>
              </a:extLst>
            </p:cNvPr>
            <p:cNvSpPr txBox="1"/>
            <p:nvPr/>
          </p:nvSpPr>
          <p:spPr>
            <a:xfrm>
              <a:off x="7812666" y="4545688"/>
              <a:ext cx="1127232" cy="523220"/>
            </a:xfrm>
            <a:prstGeom prst="rect">
              <a:avLst/>
            </a:prstGeom>
            <a:noFill/>
          </p:spPr>
          <p:txBody>
            <a:bodyPr wrap="none" rtlCol="0">
              <a:spAutoFit/>
            </a:bodyPr>
            <a:lstStyle/>
            <a:p>
              <a:r>
                <a:rPr lang="sv-SE" sz="1400" dirty="0" err="1">
                  <a:solidFill>
                    <a:srgbClr val="FF0000"/>
                  </a:solidFill>
                </a:rPr>
                <a:t>Null</a:t>
              </a:r>
              <a:r>
                <a:rPr lang="sv-SE" sz="1400" dirty="0">
                  <a:solidFill>
                    <a:srgbClr val="FF0000"/>
                  </a:solidFill>
                </a:rPr>
                <a:t> or small</a:t>
              </a:r>
            </a:p>
            <a:p>
              <a:r>
                <a:rPr lang="sv-SE" sz="1400" dirty="0" err="1">
                  <a:solidFill>
                    <a:srgbClr val="FF0000"/>
                  </a:solidFill>
                </a:rPr>
                <a:t>vector</a:t>
              </a:r>
              <a:endParaRPr lang="en-US" sz="1400" dirty="0">
                <a:solidFill>
                  <a:srgbClr val="FF0000"/>
                </a:solidFill>
              </a:endParaRPr>
            </a:p>
          </p:txBody>
        </p:sp>
      </p:grpSp>
      <p:grpSp>
        <p:nvGrpSpPr>
          <p:cNvPr id="69" name="Group 68">
            <a:extLst>
              <a:ext uri="{FF2B5EF4-FFF2-40B4-BE49-F238E27FC236}">
                <a16:creationId xmlns:a16="http://schemas.microsoft.com/office/drawing/2014/main" id="{C6F2D2E7-8F63-4D4C-8ACB-CF2D832D3790}"/>
              </a:ext>
            </a:extLst>
          </p:cNvPr>
          <p:cNvGrpSpPr/>
          <p:nvPr/>
        </p:nvGrpSpPr>
        <p:grpSpPr>
          <a:xfrm>
            <a:off x="3560012" y="2581920"/>
            <a:ext cx="1547411" cy="1013578"/>
            <a:chOff x="616881" y="2777202"/>
            <a:chExt cx="1547411" cy="1013578"/>
          </a:xfrm>
        </p:grpSpPr>
        <p:grpSp>
          <p:nvGrpSpPr>
            <p:cNvPr id="72" name="Group 71">
              <a:extLst>
                <a:ext uri="{FF2B5EF4-FFF2-40B4-BE49-F238E27FC236}">
                  <a16:creationId xmlns:a16="http://schemas.microsoft.com/office/drawing/2014/main" id="{F7D14516-FEB8-4777-A1A3-4ED26FF00512}"/>
                </a:ext>
              </a:extLst>
            </p:cNvPr>
            <p:cNvGrpSpPr/>
            <p:nvPr/>
          </p:nvGrpSpPr>
          <p:grpSpPr>
            <a:xfrm>
              <a:off x="616881" y="3260410"/>
              <a:ext cx="1547411" cy="530370"/>
              <a:chOff x="3798295" y="3376479"/>
              <a:chExt cx="1547411" cy="543270"/>
            </a:xfrm>
          </p:grpSpPr>
          <p:cxnSp>
            <p:nvCxnSpPr>
              <p:cNvPr id="110" name="Straight Arrow Connector 109">
                <a:extLst>
                  <a:ext uri="{FF2B5EF4-FFF2-40B4-BE49-F238E27FC236}">
                    <a16:creationId xmlns:a16="http://schemas.microsoft.com/office/drawing/2014/main" id="{45D7593B-D9BF-43C9-82E7-9BF1A9B24660}"/>
                  </a:ext>
                </a:extLst>
              </p:cNvPr>
              <p:cNvCxnSpPr>
                <a:cxnSpLocks/>
              </p:cNvCxnSpPr>
              <p:nvPr/>
            </p:nvCxnSpPr>
            <p:spPr>
              <a:xfrm>
                <a:off x="4715246" y="3376479"/>
                <a:ext cx="201925" cy="216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B9897CF1-CA15-4AFD-9AAA-DF1BAEBA54FD}"/>
                  </a:ext>
                </a:extLst>
              </p:cNvPr>
              <p:cNvSpPr txBox="1"/>
              <p:nvPr/>
            </p:nvSpPr>
            <p:spPr>
              <a:xfrm>
                <a:off x="3798295" y="3541434"/>
                <a:ext cx="1547411" cy="378315"/>
              </a:xfrm>
              <a:prstGeom prst="rect">
                <a:avLst/>
              </a:prstGeom>
              <a:noFill/>
            </p:spPr>
            <p:txBody>
              <a:bodyPr wrap="none" rtlCol="0">
                <a:spAutoFit/>
              </a:bodyPr>
              <a:lstStyle/>
              <a:p>
                <a:pPr algn="ctr"/>
                <a:r>
                  <a:rPr lang="sv-SE" dirty="0" err="1"/>
                  <a:t>Core</a:t>
                </a:r>
                <a:r>
                  <a:rPr lang="sv-SE" dirty="0"/>
                  <a:t> </a:t>
                </a:r>
                <a:r>
                  <a:rPr lang="en-US" dirty="0"/>
                  <a:t>detector</a:t>
                </a:r>
                <a:endParaRPr lang="sv-SE" dirty="0"/>
              </a:p>
            </p:txBody>
          </p:sp>
        </p:grpSp>
        <p:cxnSp>
          <p:nvCxnSpPr>
            <p:cNvPr id="76" name="Straight Arrow Connector 75">
              <a:extLst>
                <a:ext uri="{FF2B5EF4-FFF2-40B4-BE49-F238E27FC236}">
                  <a16:creationId xmlns:a16="http://schemas.microsoft.com/office/drawing/2014/main" id="{333F6F08-F826-4689-9B9F-677DD396F3DC}"/>
                </a:ext>
              </a:extLst>
            </p:cNvPr>
            <p:cNvCxnSpPr>
              <a:cxnSpLocks/>
            </p:cNvCxnSpPr>
            <p:nvPr/>
          </p:nvCxnSpPr>
          <p:spPr>
            <a:xfrm>
              <a:off x="1360521" y="3236258"/>
              <a:ext cx="0" cy="293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1C89C9DF-712C-45A9-B00F-D8269E09EDB9}"/>
                </a:ext>
              </a:extLst>
            </p:cNvPr>
            <p:cNvCxnSpPr>
              <a:cxnSpLocks/>
            </p:cNvCxnSpPr>
            <p:nvPr/>
          </p:nvCxnSpPr>
          <p:spPr>
            <a:xfrm flipH="1">
              <a:off x="933384" y="3257084"/>
              <a:ext cx="260868" cy="202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E242B4D8-73A9-44A4-82A8-E0CB93803D4E}"/>
                </a:ext>
              </a:extLst>
            </p:cNvPr>
            <p:cNvCxnSpPr>
              <a:cxnSpLocks/>
            </p:cNvCxnSpPr>
            <p:nvPr/>
          </p:nvCxnSpPr>
          <p:spPr>
            <a:xfrm>
              <a:off x="1601708"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FC73AC5F-65A6-43C8-84F7-EFB15AC4F6DD}"/>
                </a:ext>
              </a:extLst>
            </p:cNvPr>
            <p:cNvCxnSpPr>
              <a:cxnSpLocks/>
            </p:cNvCxnSpPr>
            <p:nvPr/>
          </p:nvCxnSpPr>
          <p:spPr>
            <a:xfrm flipH="1">
              <a:off x="835501" y="3183750"/>
              <a:ext cx="302813" cy="4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ABCDA61F-1A04-432E-BD82-F60542E5C85C}"/>
                </a:ext>
              </a:extLst>
            </p:cNvPr>
            <p:cNvCxnSpPr>
              <a:cxnSpLocks/>
            </p:cNvCxnSpPr>
            <p:nvPr/>
          </p:nvCxnSpPr>
          <p:spPr>
            <a:xfrm flipH="1" flipV="1">
              <a:off x="902344" y="2855187"/>
              <a:ext cx="218923" cy="173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40997283-D341-4698-9EDC-35ED5473D317}"/>
                </a:ext>
              </a:extLst>
            </p:cNvPr>
            <p:cNvCxnSpPr>
              <a:cxnSpLocks/>
            </p:cNvCxnSpPr>
            <p:nvPr/>
          </p:nvCxnSpPr>
          <p:spPr>
            <a:xfrm flipV="1">
              <a:off x="1360521" y="2777202"/>
              <a:ext cx="0" cy="2575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02171E3B-2E70-4B1E-97B5-7EDFACEA9D1C}"/>
                </a:ext>
              </a:extLst>
            </p:cNvPr>
            <p:cNvCxnSpPr>
              <a:cxnSpLocks/>
            </p:cNvCxnSpPr>
            <p:nvPr/>
          </p:nvCxnSpPr>
          <p:spPr>
            <a:xfrm flipV="1">
              <a:off x="1528026" y="2867774"/>
              <a:ext cx="285413" cy="173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a16="http://schemas.microsoft.com/office/drawing/2014/main" id="{F271706A-91BF-471D-9707-47FBDBB81D2B}"/>
              </a:ext>
            </a:extLst>
          </p:cNvPr>
          <p:cNvGrpSpPr/>
          <p:nvPr/>
        </p:nvGrpSpPr>
        <p:grpSpPr>
          <a:xfrm>
            <a:off x="3519958" y="4352261"/>
            <a:ext cx="1547411" cy="1013578"/>
            <a:chOff x="616881" y="2777202"/>
            <a:chExt cx="1547411" cy="1013578"/>
          </a:xfrm>
        </p:grpSpPr>
        <p:grpSp>
          <p:nvGrpSpPr>
            <p:cNvPr id="113" name="Group 112">
              <a:extLst>
                <a:ext uri="{FF2B5EF4-FFF2-40B4-BE49-F238E27FC236}">
                  <a16:creationId xmlns:a16="http://schemas.microsoft.com/office/drawing/2014/main" id="{90EA63C3-79EC-46CC-A259-7264DC66A938}"/>
                </a:ext>
              </a:extLst>
            </p:cNvPr>
            <p:cNvGrpSpPr/>
            <p:nvPr/>
          </p:nvGrpSpPr>
          <p:grpSpPr>
            <a:xfrm>
              <a:off x="616881" y="3260410"/>
              <a:ext cx="1547411" cy="530370"/>
              <a:chOff x="3798295" y="3376479"/>
              <a:chExt cx="1547411" cy="543270"/>
            </a:xfrm>
          </p:grpSpPr>
          <p:cxnSp>
            <p:nvCxnSpPr>
              <p:cNvPr id="121" name="Straight Arrow Connector 120">
                <a:extLst>
                  <a:ext uri="{FF2B5EF4-FFF2-40B4-BE49-F238E27FC236}">
                    <a16:creationId xmlns:a16="http://schemas.microsoft.com/office/drawing/2014/main" id="{9DABFA49-CCA4-470C-A226-4574E14624C2}"/>
                  </a:ext>
                </a:extLst>
              </p:cNvPr>
              <p:cNvCxnSpPr>
                <a:cxnSpLocks/>
              </p:cNvCxnSpPr>
              <p:nvPr/>
            </p:nvCxnSpPr>
            <p:spPr>
              <a:xfrm>
                <a:off x="4715246" y="3376479"/>
                <a:ext cx="201925" cy="216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12DD524A-CFFA-4EC8-9E93-C8E52715E9BD}"/>
                  </a:ext>
                </a:extLst>
              </p:cNvPr>
              <p:cNvSpPr txBox="1"/>
              <p:nvPr/>
            </p:nvSpPr>
            <p:spPr>
              <a:xfrm>
                <a:off x="3798295" y="3541434"/>
                <a:ext cx="1547411" cy="378315"/>
              </a:xfrm>
              <a:prstGeom prst="rect">
                <a:avLst/>
              </a:prstGeom>
              <a:noFill/>
            </p:spPr>
            <p:txBody>
              <a:bodyPr wrap="none" rtlCol="0">
                <a:spAutoFit/>
              </a:bodyPr>
              <a:lstStyle/>
              <a:p>
                <a:pPr algn="ctr"/>
                <a:r>
                  <a:rPr lang="sv-SE" dirty="0" err="1"/>
                  <a:t>Core</a:t>
                </a:r>
                <a:r>
                  <a:rPr lang="sv-SE" dirty="0"/>
                  <a:t> </a:t>
                </a:r>
                <a:r>
                  <a:rPr lang="en-US" dirty="0"/>
                  <a:t>detector</a:t>
                </a:r>
                <a:endParaRPr lang="sv-SE" dirty="0"/>
              </a:p>
            </p:txBody>
          </p:sp>
        </p:grpSp>
        <p:cxnSp>
          <p:nvCxnSpPr>
            <p:cNvPr id="114" name="Straight Arrow Connector 113">
              <a:extLst>
                <a:ext uri="{FF2B5EF4-FFF2-40B4-BE49-F238E27FC236}">
                  <a16:creationId xmlns:a16="http://schemas.microsoft.com/office/drawing/2014/main" id="{A4393D5B-DFD1-42EA-A244-06641BB9B2C5}"/>
                </a:ext>
              </a:extLst>
            </p:cNvPr>
            <p:cNvCxnSpPr>
              <a:cxnSpLocks/>
            </p:cNvCxnSpPr>
            <p:nvPr/>
          </p:nvCxnSpPr>
          <p:spPr>
            <a:xfrm>
              <a:off x="1360521" y="3236258"/>
              <a:ext cx="0" cy="293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0B3C37AF-54C7-40E1-A408-F43B6AAC18E2}"/>
                </a:ext>
              </a:extLst>
            </p:cNvPr>
            <p:cNvCxnSpPr>
              <a:cxnSpLocks/>
            </p:cNvCxnSpPr>
            <p:nvPr/>
          </p:nvCxnSpPr>
          <p:spPr>
            <a:xfrm flipH="1">
              <a:off x="933384" y="3257084"/>
              <a:ext cx="260868" cy="202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212097BB-6B7F-4668-AEEE-4A13E320F053}"/>
                </a:ext>
              </a:extLst>
            </p:cNvPr>
            <p:cNvCxnSpPr>
              <a:cxnSpLocks/>
            </p:cNvCxnSpPr>
            <p:nvPr/>
          </p:nvCxnSpPr>
          <p:spPr>
            <a:xfrm>
              <a:off x="1601708"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C4338A71-C2A3-4602-BB4C-C157435B9CF7}"/>
                </a:ext>
              </a:extLst>
            </p:cNvPr>
            <p:cNvCxnSpPr>
              <a:cxnSpLocks/>
            </p:cNvCxnSpPr>
            <p:nvPr/>
          </p:nvCxnSpPr>
          <p:spPr>
            <a:xfrm flipH="1">
              <a:off x="835501" y="3183750"/>
              <a:ext cx="302813" cy="4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D50F988F-944C-42B7-BCAB-C374AD59DE02}"/>
                </a:ext>
              </a:extLst>
            </p:cNvPr>
            <p:cNvCxnSpPr>
              <a:cxnSpLocks/>
            </p:cNvCxnSpPr>
            <p:nvPr/>
          </p:nvCxnSpPr>
          <p:spPr>
            <a:xfrm flipH="1" flipV="1">
              <a:off x="902344" y="2855187"/>
              <a:ext cx="218923" cy="173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2082230F-E2BB-4893-9B95-D0B14E13328A}"/>
                </a:ext>
              </a:extLst>
            </p:cNvPr>
            <p:cNvCxnSpPr>
              <a:cxnSpLocks/>
            </p:cNvCxnSpPr>
            <p:nvPr/>
          </p:nvCxnSpPr>
          <p:spPr>
            <a:xfrm flipV="1">
              <a:off x="1360521" y="2777202"/>
              <a:ext cx="0" cy="2575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3F284E2-12C8-4D72-BC7F-FE23AE5FA09D}"/>
                </a:ext>
              </a:extLst>
            </p:cNvPr>
            <p:cNvCxnSpPr>
              <a:cxnSpLocks/>
            </p:cNvCxnSpPr>
            <p:nvPr/>
          </p:nvCxnSpPr>
          <p:spPr>
            <a:xfrm flipV="1">
              <a:off x="1528026" y="2867774"/>
              <a:ext cx="285413" cy="173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23" name="Group 122">
            <a:extLst>
              <a:ext uri="{FF2B5EF4-FFF2-40B4-BE49-F238E27FC236}">
                <a16:creationId xmlns:a16="http://schemas.microsoft.com/office/drawing/2014/main" id="{8F119F93-BF87-4AA2-8285-777ABEB6123E}"/>
              </a:ext>
            </a:extLst>
          </p:cNvPr>
          <p:cNvGrpSpPr/>
          <p:nvPr/>
        </p:nvGrpSpPr>
        <p:grpSpPr>
          <a:xfrm>
            <a:off x="1356982" y="2904790"/>
            <a:ext cx="1064191" cy="269458"/>
            <a:chOff x="822930" y="3042795"/>
            <a:chExt cx="1064191" cy="269458"/>
          </a:xfrm>
        </p:grpSpPr>
        <p:cxnSp>
          <p:nvCxnSpPr>
            <p:cNvPr id="133" name="Straight Arrow Connector 132">
              <a:extLst>
                <a:ext uri="{FF2B5EF4-FFF2-40B4-BE49-F238E27FC236}">
                  <a16:creationId xmlns:a16="http://schemas.microsoft.com/office/drawing/2014/main" id="{BFD5E2B7-D14E-4675-843B-B753BB159E97}"/>
                </a:ext>
              </a:extLst>
            </p:cNvPr>
            <p:cNvCxnSpPr>
              <a:cxnSpLocks/>
            </p:cNvCxnSpPr>
            <p:nvPr/>
          </p:nvCxnSpPr>
          <p:spPr>
            <a:xfrm>
              <a:off x="1601708"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F5004FCA-8520-4E16-9702-502E51959BB5}"/>
                </a:ext>
              </a:extLst>
            </p:cNvPr>
            <p:cNvCxnSpPr>
              <a:cxnSpLocks/>
            </p:cNvCxnSpPr>
            <p:nvPr/>
          </p:nvCxnSpPr>
          <p:spPr>
            <a:xfrm>
              <a:off x="1233990"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100CC28E-E2FD-43B6-96B6-1E52ECE0DB3E}"/>
                </a:ext>
              </a:extLst>
            </p:cNvPr>
            <p:cNvCxnSpPr>
              <a:cxnSpLocks/>
            </p:cNvCxnSpPr>
            <p:nvPr/>
          </p:nvCxnSpPr>
          <p:spPr>
            <a:xfrm>
              <a:off x="822930" y="3312253"/>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812C016B-6FAB-4B4F-86A4-B027B0995627}"/>
                </a:ext>
              </a:extLst>
            </p:cNvPr>
            <p:cNvCxnSpPr>
              <a:cxnSpLocks/>
            </p:cNvCxnSpPr>
            <p:nvPr/>
          </p:nvCxnSpPr>
          <p:spPr>
            <a:xfrm>
              <a:off x="1601708"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2140709C-BE01-4085-80F2-638DB4AB0823}"/>
                </a:ext>
              </a:extLst>
            </p:cNvPr>
            <p:cNvCxnSpPr>
              <a:cxnSpLocks/>
            </p:cNvCxnSpPr>
            <p:nvPr/>
          </p:nvCxnSpPr>
          <p:spPr>
            <a:xfrm>
              <a:off x="1233990"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1416C478-2239-4F47-A8B6-AB08822CA206}"/>
                </a:ext>
              </a:extLst>
            </p:cNvPr>
            <p:cNvCxnSpPr>
              <a:cxnSpLocks/>
            </p:cNvCxnSpPr>
            <p:nvPr/>
          </p:nvCxnSpPr>
          <p:spPr>
            <a:xfrm>
              <a:off x="822930" y="3172412"/>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A12C86B3-0BDA-4B15-B878-D3FB1ED80D38}"/>
                </a:ext>
              </a:extLst>
            </p:cNvPr>
            <p:cNvCxnSpPr>
              <a:cxnSpLocks/>
            </p:cNvCxnSpPr>
            <p:nvPr/>
          </p:nvCxnSpPr>
          <p:spPr>
            <a:xfrm>
              <a:off x="822930"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EA3D1928-731E-44C4-8096-941FD34D522E}"/>
                </a:ext>
              </a:extLst>
            </p:cNvPr>
            <p:cNvCxnSpPr>
              <a:cxnSpLocks/>
            </p:cNvCxnSpPr>
            <p:nvPr/>
          </p:nvCxnSpPr>
          <p:spPr>
            <a:xfrm>
              <a:off x="1233990"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E1B05174-2EE2-4396-AFF0-0ED547555CC0}"/>
                </a:ext>
              </a:extLst>
            </p:cNvPr>
            <p:cNvCxnSpPr>
              <a:cxnSpLocks/>
            </p:cNvCxnSpPr>
            <p:nvPr/>
          </p:nvCxnSpPr>
          <p:spPr>
            <a:xfrm>
              <a:off x="1601708" y="3042795"/>
              <a:ext cx="285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4F98635A-2DF8-4EC5-AAC2-D402625A59EC}"/>
              </a:ext>
            </a:extLst>
          </p:cNvPr>
          <p:cNvGrpSpPr/>
          <p:nvPr/>
        </p:nvGrpSpPr>
        <p:grpSpPr>
          <a:xfrm>
            <a:off x="5826838" y="4000579"/>
            <a:ext cx="3123907" cy="1646404"/>
            <a:chOff x="5914325" y="3740703"/>
            <a:chExt cx="3123907" cy="1646404"/>
          </a:xfrm>
        </p:grpSpPr>
        <p:cxnSp>
          <p:nvCxnSpPr>
            <p:cNvPr id="143" name="Straight Arrow Connector 142">
              <a:extLst>
                <a:ext uri="{FF2B5EF4-FFF2-40B4-BE49-F238E27FC236}">
                  <a16:creationId xmlns:a16="http://schemas.microsoft.com/office/drawing/2014/main" id="{7DAF589C-D3CA-4B05-996D-5A6BFE36084A}"/>
                </a:ext>
              </a:extLst>
            </p:cNvPr>
            <p:cNvCxnSpPr/>
            <p:nvPr/>
          </p:nvCxnSpPr>
          <p:spPr>
            <a:xfrm flipV="1">
              <a:off x="6912615" y="4438494"/>
              <a:ext cx="0" cy="948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CAFFCA84-D359-4D50-A600-CE6B6855518F}"/>
                </a:ext>
              </a:extLst>
            </p:cNvPr>
            <p:cNvCxnSpPr/>
            <p:nvPr/>
          </p:nvCxnSpPr>
          <p:spPr>
            <a:xfrm>
              <a:off x="5914325" y="5387107"/>
              <a:ext cx="194624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2B58D977-F2A3-451A-8A27-92FC2E8A8E79}"/>
                </a:ext>
              </a:extLst>
            </p:cNvPr>
            <p:cNvCxnSpPr>
              <a:cxnSpLocks/>
            </p:cNvCxnSpPr>
            <p:nvPr/>
          </p:nvCxnSpPr>
          <p:spPr>
            <a:xfrm flipH="1" flipV="1">
              <a:off x="6912614" y="5144789"/>
              <a:ext cx="1" cy="242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929AFAEB-5BD2-45E7-BA2D-482594C97ADD}"/>
                </a:ext>
              </a:extLst>
            </p:cNvPr>
            <p:cNvCxnSpPr>
              <a:cxnSpLocks/>
            </p:cNvCxnSpPr>
            <p:nvPr/>
          </p:nvCxnSpPr>
          <p:spPr>
            <a:xfrm flipH="1" flipV="1">
              <a:off x="6904595" y="4832143"/>
              <a:ext cx="1" cy="296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C9E41788-4176-419D-B736-0B8ACBE2AE64}"/>
                </a:ext>
              </a:extLst>
            </p:cNvPr>
            <p:cNvCxnSpPr>
              <a:cxnSpLocks/>
            </p:cNvCxnSpPr>
            <p:nvPr/>
          </p:nvCxnSpPr>
          <p:spPr>
            <a:xfrm flipV="1">
              <a:off x="6912615" y="4555280"/>
              <a:ext cx="8020" cy="28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9B2F9D44-3C08-4CC1-A2F9-2AD37F901E2C}"/>
                </a:ext>
              </a:extLst>
            </p:cNvPr>
            <p:cNvCxnSpPr>
              <a:cxnSpLocks/>
            </p:cNvCxnSpPr>
            <p:nvPr/>
          </p:nvCxnSpPr>
          <p:spPr>
            <a:xfrm flipV="1">
              <a:off x="6904596" y="4242634"/>
              <a:ext cx="16039" cy="308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BC4EBE17-D84B-4E91-A6EF-B21BF98E8AAC}"/>
                </a:ext>
              </a:extLst>
            </p:cNvPr>
            <p:cNvCxnSpPr>
              <a:cxnSpLocks/>
            </p:cNvCxnSpPr>
            <p:nvPr/>
          </p:nvCxnSpPr>
          <p:spPr>
            <a:xfrm flipH="1" flipV="1">
              <a:off x="6928732" y="3983756"/>
              <a:ext cx="1" cy="259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4D733C04-FD6C-4121-9414-CE9AF8CC8A63}"/>
                </a:ext>
              </a:extLst>
            </p:cNvPr>
            <p:cNvCxnSpPr>
              <a:cxnSpLocks/>
            </p:cNvCxnSpPr>
            <p:nvPr/>
          </p:nvCxnSpPr>
          <p:spPr>
            <a:xfrm flipV="1">
              <a:off x="6936831" y="3740703"/>
              <a:ext cx="72" cy="26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58705E55-026C-48CC-842B-D4E42DD2DCC5}"/>
                </a:ext>
              </a:extLst>
            </p:cNvPr>
            <p:cNvSpPr txBox="1"/>
            <p:nvPr/>
          </p:nvSpPr>
          <p:spPr>
            <a:xfrm>
              <a:off x="7634065" y="4135609"/>
              <a:ext cx="1404167" cy="738664"/>
            </a:xfrm>
            <a:prstGeom prst="rect">
              <a:avLst/>
            </a:prstGeom>
            <a:noFill/>
          </p:spPr>
          <p:txBody>
            <a:bodyPr wrap="none" rtlCol="0">
              <a:spAutoFit/>
            </a:bodyPr>
            <a:lstStyle/>
            <a:p>
              <a:r>
                <a:rPr lang="sv-SE" sz="1400" dirty="0">
                  <a:solidFill>
                    <a:srgbClr val="FF0000"/>
                  </a:solidFill>
                </a:rPr>
                <a:t>Long </a:t>
              </a:r>
              <a:r>
                <a:rPr lang="sv-SE" sz="1400" dirty="0" err="1">
                  <a:solidFill>
                    <a:srgbClr val="FF0000"/>
                  </a:solidFill>
                </a:rPr>
                <a:t>vector</a:t>
              </a:r>
              <a:endParaRPr lang="sv-SE" sz="1400" dirty="0">
                <a:solidFill>
                  <a:srgbClr val="FF0000"/>
                </a:solidFill>
              </a:endParaRPr>
            </a:p>
            <a:p>
              <a:r>
                <a:rPr lang="sv-SE" sz="1400" dirty="0" err="1">
                  <a:solidFill>
                    <a:srgbClr val="FF0000"/>
                  </a:solidFill>
                </a:rPr>
                <a:t>With</a:t>
              </a:r>
              <a:r>
                <a:rPr lang="sv-SE" sz="1400" dirty="0">
                  <a:solidFill>
                    <a:srgbClr val="FF0000"/>
                  </a:solidFill>
                </a:rPr>
                <a:t> 90 </a:t>
              </a:r>
              <a:r>
                <a:rPr lang="sv-SE" sz="1400" dirty="0" err="1">
                  <a:solidFill>
                    <a:srgbClr val="FF0000"/>
                  </a:solidFill>
                </a:rPr>
                <a:t>degrees</a:t>
              </a:r>
              <a:endParaRPr lang="sv-SE" sz="1400" dirty="0">
                <a:solidFill>
                  <a:srgbClr val="FF0000"/>
                </a:solidFill>
              </a:endParaRPr>
            </a:p>
            <a:p>
              <a:r>
                <a:rPr lang="sv-SE" sz="1400" dirty="0" err="1">
                  <a:solidFill>
                    <a:srgbClr val="FF0000"/>
                  </a:solidFill>
                </a:rPr>
                <a:t>orientation</a:t>
              </a:r>
              <a:endParaRPr lang="en-US" sz="1400" dirty="0">
                <a:solidFill>
                  <a:srgbClr val="FF0000"/>
                </a:solidFill>
              </a:endParaRPr>
            </a:p>
          </p:txBody>
        </p:sp>
      </p:grpSp>
    </p:spTree>
    <p:extLst>
      <p:ext uri="{BB962C8B-B14F-4D97-AF65-F5344CB8AC3E}">
        <p14:creationId xmlns:p14="http://schemas.microsoft.com/office/powerpoint/2010/main" val="4118166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183E-A12D-4AB9-9BFA-5247DC0768D5}"/>
              </a:ext>
            </a:extLst>
          </p:cNvPr>
          <p:cNvSpPr>
            <a:spLocks noGrp="1"/>
          </p:cNvSpPr>
          <p:nvPr>
            <p:ph type="title"/>
          </p:nvPr>
        </p:nvSpPr>
        <p:spPr/>
        <p:txBody>
          <a:bodyPr>
            <a:normAutofit fontScale="90000"/>
          </a:bodyPr>
          <a:lstStyle/>
          <a:p>
            <a:r>
              <a:rPr lang="en-US" dirty="0"/>
              <a:t>Fingerprint Recognition: Detecting patterns in the image</a:t>
            </a:r>
          </a:p>
        </p:txBody>
      </p:sp>
      <p:sp>
        <p:nvSpPr>
          <p:cNvPr id="3" name="Content Placeholder 2">
            <a:extLst>
              <a:ext uri="{FF2B5EF4-FFF2-40B4-BE49-F238E27FC236}">
                <a16:creationId xmlns:a16="http://schemas.microsoft.com/office/drawing/2014/main" id="{803A591E-DA21-4768-AA1B-A2E9EE64C73E}"/>
              </a:ext>
            </a:extLst>
          </p:cNvPr>
          <p:cNvSpPr>
            <a:spLocks noGrp="1"/>
          </p:cNvSpPr>
          <p:nvPr>
            <p:ph idx="1"/>
          </p:nvPr>
        </p:nvSpPr>
        <p:spPr/>
        <p:txBody>
          <a:bodyPr/>
          <a:lstStyle/>
          <a:p>
            <a:r>
              <a:rPr lang="sv-SE" dirty="0" err="1"/>
              <a:t>Conclusions</a:t>
            </a:r>
            <a:r>
              <a:rPr lang="sv-SE" dirty="0"/>
              <a:t>:</a:t>
            </a:r>
          </a:p>
          <a:p>
            <a:pPr marL="457200" lvl="1" indent="0">
              <a:buNone/>
            </a:pPr>
            <a:endParaRPr lang="en-US" dirty="0"/>
          </a:p>
        </p:txBody>
      </p:sp>
      <p:graphicFrame>
        <p:nvGraphicFramePr>
          <p:cNvPr id="4" name="Table 4">
            <a:extLst>
              <a:ext uri="{FF2B5EF4-FFF2-40B4-BE49-F238E27FC236}">
                <a16:creationId xmlns:a16="http://schemas.microsoft.com/office/drawing/2014/main" id="{5A917771-7821-4A77-AA7F-FC60744A7C05}"/>
              </a:ext>
            </a:extLst>
          </p:cNvPr>
          <p:cNvGraphicFramePr>
            <a:graphicFrameLocks noGrp="1"/>
          </p:cNvGraphicFramePr>
          <p:nvPr>
            <p:extLst>
              <p:ext uri="{D42A27DB-BD31-4B8C-83A1-F6EECF244321}">
                <p14:modId xmlns:p14="http://schemas.microsoft.com/office/powerpoint/2010/main" val="1376539806"/>
              </p:ext>
            </p:extLst>
          </p:nvPr>
        </p:nvGraphicFramePr>
        <p:xfrm>
          <a:off x="1524000" y="3056360"/>
          <a:ext cx="6096000" cy="21996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62036633"/>
                    </a:ext>
                  </a:extLst>
                </a:gridCol>
                <a:gridCol w="2032000">
                  <a:extLst>
                    <a:ext uri="{9D8B030D-6E8A-4147-A177-3AD203B41FA5}">
                      <a16:colId xmlns:a16="http://schemas.microsoft.com/office/drawing/2014/main" val="674224019"/>
                    </a:ext>
                  </a:extLst>
                </a:gridCol>
                <a:gridCol w="2032000">
                  <a:extLst>
                    <a:ext uri="{9D8B030D-6E8A-4147-A177-3AD203B41FA5}">
                      <a16:colId xmlns:a16="http://schemas.microsoft.com/office/drawing/2014/main" val="1853435890"/>
                    </a:ext>
                  </a:extLst>
                </a:gridCol>
              </a:tblGrid>
              <a:tr h="370840">
                <a:tc>
                  <a:txBody>
                    <a:bodyPr/>
                    <a:lstStyle/>
                    <a:p>
                      <a:pPr algn="ctr"/>
                      <a:endParaRPr lang="en-US"/>
                    </a:p>
                  </a:txBody>
                  <a:tcPr/>
                </a:tc>
                <a:tc>
                  <a:txBody>
                    <a:bodyPr/>
                    <a:lstStyle/>
                    <a:p>
                      <a:pPr algn="ctr"/>
                      <a:r>
                        <a:rPr lang="sv-SE" dirty="0" err="1"/>
                        <a:t>Parallel</a:t>
                      </a:r>
                      <a:r>
                        <a:rPr lang="sv-SE" dirty="0"/>
                        <a:t> </a:t>
                      </a:r>
                      <a:r>
                        <a:rPr lang="sv-SE" dirty="0" err="1"/>
                        <a:t>pattern</a:t>
                      </a:r>
                      <a:endParaRPr lang="en-US" dirty="0"/>
                    </a:p>
                  </a:txBody>
                  <a:tcPr/>
                </a:tc>
                <a:tc>
                  <a:txBody>
                    <a:bodyPr/>
                    <a:lstStyle/>
                    <a:p>
                      <a:pPr algn="ctr"/>
                      <a:r>
                        <a:rPr lang="sv-SE" dirty="0" err="1"/>
                        <a:t>Core</a:t>
                      </a:r>
                      <a:r>
                        <a:rPr lang="sv-SE" dirty="0"/>
                        <a:t> </a:t>
                      </a:r>
                      <a:r>
                        <a:rPr lang="sv-SE" dirty="0" err="1"/>
                        <a:t>pattern</a:t>
                      </a:r>
                      <a:endParaRPr lang="en-US" dirty="0"/>
                    </a:p>
                  </a:txBody>
                  <a:tcPr/>
                </a:tc>
                <a:extLst>
                  <a:ext uri="{0D108BD9-81ED-4DB2-BD59-A6C34878D82A}">
                    <a16:rowId xmlns:a16="http://schemas.microsoft.com/office/drawing/2014/main" val="3119767494"/>
                  </a:ext>
                </a:extLst>
              </a:tr>
              <a:tr h="370840">
                <a:tc>
                  <a:txBody>
                    <a:bodyPr/>
                    <a:lstStyle/>
                    <a:p>
                      <a:pPr algn="ctr"/>
                      <a:r>
                        <a:rPr lang="sv-SE" dirty="0">
                          <a:solidFill>
                            <a:schemeClr val="bg1"/>
                          </a:solidFill>
                        </a:rPr>
                        <a:t>Filter for </a:t>
                      </a:r>
                      <a:r>
                        <a:rPr lang="sv-SE" dirty="0" err="1">
                          <a:solidFill>
                            <a:schemeClr val="bg1"/>
                          </a:solidFill>
                        </a:rPr>
                        <a:t>lines</a:t>
                      </a:r>
                      <a:endParaRPr lang="en-US" dirty="0">
                        <a:solidFill>
                          <a:schemeClr val="bg1"/>
                        </a:solidFill>
                      </a:endParaRPr>
                    </a:p>
                  </a:txBody>
                  <a:tcPr>
                    <a:solidFill>
                      <a:schemeClr val="accent1"/>
                    </a:solidFill>
                  </a:tcPr>
                </a:tc>
                <a:tc>
                  <a:txBody>
                    <a:bodyPr/>
                    <a:lstStyle/>
                    <a:p>
                      <a:pPr algn="ctr"/>
                      <a:r>
                        <a:rPr lang="sv-SE" dirty="0"/>
                        <a:t>Long </a:t>
                      </a:r>
                      <a:r>
                        <a:rPr lang="sv-SE" dirty="0" err="1"/>
                        <a:t>vector</a:t>
                      </a:r>
                      <a:r>
                        <a:rPr lang="sv-SE" dirty="0"/>
                        <a:t> </a:t>
                      </a:r>
                      <a:r>
                        <a:rPr lang="sv-SE" dirty="0" err="1"/>
                        <a:t>with</a:t>
                      </a:r>
                      <a:r>
                        <a:rPr lang="sv-SE" dirty="0"/>
                        <a:t> same </a:t>
                      </a:r>
                      <a:r>
                        <a:rPr lang="sv-SE" dirty="0" err="1"/>
                        <a:t>direction</a:t>
                      </a:r>
                      <a:r>
                        <a:rPr lang="sv-SE" dirty="0"/>
                        <a:t> as </a:t>
                      </a:r>
                      <a:r>
                        <a:rPr lang="sv-SE" dirty="0" err="1"/>
                        <a:t>pattern</a:t>
                      </a:r>
                      <a:endParaRPr lang="en-US" dirty="0"/>
                    </a:p>
                  </a:txBody>
                  <a:tcPr/>
                </a:tc>
                <a:tc>
                  <a:txBody>
                    <a:bodyPr/>
                    <a:lstStyle/>
                    <a:p>
                      <a:pPr algn="ctr"/>
                      <a:r>
                        <a:rPr lang="sv-SE" dirty="0" err="1"/>
                        <a:t>Zero</a:t>
                      </a:r>
                      <a:r>
                        <a:rPr lang="sv-SE" dirty="0"/>
                        <a:t> or </a:t>
                      </a:r>
                      <a:r>
                        <a:rPr lang="sv-SE" dirty="0" err="1"/>
                        <a:t>null</a:t>
                      </a:r>
                      <a:r>
                        <a:rPr lang="sv-SE" dirty="0"/>
                        <a:t> </a:t>
                      </a:r>
                      <a:r>
                        <a:rPr lang="sv-SE" dirty="0" err="1"/>
                        <a:t>vector</a:t>
                      </a:r>
                      <a:endParaRPr lang="en-US" dirty="0"/>
                    </a:p>
                  </a:txBody>
                  <a:tcPr/>
                </a:tc>
                <a:extLst>
                  <a:ext uri="{0D108BD9-81ED-4DB2-BD59-A6C34878D82A}">
                    <a16:rowId xmlns:a16="http://schemas.microsoft.com/office/drawing/2014/main" val="2282872827"/>
                  </a:ext>
                </a:extLst>
              </a:tr>
              <a:tr h="370840">
                <a:tc>
                  <a:txBody>
                    <a:bodyPr/>
                    <a:lstStyle/>
                    <a:p>
                      <a:pPr algn="ctr"/>
                      <a:r>
                        <a:rPr lang="sv-SE" dirty="0">
                          <a:solidFill>
                            <a:schemeClr val="bg1"/>
                          </a:solidFill>
                        </a:rPr>
                        <a:t>Filter for </a:t>
                      </a:r>
                      <a:r>
                        <a:rPr lang="sv-SE" dirty="0" err="1">
                          <a:solidFill>
                            <a:schemeClr val="bg1"/>
                          </a:solidFill>
                        </a:rPr>
                        <a:t>cores</a:t>
                      </a:r>
                      <a:endParaRPr lang="en-US" dirty="0">
                        <a:solidFill>
                          <a:schemeClr val="bg1"/>
                        </a:solidFill>
                      </a:endParaRPr>
                    </a:p>
                  </a:txBody>
                  <a:tcPr>
                    <a:solidFill>
                      <a:schemeClr val="accent1"/>
                    </a:solidFill>
                  </a:tcPr>
                </a:tc>
                <a:tc>
                  <a:txBody>
                    <a:bodyPr/>
                    <a:lstStyle/>
                    <a:p>
                      <a:pPr algn="ctr"/>
                      <a:r>
                        <a:rPr lang="sv-SE" dirty="0" err="1"/>
                        <a:t>Zero</a:t>
                      </a:r>
                      <a:r>
                        <a:rPr lang="sv-SE" dirty="0"/>
                        <a:t> or </a:t>
                      </a:r>
                      <a:r>
                        <a:rPr lang="sv-SE" dirty="0" err="1"/>
                        <a:t>null</a:t>
                      </a:r>
                      <a:r>
                        <a:rPr lang="sv-SE" dirty="0"/>
                        <a:t> </a:t>
                      </a:r>
                      <a:r>
                        <a:rPr lang="sv-SE" dirty="0" err="1"/>
                        <a:t>vector</a:t>
                      </a:r>
                      <a:endParaRPr lang="en-US" dirty="0"/>
                    </a:p>
                  </a:txBody>
                  <a:tcPr/>
                </a:tc>
                <a:tc>
                  <a:txBody>
                    <a:bodyPr/>
                    <a:lstStyle/>
                    <a:p>
                      <a:pPr algn="ctr"/>
                      <a:r>
                        <a:rPr lang="sv-SE" dirty="0"/>
                        <a:t>Long </a:t>
                      </a:r>
                      <a:r>
                        <a:rPr lang="sv-SE" dirty="0" err="1"/>
                        <a:t>vector</a:t>
                      </a:r>
                      <a:r>
                        <a:rPr lang="sv-SE" dirty="0"/>
                        <a:t> </a:t>
                      </a:r>
                      <a:r>
                        <a:rPr lang="sv-SE" dirty="0" err="1"/>
                        <a:t>with</a:t>
                      </a:r>
                      <a:r>
                        <a:rPr lang="sv-SE" dirty="0"/>
                        <a:t> </a:t>
                      </a:r>
                      <a:r>
                        <a:rPr lang="sv-SE" dirty="0" err="1"/>
                        <a:t>orientation</a:t>
                      </a:r>
                      <a:r>
                        <a:rPr lang="sv-SE" dirty="0"/>
                        <a:t> </a:t>
                      </a:r>
                      <a:r>
                        <a:rPr lang="sv-SE" dirty="0" err="1"/>
                        <a:t>of</a:t>
                      </a:r>
                      <a:r>
                        <a:rPr lang="sv-SE" dirty="0"/>
                        <a:t> 90 </a:t>
                      </a:r>
                      <a:r>
                        <a:rPr lang="sv-SE" dirty="0" err="1"/>
                        <a:t>degrees</a:t>
                      </a:r>
                      <a:endParaRPr lang="en-US" dirty="0"/>
                    </a:p>
                  </a:txBody>
                  <a:tcPr/>
                </a:tc>
                <a:extLst>
                  <a:ext uri="{0D108BD9-81ED-4DB2-BD59-A6C34878D82A}">
                    <a16:rowId xmlns:a16="http://schemas.microsoft.com/office/drawing/2014/main" val="589949682"/>
                  </a:ext>
                </a:extLst>
              </a:tr>
            </a:tbl>
          </a:graphicData>
        </a:graphic>
      </p:graphicFrame>
    </p:spTree>
    <p:extLst>
      <p:ext uri="{BB962C8B-B14F-4D97-AF65-F5344CB8AC3E}">
        <p14:creationId xmlns:p14="http://schemas.microsoft.com/office/powerpoint/2010/main" val="3077027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ACF3-FA6D-4274-A7BD-7BCEB927138E}"/>
              </a:ext>
            </a:extLst>
          </p:cNvPr>
          <p:cNvSpPr>
            <a:spLocks noGrp="1"/>
          </p:cNvSpPr>
          <p:nvPr>
            <p:ph type="title"/>
          </p:nvPr>
        </p:nvSpPr>
        <p:spPr/>
        <p:txBody>
          <a:bodyPr>
            <a:normAutofit fontScale="90000"/>
          </a:bodyPr>
          <a:lstStyle/>
          <a:p>
            <a:r>
              <a:rPr lang="en-US" dirty="0"/>
              <a:t>Fingerprint Recognition: Detecting minutia points</a:t>
            </a:r>
          </a:p>
        </p:txBody>
      </p:sp>
      <p:sp>
        <p:nvSpPr>
          <p:cNvPr id="3" name="Content Placeholder 2">
            <a:extLst>
              <a:ext uri="{FF2B5EF4-FFF2-40B4-BE49-F238E27FC236}">
                <a16:creationId xmlns:a16="http://schemas.microsoft.com/office/drawing/2014/main" id="{F17DD5AE-5504-432B-95C8-EC908CED21AA}"/>
              </a:ext>
            </a:extLst>
          </p:cNvPr>
          <p:cNvSpPr>
            <a:spLocks noGrp="1"/>
          </p:cNvSpPr>
          <p:nvPr>
            <p:ph idx="1"/>
          </p:nvPr>
        </p:nvSpPr>
        <p:spPr/>
        <p:txBody>
          <a:bodyPr>
            <a:normAutofit/>
          </a:bodyPr>
          <a:lstStyle/>
          <a:p>
            <a:r>
              <a:rPr lang="sv-SE" sz="2400" dirty="0" err="1"/>
              <a:t>Minutia</a:t>
            </a:r>
            <a:r>
              <a:rPr lang="sv-SE" sz="2400" dirty="0"/>
              <a:t> </a:t>
            </a:r>
            <a:r>
              <a:rPr lang="sv-SE" sz="2400" dirty="0" err="1"/>
              <a:t>points</a:t>
            </a:r>
            <a:r>
              <a:rPr lang="sv-SE" sz="2400" dirty="0"/>
              <a:t> </a:t>
            </a:r>
            <a:r>
              <a:rPr lang="sv-SE" sz="2400" dirty="0" err="1"/>
              <a:t>are</a:t>
            </a:r>
            <a:r>
              <a:rPr lang="sv-SE" sz="2400" dirty="0"/>
              <a:t> </a:t>
            </a:r>
            <a:r>
              <a:rPr lang="sv-SE" sz="2400" dirty="0" err="1"/>
              <a:t>located</a:t>
            </a:r>
            <a:r>
              <a:rPr lang="sv-SE" sz="2400" dirty="0"/>
              <a:t> </a:t>
            </a:r>
            <a:r>
              <a:rPr lang="sv-SE" sz="2400" dirty="0" err="1"/>
              <a:t>where</a:t>
            </a:r>
            <a:r>
              <a:rPr lang="sv-SE" sz="2400" dirty="0"/>
              <a:t> a </a:t>
            </a:r>
            <a:r>
              <a:rPr lang="sv-SE" sz="2400" dirty="0" err="1"/>
              <a:t>ridge</a:t>
            </a:r>
            <a:r>
              <a:rPr lang="sv-SE" sz="2400" dirty="0"/>
              <a:t> </a:t>
            </a:r>
            <a:r>
              <a:rPr lang="sv-SE" sz="2400" dirty="0" err="1"/>
              <a:t>ends</a:t>
            </a:r>
            <a:r>
              <a:rPr lang="sv-SE" sz="2400" dirty="0"/>
              <a:t> or </a:t>
            </a:r>
            <a:r>
              <a:rPr lang="sv-SE" sz="2400" dirty="0" err="1"/>
              <a:t>there</a:t>
            </a:r>
            <a:r>
              <a:rPr lang="sv-SE" sz="2400" dirty="0"/>
              <a:t> is a </a:t>
            </a:r>
            <a:r>
              <a:rPr lang="sv-SE" sz="2400" dirty="0" err="1"/>
              <a:t>bifurcation</a:t>
            </a:r>
            <a:r>
              <a:rPr lang="sv-SE" sz="2400" dirty="0"/>
              <a:t> </a:t>
            </a:r>
          </a:p>
          <a:p>
            <a:r>
              <a:rPr lang="sv-SE" sz="2400" dirty="0" err="1"/>
              <a:t>Both</a:t>
            </a:r>
            <a:r>
              <a:rPr lang="sv-SE" sz="2400" dirty="0"/>
              <a:t> </a:t>
            </a:r>
            <a:r>
              <a:rPr lang="sv-SE" sz="2400" dirty="0" err="1"/>
              <a:t>can</a:t>
            </a:r>
            <a:r>
              <a:rPr lang="sv-SE" sz="2400" dirty="0"/>
              <a:t> be </a:t>
            </a:r>
            <a:r>
              <a:rPr lang="sv-SE" sz="2400" dirty="0" err="1"/>
              <a:t>detecting</a:t>
            </a:r>
            <a:r>
              <a:rPr lang="sv-SE" sz="2400" dirty="0"/>
              <a:t> </a:t>
            </a:r>
            <a:r>
              <a:rPr lang="sv-SE" sz="2400" dirty="0" err="1"/>
              <a:t>using</a:t>
            </a:r>
            <a:r>
              <a:rPr lang="sv-SE" sz="2400" dirty="0"/>
              <a:t> the same filter </a:t>
            </a:r>
            <a:r>
              <a:rPr lang="sv-SE" sz="2400" dirty="0" err="1"/>
              <a:t>since</a:t>
            </a:r>
            <a:r>
              <a:rPr lang="sv-SE" sz="2400" dirty="0"/>
              <a:t> </a:t>
            </a:r>
            <a:r>
              <a:rPr lang="sv-SE" sz="2400" dirty="0" err="1"/>
              <a:t>they</a:t>
            </a:r>
            <a:r>
              <a:rPr lang="sv-SE" sz="2400" dirty="0"/>
              <a:t> </a:t>
            </a:r>
            <a:r>
              <a:rPr lang="sv-SE" sz="2400" dirty="0" err="1"/>
              <a:t>have</a:t>
            </a:r>
            <a:r>
              <a:rPr lang="sv-SE" sz="2400" dirty="0"/>
              <a:t> the same </a:t>
            </a:r>
            <a:r>
              <a:rPr lang="sv-SE" sz="2400" dirty="0" err="1"/>
              <a:t>shape</a:t>
            </a:r>
            <a:r>
              <a:rPr lang="sv-SE" sz="2400" dirty="0"/>
              <a:t> </a:t>
            </a:r>
            <a:r>
              <a:rPr lang="sv-SE" sz="2400" dirty="0" err="1"/>
              <a:t>but</a:t>
            </a:r>
            <a:r>
              <a:rPr lang="sv-SE" sz="2400" dirty="0"/>
              <a:t> </a:t>
            </a:r>
            <a:r>
              <a:rPr lang="sv-SE" sz="2400" dirty="0" err="1"/>
              <a:t>oposite</a:t>
            </a:r>
            <a:r>
              <a:rPr lang="sv-SE" sz="2400" dirty="0"/>
              <a:t> colors, so the gradients </a:t>
            </a:r>
            <a:r>
              <a:rPr lang="sv-SE" sz="2400" dirty="0" err="1"/>
              <a:t>will</a:t>
            </a:r>
            <a:r>
              <a:rPr lang="sv-SE" sz="2400" dirty="0"/>
              <a:t> be the same </a:t>
            </a:r>
            <a:r>
              <a:rPr lang="sv-SE" sz="2400" dirty="0" err="1"/>
              <a:t>after</a:t>
            </a:r>
            <a:r>
              <a:rPr lang="sv-SE" sz="2400" dirty="0"/>
              <a:t> the ”double” </a:t>
            </a:r>
            <a:r>
              <a:rPr lang="sv-SE" sz="2400" dirty="0" err="1"/>
              <a:t>correction</a:t>
            </a:r>
            <a:endParaRPr lang="sv-SE" sz="2400" dirty="0"/>
          </a:p>
          <a:p>
            <a:r>
              <a:rPr lang="sv-SE" sz="2400" dirty="0" err="1"/>
              <a:t>Since</a:t>
            </a:r>
            <a:r>
              <a:rPr lang="sv-SE" sz="2400" dirty="0"/>
              <a:t> </a:t>
            </a:r>
            <a:r>
              <a:rPr lang="sv-SE" sz="2400" dirty="0" err="1"/>
              <a:t>minutia</a:t>
            </a:r>
            <a:r>
              <a:rPr lang="sv-SE" sz="2400" dirty="0"/>
              <a:t> </a:t>
            </a:r>
            <a:r>
              <a:rPr lang="sv-SE" sz="2400" dirty="0" err="1"/>
              <a:t>points</a:t>
            </a:r>
            <a:r>
              <a:rPr lang="sv-SE" sz="2400" dirty="0"/>
              <a:t> ”look like” </a:t>
            </a:r>
            <a:r>
              <a:rPr lang="sv-SE" sz="2400" dirty="0" err="1"/>
              <a:t>core-patterns</a:t>
            </a:r>
            <a:r>
              <a:rPr lang="sv-SE" sz="2400" dirty="0"/>
              <a:t> </a:t>
            </a:r>
            <a:r>
              <a:rPr lang="sv-SE" sz="2400" dirty="0" err="1"/>
              <a:t>we</a:t>
            </a:r>
            <a:r>
              <a:rPr lang="sv-SE" sz="2400" dirty="0"/>
              <a:t> </a:t>
            </a:r>
            <a:r>
              <a:rPr lang="sv-SE" sz="2400" dirty="0" err="1"/>
              <a:t>can</a:t>
            </a:r>
            <a:r>
              <a:rPr lang="sv-SE" sz="2400" dirty="0"/>
              <a:t> </a:t>
            </a:r>
            <a:r>
              <a:rPr lang="sv-SE" sz="2400" dirty="0" err="1"/>
              <a:t>use</a:t>
            </a:r>
            <a:r>
              <a:rPr lang="sv-SE" sz="2400" dirty="0"/>
              <a:t> the same filter to </a:t>
            </a:r>
            <a:r>
              <a:rPr lang="sv-SE" sz="2400" dirty="0" err="1"/>
              <a:t>detect</a:t>
            </a:r>
            <a:r>
              <a:rPr lang="sv-SE" sz="2400" dirty="0"/>
              <a:t> </a:t>
            </a:r>
            <a:r>
              <a:rPr lang="sv-SE" sz="2400" dirty="0" err="1"/>
              <a:t>them</a:t>
            </a:r>
            <a:endParaRPr lang="en-US" sz="2400" dirty="0"/>
          </a:p>
        </p:txBody>
      </p:sp>
      <p:pic>
        <p:nvPicPr>
          <p:cNvPr id="4" name="Picture 3" descr="A picture containing stone, snow&#10;&#10;Description automatically generated">
            <a:extLst>
              <a:ext uri="{FF2B5EF4-FFF2-40B4-BE49-F238E27FC236}">
                <a16:creationId xmlns:a16="http://schemas.microsoft.com/office/drawing/2014/main" id="{DFA45F29-AA40-468C-AA62-11ED791A8F36}"/>
              </a:ext>
            </a:extLst>
          </p:cNvPr>
          <p:cNvPicPr>
            <a:picLocks noChangeAspect="1"/>
          </p:cNvPicPr>
          <p:nvPr/>
        </p:nvPicPr>
        <p:blipFill rotWithShape="1">
          <a:blip r:embed="rId2"/>
          <a:srcRect l="10356" t="33422" r="79585" b="58879"/>
          <a:stretch/>
        </p:blipFill>
        <p:spPr>
          <a:xfrm>
            <a:off x="2290192" y="4855128"/>
            <a:ext cx="947957" cy="1031597"/>
          </a:xfrm>
          <a:prstGeom prst="rect">
            <a:avLst/>
          </a:prstGeom>
        </p:spPr>
      </p:pic>
      <p:pic>
        <p:nvPicPr>
          <p:cNvPr id="5" name="Picture 4" descr="A picture containing stone, snow&#10;&#10;Description automatically generated">
            <a:extLst>
              <a:ext uri="{FF2B5EF4-FFF2-40B4-BE49-F238E27FC236}">
                <a16:creationId xmlns:a16="http://schemas.microsoft.com/office/drawing/2014/main" id="{847D7A23-BF9B-4DA9-B411-028DAC796C47}"/>
              </a:ext>
            </a:extLst>
          </p:cNvPr>
          <p:cNvPicPr>
            <a:picLocks noChangeAspect="1"/>
          </p:cNvPicPr>
          <p:nvPr/>
        </p:nvPicPr>
        <p:blipFill rotWithShape="1">
          <a:blip r:embed="rId2"/>
          <a:srcRect l="63905" t="71916" r="23077" b="20593"/>
          <a:stretch/>
        </p:blipFill>
        <p:spPr>
          <a:xfrm>
            <a:off x="5637403" y="4855127"/>
            <a:ext cx="947957" cy="1031597"/>
          </a:xfrm>
          <a:prstGeom prst="rect">
            <a:avLst/>
          </a:prstGeom>
        </p:spPr>
      </p:pic>
      <p:sp>
        <p:nvSpPr>
          <p:cNvPr id="6" name="TextBox 5">
            <a:extLst>
              <a:ext uri="{FF2B5EF4-FFF2-40B4-BE49-F238E27FC236}">
                <a16:creationId xmlns:a16="http://schemas.microsoft.com/office/drawing/2014/main" id="{112AD5AC-89AD-4A0F-8128-C65CA1922D8A}"/>
              </a:ext>
            </a:extLst>
          </p:cNvPr>
          <p:cNvSpPr txBox="1"/>
          <p:nvPr/>
        </p:nvSpPr>
        <p:spPr>
          <a:xfrm>
            <a:off x="2167372" y="6006517"/>
            <a:ext cx="1193596" cy="369332"/>
          </a:xfrm>
          <a:prstGeom prst="rect">
            <a:avLst/>
          </a:prstGeom>
          <a:noFill/>
        </p:spPr>
        <p:txBody>
          <a:bodyPr wrap="none" rtlCol="0">
            <a:spAutoFit/>
          </a:bodyPr>
          <a:lstStyle/>
          <a:p>
            <a:r>
              <a:rPr lang="sv-SE" dirty="0" err="1"/>
              <a:t>Bifurcation</a:t>
            </a:r>
            <a:endParaRPr lang="en-US" dirty="0"/>
          </a:p>
        </p:txBody>
      </p:sp>
      <p:sp>
        <p:nvSpPr>
          <p:cNvPr id="7" name="TextBox 6">
            <a:extLst>
              <a:ext uri="{FF2B5EF4-FFF2-40B4-BE49-F238E27FC236}">
                <a16:creationId xmlns:a16="http://schemas.microsoft.com/office/drawing/2014/main" id="{FCE42C24-D034-4036-A79F-332CF09AD54A}"/>
              </a:ext>
            </a:extLst>
          </p:cNvPr>
          <p:cNvSpPr txBox="1"/>
          <p:nvPr/>
        </p:nvSpPr>
        <p:spPr>
          <a:xfrm>
            <a:off x="5715278" y="6006517"/>
            <a:ext cx="792205" cy="369332"/>
          </a:xfrm>
          <a:prstGeom prst="rect">
            <a:avLst/>
          </a:prstGeom>
          <a:noFill/>
        </p:spPr>
        <p:txBody>
          <a:bodyPr wrap="none" rtlCol="0">
            <a:spAutoFit/>
          </a:bodyPr>
          <a:lstStyle/>
          <a:p>
            <a:r>
              <a:rPr lang="sv-SE" dirty="0" err="1"/>
              <a:t>ending</a:t>
            </a:r>
            <a:endParaRPr lang="en-US" dirty="0"/>
          </a:p>
        </p:txBody>
      </p:sp>
    </p:spTree>
    <p:extLst>
      <p:ext uri="{BB962C8B-B14F-4D97-AF65-F5344CB8AC3E}">
        <p14:creationId xmlns:p14="http://schemas.microsoft.com/office/powerpoint/2010/main" val="1722677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ACF3-FA6D-4274-A7BD-7BCEB927138E}"/>
              </a:ext>
            </a:extLst>
          </p:cNvPr>
          <p:cNvSpPr>
            <a:spLocks noGrp="1"/>
          </p:cNvSpPr>
          <p:nvPr>
            <p:ph type="title"/>
          </p:nvPr>
        </p:nvSpPr>
        <p:spPr/>
        <p:txBody>
          <a:bodyPr>
            <a:normAutofit fontScale="90000"/>
          </a:bodyPr>
          <a:lstStyle/>
          <a:p>
            <a:r>
              <a:rPr lang="en-US" dirty="0"/>
              <a:t>Fingerprint Recognition: Detecting minutia points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7DD5AE-5504-432B-95C8-EC908CED21AA}"/>
                  </a:ext>
                </a:extLst>
              </p:cNvPr>
              <p:cNvSpPr>
                <a:spLocks noGrp="1"/>
              </p:cNvSpPr>
              <p:nvPr>
                <p:ph idx="1"/>
              </p:nvPr>
            </p:nvSpPr>
            <p:spPr/>
            <p:txBody>
              <a:bodyPr>
                <a:normAutofit fontScale="92500" lnSpcReduction="10000"/>
              </a:bodyPr>
              <a:lstStyle/>
              <a:p>
                <a:r>
                  <a:rPr lang="sv-SE" sz="1800" dirty="0"/>
                  <a:t>We </a:t>
                </a:r>
                <a:r>
                  <a:rPr lang="sv-SE" sz="1800" dirty="0" err="1"/>
                  <a:t>will</a:t>
                </a:r>
                <a:r>
                  <a:rPr lang="sv-SE" sz="1800" dirty="0"/>
                  <a:t> </a:t>
                </a:r>
                <a:r>
                  <a:rPr lang="sv-SE" sz="1800" dirty="0" err="1"/>
                  <a:t>use</a:t>
                </a:r>
                <a:r>
                  <a:rPr lang="sv-SE" sz="1800" dirty="0"/>
                  <a:t> </a:t>
                </a:r>
                <a:r>
                  <a:rPr lang="sv-SE" sz="1800" dirty="0" err="1"/>
                  <a:t>both</a:t>
                </a:r>
                <a:r>
                  <a:rPr lang="sv-SE" sz="1800" dirty="0"/>
                  <a:t> filters </a:t>
                </a:r>
                <a:r>
                  <a:rPr lang="sv-SE" sz="1800" dirty="0" err="1"/>
                  <a:t>shown</a:t>
                </a:r>
                <a:r>
                  <a:rPr lang="sv-SE" sz="1800" dirty="0"/>
                  <a:t> </a:t>
                </a:r>
                <a:r>
                  <a:rPr lang="sv-SE" sz="1800" dirty="0" err="1"/>
                  <a:t>before</a:t>
                </a:r>
                <a:r>
                  <a:rPr lang="sv-SE" sz="1800" dirty="0"/>
                  <a:t> to </a:t>
                </a:r>
                <a:r>
                  <a:rPr lang="sv-SE" sz="1800" dirty="0" err="1"/>
                  <a:t>detect</a:t>
                </a:r>
                <a:r>
                  <a:rPr lang="sv-SE" sz="1800" dirty="0"/>
                  <a:t> </a:t>
                </a:r>
                <a:r>
                  <a:rPr lang="sv-SE" sz="1800" dirty="0" err="1"/>
                  <a:t>minutia</a:t>
                </a:r>
                <a:r>
                  <a:rPr lang="sv-SE" sz="1800" dirty="0"/>
                  <a:t> </a:t>
                </a:r>
                <a:r>
                  <a:rPr lang="sv-SE" sz="1800" dirty="0" err="1"/>
                  <a:t>points</a:t>
                </a:r>
                <a:endParaRPr lang="sv-SE" sz="1800" dirty="0"/>
              </a:p>
              <a:p>
                <a:r>
                  <a:rPr lang="sv-SE" sz="1800" dirty="0" err="1"/>
                  <a:t>Linear</a:t>
                </a:r>
                <a:r>
                  <a:rPr lang="sv-SE" sz="1800" dirty="0"/>
                  <a:t> </a:t>
                </a:r>
                <a:r>
                  <a:rPr lang="sv-SE" sz="1800" dirty="0" err="1"/>
                  <a:t>pattern</a:t>
                </a:r>
                <a:r>
                  <a:rPr lang="sv-SE" sz="1800" dirty="0"/>
                  <a:t> filter:</a:t>
                </a:r>
              </a:p>
              <a:p>
                <a:pPr lvl="1"/>
                <a:r>
                  <a:rPr lang="sv-SE" sz="1800" dirty="0"/>
                  <a:t>Long </a:t>
                </a:r>
                <a:r>
                  <a:rPr lang="sv-SE" sz="1800" dirty="0" err="1"/>
                  <a:t>arrow</a:t>
                </a:r>
                <a:r>
                  <a:rPr lang="sv-SE" sz="1800" dirty="0"/>
                  <a:t> in </a:t>
                </a:r>
                <a:r>
                  <a:rPr lang="sv-SE" sz="1800" dirty="0" err="1"/>
                  <a:t>presence</a:t>
                </a:r>
                <a:r>
                  <a:rPr lang="sv-SE" sz="1800" dirty="0"/>
                  <a:t> </a:t>
                </a:r>
                <a:r>
                  <a:rPr lang="sv-SE" sz="1800" dirty="0" err="1"/>
                  <a:t>of</a:t>
                </a:r>
                <a:r>
                  <a:rPr lang="sv-SE" sz="1800" dirty="0"/>
                  <a:t> </a:t>
                </a:r>
                <a:r>
                  <a:rPr lang="sv-SE" sz="1800" dirty="0" err="1"/>
                  <a:t>parallel</a:t>
                </a:r>
                <a:r>
                  <a:rPr lang="sv-SE" sz="1800" dirty="0"/>
                  <a:t> </a:t>
                </a:r>
                <a:r>
                  <a:rPr lang="sv-SE" sz="1800" dirty="0" err="1"/>
                  <a:t>lines</a:t>
                </a:r>
                <a:endParaRPr lang="sv-SE" sz="1800" dirty="0"/>
              </a:p>
              <a:p>
                <a:pPr lvl="1"/>
                <a:r>
                  <a:rPr lang="sv-SE" sz="1800" dirty="0"/>
                  <a:t>Small or </a:t>
                </a:r>
                <a:r>
                  <a:rPr lang="sv-SE" sz="1800" dirty="0" err="1"/>
                  <a:t>null</a:t>
                </a:r>
                <a:r>
                  <a:rPr lang="sv-SE" sz="1800" dirty="0"/>
                  <a:t> </a:t>
                </a:r>
                <a:r>
                  <a:rPr lang="sv-SE" sz="1800" dirty="0" err="1"/>
                  <a:t>where</a:t>
                </a:r>
                <a:r>
                  <a:rPr lang="sv-SE" sz="1800" dirty="0"/>
                  <a:t> </a:t>
                </a:r>
                <a:r>
                  <a:rPr lang="sv-SE" sz="1800" dirty="0" err="1"/>
                  <a:t>there</a:t>
                </a:r>
                <a:r>
                  <a:rPr lang="sv-SE" sz="1800" dirty="0"/>
                  <a:t> is a </a:t>
                </a:r>
                <a:r>
                  <a:rPr lang="sv-SE" sz="1800" dirty="0" err="1"/>
                  <a:t>core</a:t>
                </a:r>
                <a:r>
                  <a:rPr lang="sv-SE" sz="1800" dirty="0"/>
                  <a:t>-like </a:t>
                </a:r>
                <a:r>
                  <a:rPr lang="sv-SE" sz="1800" dirty="0" err="1"/>
                  <a:t>pattern</a:t>
                </a:r>
                <a:r>
                  <a:rPr lang="sv-SE" sz="1800" dirty="0"/>
                  <a:t> (</a:t>
                </a:r>
                <a:r>
                  <a:rPr lang="sv-SE" sz="1800" dirty="0" err="1"/>
                  <a:t>minutia</a:t>
                </a:r>
                <a:r>
                  <a:rPr lang="sv-SE" sz="1800" dirty="0"/>
                  <a:t> </a:t>
                </a:r>
                <a:r>
                  <a:rPr lang="sv-SE" sz="1800" dirty="0" err="1"/>
                  <a:t>too</a:t>
                </a:r>
                <a:r>
                  <a:rPr lang="sv-SE" sz="1800" dirty="0"/>
                  <a:t>)</a:t>
                </a:r>
              </a:p>
              <a:p>
                <a:r>
                  <a:rPr lang="sv-SE" sz="1800" dirty="0" err="1"/>
                  <a:t>Core</a:t>
                </a:r>
                <a:r>
                  <a:rPr lang="sv-SE" sz="1800" dirty="0"/>
                  <a:t> </a:t>
                </a:r>
                <a:r>
                  <a:rPr lang="sv-SE" sz="1800" dirty="0" err="1"/>
                  <a:t>pattern</a:t>
                </a:r>
                <a:r>
                  <a:rPr lang="sv-SE" sz="1800" dirty="0"/>
                  <a:t> filter:</a:t>
                </a:r>
              </a:p>
              <a:p>
                <a:pPr lvl="1"/>
                <a:r>
                  <a:rPr lang="sv-SE" sz="1800" dirty="0"/>
                  <a:t>Long </a:t>
                </a:r>
                <a:r>
                  <a:rPr lang="sv-SE" sz="1800" dirty="0" err="1"/>
                  <a:t>arrow</a:t>
                </a:r>
                <a:r>
                  <a:rPr lang="sv-SE" sz="1800" dirty="0"/>
                  <a:t> in </a:t>
                </a:r>
                <a:r>
                  <a:rPr lang="sv-SE" sz="1800" dirty="0" err="1"/>
                  <a:t>presence</a:t>
                </a:r>
                <a:r>
                  <a:rPr lang="sv-SE" sz="1800" dirty="0"/>
                  <a:t> </a:t>
                </a:r>
                <a:r>
                  <a:rPr lang="sv-SE" sz="1800" dirty="0" err="1"/>
                  <a:t>of</a:t>
                </a:r>
                <a:r>
                  <a:rPr lang="sv-SE" sz="1800" dirty="0"/>
                  <a:t> </a:t>
                </a:r>
                <a:r>
                  <a:rPr lang="sv-SE" sz="1800" dirty="0" err="1"/>
                  <a:t>core</a:t>
                </a:r>
                <a:r>
                  <a:rPr lang="sv-SE" sz="1800" dirty="0"/>
                  <a:t> </a:t>
                </a:r>
                <a:r>
                  <a:rPr lang="sv-SE" sz="1800" dirty="0" err="1"/>
                  <a:t>pattern</a:t>
                </a:r>
                <a:endParaRPr lang="sv-SE" sz="1800" dirty="0"/>
              </a:p>
              <a:p>
                <a:pPr lvl="1"/>
                <a:r>
                  <a:rPr lang="sv-SE" sz="1800" dirty="0"/>
                  <a:t>Small or </a:t>
                </a:r>
                <a:r>
                  <a:rPr lang="sv-SE" sz="1800" dirty="0" err="1"/>
                  <a:t>null</a:t>
                </a:r>
                <a:r>
                  <a:rPr lang="sv-SE" sz="1800" dirty="0"/>
                  <a:t> in regions </a:t>
                </a:r>
                <a:r>
                  <a:rPr lang="sv-SE" sz="1800" dirty="0" err="1"/>
                  <a:t>where</a:t>
                </a:r>
                <a:r>
                  <a:rPr lang="sv-SE" sz="1800" dirty="0"/>
                  <a:t> </a:t>
                </a:r>
                <a:r>
                  <a:rPr lang="sv-SE" sz="1800" dirty="0" err="1"/>
                  <a:t>there</a:t>
                </a:r>
                <a:r>
                  <a:rPr lang="sv-SE" sz="1800" dirty="0"/>
                  <a:t> is </a:t>
                </a:r>
                <a:r>
                  <a:rPr lang="sv-SE" sz="1800" dirty="0" err="1"/>
                  <a:t>only</a:t>
                </a:r>
                <a:r>
                  <a:rPr lang="sv-SE" sz="1800" dirty="0"/>
                  <a:t> </a:t>
                </a:r>
                <a:r>
                  <a:rPr lang="sv-SE" sz="1800" dirty="0" err="1"/>
                  <a:t>parallel</a:t>
                </a:r>
                <a:r>
                  <a:rPr lang="sv-SE" sz="1800" dirty="0"/>
                  <a:t> </a:t>
                </a:r>
                <a:r>
                  <a:rPr lang="sv-SE" sz="1800" dirty="0" err="1"/>
                  <a:t>lines</a:t>
                </a:r>
                <a:endParaRPr lang="sv-SE" sz="1800" dirty="0"/>
              </a:p>
              <a:p>
                <a:pPr lvl="1"/>
                <a:endParaRPr lang="sv-SE" sz="1800" dirty="0"/>
              </a:p>
              <a:p>
                <a:pPr marL="457200" lvl="1" indent="0">
                  <a:buNone/>
                </a:pPr>
                <a14:m>
                  <m:oMathPara xmlns:m="http://schemas.openxmlformats.org/officeDocument/2006/math">
                    <m:oMathParaPr>
                      <m:jc m:val="centerGroup"/>
                    </m:oMathParaPr>
                    <m:oMath xmlns:m="http://schemas.openxmlformats.org/officeDocument/2006/math">
                      <m:r>
                        <a:rPr lang="sv-SE" sz="1800" b="0" i="1" smtClean="0">
                          <a:latin typeface="Cambria Math" panose="02040503050406030204" pitchFamily="18" charset="0"/>
                        </a:rPr>
                        <m:t>𝑀</m:t>
                      </m:r>
                      <m:r>
                        <a:rPr lang="sv-SE" sz="1800" b="0" i="1" smtClean="0">
                          <a:latin typeface="Cambria Math" panose="02040503050406030204" pitchFamily="18" charset="0"/>
                        </a:rPr>
                        <m:t>= </m:t>
                      </m:r>
                      <m:d>
                        <m:dPr>
                          <m:begChr m:val="|"/>
                          <m:endChr m:val="|"/>
                          <m:ctrlPr>
                            <a:rPr lang="sv-SE" sz="1800" b="0" i="1" smtClean="0">
                              <a:latin typeface="Cambria Math" panose="02040503050406030204" pitchFamily="18" charset="0"/>
                            </a:rPr>
                          </m:ctrlPr>
                        </m:dPr>
                        <m:e>
                          <m:r>
                            <a:rPr lang="sv-SE" sz="1800" b="0" i="1" smtClean="0">
                              <a:latin typeface="Cambria Math" panose="02040503050406030204" pitchFamily="18" charset="0"/>
                            </a:rPr>
                            <m:t>𝐶</m:t>
                          </m:r>
                        </m:e>
                      </m:d>
                      <m:r>
                        <a:rPr lang="sv-SE" sz="1800" b="0" i="1" smtClean="0">
                          <a:latin typeface="Cambria Math" panose="02040503050406030204" pitchFamily="18" charset="0"/>
                        </a:rPr>
                        <m:t>(1−</m:t>
                      </m:r>
                      <m:d>
                        <m:dPr>
                          <m:begChr m:val="|"/>
                          <m:endChr m:val="|"/>
                          <m:ctrlPr>
                            <a:rPr lang="sv-SE" sz="1800" b="0" i="1" smtClean="0">
                              <a:latin typeface="Cambria Math" panose="02040503050406030204" pitchFamily="18" charset="0"/>
                            </a:rPr>
                          </m:ctrlPr>
                        </m:dPr>
                        <m:e>
                          <m:r>
                            <a:rPr lang="sv-SE" sz="1800" b="0" i="1" smtClean="0">
                              <a:latin typeface="Cambria Math" panose="02040503050406030204" pitchFamily="18" charset="0"/>
                            </a:rPr>
                            <m:t>𝐿</m:t>
                          </m:r>
                        </m:e>
                      </m:d>
                      <m:r>
                        <a:rPr lang="sv-SE" sz="1800" b="0" i="1" smtClean="0">
                          <a:latin typeface="Cambria Math" panose="02040503050406030204" pitchFamily="18" charset="0"/>
                        </a:rPr>
                        <m:t>)</m:t>
                      </m:r>
                    </m:oMath>
                  </m:oMathPara>
                </a14:m>
                <a:endParaRPr lang="en-US" sz="1800" dirty="0"/>
              </a:p>
              <a:p>
                <a:r>
                  <a:rPr lang="sv-SE" sz="1800" dirty="0" err="1"/>
                  <a:t>Where</a:t>
                </a:r>
                <a:r>
                  <a:rPr lang="sv-SE" sz="1800" dirty="0"/>
                  <a:t> C </a:t>
                </a:r>
                <a:r>
                  <a:rPr lang="sv-SE" sz="1800" dirty="0" err="1"/>
                  <a:t>represents</a:t>
                </a:r>
                <a:r>
                  <a:rPr lang="sv-SE" sz="1800" dirty="0"/>
                  <a:t> the output </a:t>
                </a:r>
                <a:r>
                  <a:rPr lang="sv-SE" sz="1800" dirty="0" err="1"/>
                  <a:t>of</a:t>
                </a:r>
                <a:r>
                  <a:rPr lang="sv-SE" sz="1800" dirty="0"/>
                  <a:t> the </a:t>
                </a:r>
                <a:r>
                  <a:rPr lang="sv-SE" sz="1800" dirty="0" err="1"/>
                  <a:t>scalar</a:t>
                </a:r>
                <a:r>
                  <a:rPr lang="sv-SE" sz="1800" dirty="0"/>
                  <a:t> </a:t>
                </a:r>
                <a:r>
                  <a:rPr lang="sv-SE" sz="1800" dirty="0" err="1"/>
                  <a:t>prduct</a:t>
                </a:r>
                <a:r>
                  <a:rPr lang="sv-SE" sz="1800" dirty="0"/>
                  <a:t> </a:t>
                </a:r>
                <a:r>
                  <a:rPr lang="sv-SE" sz="1800" dirty="0" err="1"/>
                  <a:t>with</a:t>
                </a:r>
                <a:r>
                  <a:rPr lang="sv-SE" sz="1800" dirty="0"/>
                  <a:t> the </a:t>
                </a:r>
                <a:r>
                  <a:rPr lang="sv-SE" sz="1800" dirty="0" err="1"/>
                  <a:t>core</a:t>
                </a:r>
                <a:r>
                  <a:rPr lang="sv-SE" sz="1800" dirty="0"/>
                  <a:t> filter and the L </a:t>
                </a:r>
                <a:r>
                  <a:rPr lang="sv-SE" sz="1800" dirty="0" err="1"/>
                  <a:t>represents</a:t>
                </a:r>
                <a:r>
                  <a:rPr lang="sv-SE" sz="1800" dirty="0"/>
                  <a:t> the output </a:t>
                </a:r>
                <a:r>
                  <a:rPr lang="sv-SE" sz="1800" dirty="0" err="1"/>
                  <a:t>with</a:t>
                </a:r>
                <a:r>
                  <a:rPr lang="sv-SE" sz="1800" dirty="0"/>
                  <a:t> the </a:t>
                </a:r>
                <a:r>
                  <a:rPr lang="sv-SE" sz="1800" dirty="0" err="1"/>
                  <a:t>parallel</a:t>
                </a:r>
                <a:r>
                  <a:rPr lang="sv-SE" sz="1800" dirty="0"/>
                  <a:t> filter</a:t>
                </a:r>
                <a:endParaRPr lang="en-US" sz="1800" dirty="0"/>
              </a:p>
              <a:p>
                <a:r>
                  <a:rPr lang="en-US" sz="1800" dirty="0"/>
                  <a:t>if we consider that C ~ 1 when there is a core pattern and ~ otherwise and L ~ 1 when it is a parallel lines regions and ~ 0 otherwise</a:t>
                </a:r>
              </a:p>
              <a:p>
                <a14:m>
                  <m:oMath xmlns:m="http://schemas.openxmlformats.org/officeDocument/2006/math">
                    <m:r>
                      <a:rPr lang="sv-SE" sz="1800" b="0" i="1" smtClean="0">
                        <a:latin typeface="Cambria Math" panose="02040503050406030204" pitchFamily="18" charset="0"/>
                      </a:rPr>
                      <m:t>𝑀</m:t>
                    </m:r>
                    <m:r>
                      <a:rPr lang="sv-SE" sz="1800" b="0" i="1" smtClean="0">
                        <a:latin typeface="Cambria Math" panose="02040503050406030204" pitchFamily="18" charset="0"/>
                      </a:rPr>
                      <m:t> ∈ </m:t>
                    </m:r>
                    <m:d>
                      <m:dPr>
                        <m:begChr m:val="["/>
                        <m:endChr m:val="]"/>
                        <m:ctrlPr>
                          <a:rPr lang="sv-SE" sz="1800" b="0" i="1" smtClean="0">
                            <a:latin typeface="Cambria Math" panose="02040503050406030204" pitchFamily="18" charset="0"/>
                            <a:ea typeface="Cambria Math" panose="02040503050406030204" pitchFamily="18" charset="0"/>
                          </a:rPr>
                        </m:ctrlPr>
                      </m:dPr>
                      <m:e>
                        <m:r>
                          <a:rPr lang="sv-SE" sz="1800" b="0" i="1" smtClean="0">
                            <a:latin typeface="Cambria Math" panose="02040503050406030204" pitchFamily="18" charset="0"/>
                            <a:ea typeface="Cambria Math" panose="02040503050406030204" pitchFamily="18" charset="0"/>
                          </a:rPr>
                          <m:t>0,1</m:t>
                        </m:r>
                      </m:e>
                    </m:d>
                  </m:oMath>
                </a14:m>
                <a:r>
                  <a:rPr lang="en-US" sz="1800" dirty="0"/>
                  <a:t> with ~ 1 when in presence of a minutia point/core pattern</a:t>
                </a:r>
              </a:p>
              <a:p>
                <a14:m>
                  <m:oMath xmlns:m="http://schemas.openxmlformats.org/officeDocument/2006/math">
                    <m:r>
                      <a:rPr lang="sv-SE" sz="1800" i="1">
                        <a:latin typeface="Cambria Math" panose="02040503050406030204" pitchFamily="18" charset="0"/>
                      </a:rPr>
                      <m:t>(1−</m:t>
                    </m:r>
                    <m:d>
                      <m:dPr>
                        <m:begChr m:val="|"/>
                        <m:endChr m:val="|"/>
                        <m:ctrlPr>
                          <a:rPr lang="sv-SE" sz="1800" i="1">
                            <a:latin typeface="Cambria Math" panose="02040503050406030204" pitchFamily="18" charset="0"/>
                          </a:rPr>
                        </m:ctrlPr>
                      </m:dPr>
                      <m:e>
                        <m:r>
                          <a:rPr lang="sv-SE" sz="1800" i="1">
                            <a:latin typeface="Cambria Math" panose="02040503050406030204" pitchFamily="18" charset="0"/>
                          </a:rPr>
                          <m:t>𝐿</m:t>
                        </m:r>
                      </m:e>
                    </m:d>
                    <m:r>
                      <a:rPr lang="sv-SE" sz="1800" i="1">
                        <a:latin typeface="Cambria Math" panose="02040503050406030204" pitchFamily="18" charset="0"/>
                      </a:rPr>
                      <m:t>)</m:t>
                    </m:r>
                  </m:oMath>
                </a14:m>
                <a:r>
                  <a:rPr lang="en-US" sz="1800" dirty="0"/>
                  <a:t> is to reinforce that in the presence of a minutia point the output for parallel lines should be close to 0</a:t>
                </a:r>
              </a:p>
              <a:p>
                <a:endParaRPr lang="en-US" sz="1800" dirty="0"/>
              </a:p>
            </p:txBody>
          </p:sp>
        </mc:Choice>
        <mc:Fallback xmlns="">
          <p:sp>
            <p:nvSpPr>
              <p:cNvPr id="3" name="Content Placeholder 2">
                <a:extLst>
                  <a:ext uri="{FF2B5EF4-FFF2-40B4-BE49-F238E27FC236}">
                    <a16:creationId xmlns:a16="http://schemas.microsoft.com/office/drawing/2014/main" id="{F17DD5AE-5504-432B-95C8-EC908CED21AA}"/>
                  </a:ext>
                </a:extLst>
              </p:cNvPr>
              <p:cNvSpPr>
                <a:spLocks noGrp="1" noRot="1" noChangeAspect="1" noMove="1" noResize="1" noEditPoints="1" noAdjustHandles="1" noChangeArrowheads="1" noChangeShapeType="1" noTextEdit="1"/>
              </p:cNvSpPr>
              <p:nvPr>
                <p:ph idx="1"/>
              </p:nvPr>
            </p:nvSpPr>
            <p:spPr>
              <a:blipFill>
                <a:blip r:embed="rId2"/>
                <a:stretch>
                  <a:fillRect l="-364" t="-1078"/>
                </a:stretch>
              </a:blipFill>
            </p:spPr>
            <p:txBody>
              <a:bodyPr/>
              <a:lstStyle/>
              <a:p>
                <a:r>
                  <a:rPr lang="en-US">
                    <a:noFill/>
                  </a:rPr>
                  <a:t> </a:t>
                </a:r>
              </a:p>
            </p:txBody>
          </p:sp>
        </mc:Fallback>
      </mc:AlternateContent>
    </p:spTree>
    <p:extLst>
      <p:ext uri="{BB962C8B-B14F-4D97-AF65-F5344CB8AC3E}">
        <p14:creationId xmlns:p14="http://schemas.microsoft.com/office/powerpoint/2010/main" val="1921616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75BA7-BE2F-42BB-AE2A-1C76634B1B54}"/>
              </a:ext>
            </a:extLst>
          </p:cNvPr>
          <p:cNvSpPr>
            <a:spLocks noGrp="1"/>
          </p:cNvSpPr>
          <p:nvPr>
            <p:ph type="title"/>
          </p:nvPr>
        </p:nvSpPr>
        <p:spPr>
          <a:xfrm>
            <a:off x="457199" y="306258"/>
            <a:ext cx="8368749" cy="1143000"/>
          </a:xfrm>
        </p:spPr>
        <p:txBody>
          <a:bodyPr>
            <a:normAutofit fontScale="90000"/>
          </a:bodyPr>
          <a:lstStyle/>
          <a:p>
            <a:r>
              <a:rPr lang="sv-SE" dirty="0"/>
              <a:t>Fingerprint </a:t>
            </a:r>
            <a:r>
              <a:rPr lang="sv-SE" dirty="0" err="1"/>
              <a:t>Recognition</a:t>
            </a:r>
            <a:r>
              <a:rPr lang="sv-SE" dirty="0"/>
              <a:t>: Pyramid </a:t>
            </a:r>
            <a:r>
              <a:rPr lang="sv-SE" dirty="0" err="1"/>
              <a:t>detection</a:t>
            </a:r>
            <a:endParaRPr lang="en-US" dirty="0"/>
          </a:p>
        </p:txBody>
      </p:sp>
      <p:pic>
        <p:nvPicPr>
          <p:cNvPr id="5" name="Content Placeholder 4" descr="A picture containing stone, snow&#10;&#10;Description automatically generated">
            <a:extLst>
              <a:ext uri="{FF2B5EF4-FFF2-40B4-BE49-F238E27FC236}">
                <a16:creationId xmlns:a16="http://schemas.microsoft.com/office/drawing/2014/main" id="{745D0401-1B1E-4C9E-9E0E-325C13487E38}"/>
              </a:ext>
            </a:extLst>
          </p:cNvPr>
          <p:cNvPicPr>
            <a:picLocks noGrp="1" noChangeAspect="1"/>
          </p:cNvPicPr>
          <p:nvPr>
            <p:ph idx="1"/>
          </p:nvPr>
        </p:nvPicPr>
        <p:blipFill>
          <a:blip r:embed="rId2"/>
          <a:stretch>
            <a:fillRect/>
          </a:stretch>
        </p:blipFill>
        <p:spPr>
          <a:xfrm rot="5400000">
            <a:off x="3734073" y="5034078"/>
            <a:ext cx="1418692" cy="2017203"/>
          </a:xfrm>
          <a:prstGeom prst="rect">
            <a:avLst/>
          </a:prstGeom>
        </p:spPr>
      </p:pic>
      <p:pic>
        <p:nvPicPr>
          <p:cNvPr id="6" name="Content Placeholder 4" descr="A picture containing stone, snow&#10;&#10;Description automatically generated">
            <a:extLst>
              <a:ext uri="{FF2B5EF4-FFF2-40B4-BE49-F238E27FC236}">
                <a16:creationId xmlns:a16="http://schemas.microsoft.com/office/drawing/2014/main" id="{86E1F56E-83B3-44BE-BC4A-537358FC9CE4}"/>
              </a:ext>
            </a:extLst>
          </p:cNvPr>
          <p:cNvPicPr>
            <a:picLocks noChangeAspect="1"/>
          </p:cNvPicPr>
          <p:nvPr/>
        </p:nvPicPr>
        <p:blipFill>
          <a:blip r:embed="rId2"/>
          <a:stretch>
            <a:fillRect/>
          </a:stretch>
        </p:blipFill>
        <p:spPr>
          <a:xfrm rot="5400000">
            <a:off x="3985886" y="4682779"/>
            <a:ext cx="915065" cy="1301108"/>
          </a:xfrm>
          <a:prstGeom prst="rect">
            <a:avLst/>
          </a:prstGeom>
        </p:spPr>
      </p:pic>
      <p:pic>
        <p:nvPicPr>
          <p:cNvPr id="7" name="Content Placeholder 4" descr="A picture containing stone, snow&#10;&#10;Description automatically generated">
            <a:extLst>
              <a:ext uri="{FF2B5EF4-FFF2-40B4-BE49-F238E27FC236}">
                <a16:creationId xmlns:a16="http://schemas.microsoft.com/office/drawing/2014/main" id="{14349CA0-4FDD-483A-8C39-3BA7DDFA4560}"/>
              </a:ext>
            </a:extLst>
          </p:cNvPr>
          <p:cNvPicPr>
            <a:picLocks noChangeAspect="1"/>
          </p:cNvPicPr>
          <p:nvPr/>
        </p:nvPicPr>
        <p:blipFill>
          <a:blip r:embed="rId2"/>
          <a:stretch>
            <a:fillRect/>
          </a:stretch>
        </p:blipFill>
        <p:spPr>
          <a:xfrm rot="5400000">
            <a:off x="4170024" y="4487068"/>
            <a:ext cx="546788" cy="777464"/>
          </a:xfrm>
          <a:prstGeom prst="rect">
            <a:avLst/>
          </a:prstGeom>
        </p:spPr>
      </p:pic>
      <p:pic>
        <p:nvPicPr>
          <p:cNvPr id="8" name="Content Placeholder 4" descr="A picture containing stone, snow&#10;&#10;Description automatically generated">
            <a:extLst>
              <a:ext uri="{FF2B5EF4-FFF2-40B4-BE49-F238E27FC236}">
                <a16:creationId xmlns:a16="http://schemas.microsoft.com/office/drawing/2014/main" id="{FF0805BD-29F5-44A9-8FE2-9A7E1E9C135F}"/>
              </a:ext>
            </a:extLst>
          </p:cNvPr>
          <p:cNvPicPr>
            <a:picLocks noChangeAspect="1"/>
          </p:cNvPicPr>
          <p:nvPr/>
        </p:nvPicPr>
        <p:blipFill>
          <a:blip r:embed="rId2"/>
          <a:stretch>
            <a:fillRect/>
          </a:stretch>
        </p:blipFill>
        <p:spPr>
          <a:xfrm rot="5400000">
            <a:off x="4281591" y="4299739"/>
            <a:ext cx="323652" cy="460193"/>
          </a:xfrm>
          <a:prstGeom prst="rect">
            <a:avLst/>
          </a:prstGeom>
        </p:spPr>
      </p:pic>
      <p:pic>
        <p:nvPicPr>
          <p:cNvPr id="9" name="Content Placeholder 4" descr="A picture containing stone, snow&#10;&#10;Description automatically generated">
            <a:extLst>
              <a:ext uri="{FF2B5EF4-FFF2-40B4-BE49-F238E27FC236}">
                <a16:creationId xmlns:a16="http://schemas.microsoft.com/office/drawing/2014/main" id="{DECD400F-F08F-4FF6-803B-182A8BEE3B1F}"/>
              </a:ext>
            </a:extLst>
          </p:cNvPr>
          <p:cNvPicPr>
            <a:picLocks noChangeAspect="1"/>
          </p:cNvPicPr>
          <p:nvPr/>
        </p:nvPicPr>
        <p:blipFill>
          <a:blip r:embed="rId2"/>
          <a:stretch>
            <a:fillRect/>
          </a:stretch>
        </p:blipFill>
        <p:spPr>
          <a:xfrm rot="5400000">
            <a:off x="4364862" y="4216404"/>
            <a:ext cx="157109" cy="223390"/>
          </a:xfrm>
          <a:prstGeom prst="rect">
            <a:avLst/>
          </a:prstGeom>
        </p:spPr>
      </p:pic>
      <p:cxnSp>
        <p:nvCxnSpPr>
          <p:cNvPr id="11" name="Straight Arrow Connector 10">
            <a:extLst>
              <a:ext uri="{FF2B5EF4-FFF2-40B4-BE49-F238E27FC236}">
                <a16:creationId xmlns:a16="http://schemas.microsoft.com/office/drawing/2014/main" id="{8FEEB73A-ECCF-4AB2-9868-E901B391CA4A}"/>
              </a:ext>
            </a:extLst>
          </p:cNvPr>
          <p:cNvCxnSpPr>
            <a:cxnSpLocks/>
          </p:cNvCxnSpPr>
          <p:nvPr/>
        </p:nvCxnSpPr>
        <p:spPr>
          <a:xfrm>
            <a:off x="5577856" y="5333333"/>
            <a:ext cx="0" cy="141869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975C60F-28CC-4F9F-A90B-6A58BF0E5FB8}"/>
              </a:ext>
            </a:extLst>
          </p:cNvPr>
          <p:cNvSpPr txBox="1"/>
          <p:nvPr/>
        </p:nvSpPr>
        <p:spPr>
          <a:xfrm>
            <a:off x="5577856" y="5731615"/>
            <a:ext cx="992579" cy="369332"/>
          </a:xfrm>
          <a:prstGeom prst="rect">
            <a:avLst/>
          </a:prstGeom>
          <a:noFill/>
        </p:spPr>
        <p:txBody>
          <a:bodyPr wrap="none" rtlCol="0">
            <a:spAutoFit/>
          </a:bodyPr>
          <a:lstStyle/>
          <a:p>
            <a:r>
              <a:rPr lang="sv-SE" dirty="0"/>
              <a:t>256x256</a:t>
            </a:r>
            <a:endParaRPr lang="en-US" dirty="0"/>
          </a:p>
        </p:txBody>
      </p:sp>
      <p:cxnSp>
        <p:nvCxnSpPr>
          <p:cNvPr id="14" name="Straight Arrow Connector 13">
            <a:extLst>
              <a:ext uri="{FF2B5EF4-FFF2-40B4-BE49-F238E27FC236}">
                <a16:creationId xmlns:a16="http://schemas.microsoft.com/office/drawing/2014/main" id="{FE2F55A8-B036-4630-A2FC-3D6CCDEE747B}"/>
              </a:ext>
            </a:extLst>
          </p:cNvPr>
          <p:cNvCxnSpPr>
            <a:cxnSpLocks/>
          </p:cNvCxnSpPr>
          <p:nvPr/>
        </p:nvCxnSpPr>
        <p:spPr>
          <a:xfrm flipV="1">
            <a:off x="3668064" y="4875800"/>
            <a:ext cx="0" cy="91506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EF05594-659E-4DE0-88DF-4ED8E435D743}"/>
              </a:ext>
            </a:extLst>
          </p:cNvPr>
          <p:cNvSpPr txBox="1"/>
          <p:nvPr/>
        </p:nvSpPr>
        <p:spPr>
          <a:xfrm>
            <a:off x="2674450" y="5149194"/>
            <a:ext cx="992579" cy="369332"/>
          </a:xfrm>
          <a:prstGeom prst="rect">
            <a:avLst/>
          </a:prstGeom>
          <a:noFill/>
        </p:spPr>
        <p:txBody>
          <a:bodyPr wrap="none" rtlCol="0">
            <a:spAutoFit/>
          </a:bodyPr>
          <a:lstStyle/>
          <a:p>
            <a:r>
              <a:rPr lang="sv-SE" dirty="0"/>
              <a:t>128x128</a:t>
            </a:r>
            <a:endParaRPr lang="en-US" dirty="0"/>
          </a:p>
        </p:txBody>
      </p:sp>
      <p:cxnSp>
        <p:nvCxnSpPr>
          <p:cNvPr id="20" name="Straight Arrow Connector 19">
            <a:extLst>
              <a:ext uri="{FF2B5EF4-FFF2-40B4-BE49-F238E27FC236}">
                <a16:creationId xmlns:a16="http://schemas.microsoft.com/office/drawing/2014/main" id="{269B4C04-5591-408A-9F72-568F2B7A2E40}"/>
              </a:ext>
            </a:extLst>
          </p:cNvPr>
          <p:cNvCxnSpPr>
            <a:cxnSpLocks/>
          </p:cNvCxnSpPr>
          <p:nvPr/>
        </p:nvCxnSpPr>
        <p:spPr>
          <a:xfrm flipV="1">
            <a:off x="4969755" y="4602407"/>
            <a:ext cx="0" cy="5467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3B9E47D-2A96-4448-8BA9-CF281C278D76}"/>
              </a:ext>
            </a:extLst>
          </p:cNvPr>
          <p:cNvSpPr txBox="1"/>
          <p:nvPr/>
        </p:nvSpPr>
        <p:spPr>
          <a:xfrm>
            <a:off x="4969755" y="4691662"/>
            <a:ext cx="761747" cy="369332"/>
          </a:xfrm>
          <a:prstGeom prst="rect">
            <a:avLst/>
          </a:prstGeom>
          <a:noFill/>
        </p:spPr>
        <p:txBody>
          <a:bodyPr wrap="none" rtlCol="0">
            <a:spAutoFit/>
          </a:bodyPr>
          <a:lstStyle/>
          <a:p>
            <a:r>
              <a:rPr lang="sv-SE" dirty="0"/>
              <a:t>64x64</a:t>
            </a:r>
            <a:endParaRPr lang="en-US" dirty="0"/>
          </a:p>
        </p:txBody>
      </p:sp>
      <p:cxnSp>
        <p:nvCxnSpPr>
          <p:cNvPr id="23" name="Straight Arrow Connector 22">
            <a:extLst>
              <a:ext uri="{FF2B5EF4-FFF2-40B4-BE49-F238E27FC236}">
                <a16:creationId xmlns:a16="http://schemas.microsoft.com/office/drawing/2014/main" id="{82154F46-F571-41B8-9983-6FB20D2DBE78}"/>
              </a:ext>
            </a:extLst>
          </p:cNvPr>
          <p:cNvCxnSpPr>
            <a:cxnSpLocks/>
          </p:cNvCxnSpPr>
          <p:nvPr/>
        </p:nvCxnSpPr>
        <p:spPr>
          <a:xfrm flipV="1">
            <a:off x="4135056" y="4368010"/>
            <a:ext cx="0" cy="32365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E2D79F9-E014-46C2-A6F6-CCEE33BFE298}"/>
              </a:ext>
            </a:extLst>
          </p:cNvPr>
          <p:cNvSpPr txBox="1"/>
          <p:nvPr/>
        </p:nvSpPr>
        <p:spPr>
          <a:xfrm>
            <a:off x="3394671" y="4345169"/>
            <a:ext cx="761747" cy="369332"/>
          </a:xfrm>
          <a:prstGeom prst="rect">
            <a:avLst/>
          </a:prstGeom>
          <a:noFill/>
        </p:spPr>
        <p:txBody>
          <a:bodyPr wrap="none" rtlCol="0">
            <a:spAutoFit/>
          </a:bodyPr>
          <a:lstStyle/>
          <a:p>
            <a:r>
              <a:rPr lang="sv-SE" dirty="0"/>
              <a:t>32x32</a:t>
            </a:r>
            <a:endParaRPr lang="en-US" dirty="0"/>
          </a:p>
        </p:txBody>
      </p:sp>
      <p:cxnSp>
        <p:nvCxnSpPr>
          <p:cNvPr id="26" name="Straight Arrow Connector 25">
            <a:extLst>
              <a:ext uri="{FF2B5EF4-FFF2-40B4-BE49-F238E27FC236}">
                <a16:creationId xmlns:a16="http://schemas.microsoft.com/office/drawing/2014/main" id="{48FE4A7D-A37F-45E6-BA4E-7EA19FE1AC80}"/>
              </a:ext>
            </a:extLst>
          </p:cNvPr>
          <p:cNvCxnSpPr>
            <a:cxnSpLocks/>
          </p:cNvCxnSpPr>
          <p:nvPr/>
        </p:nvCxnSpPr>
        <p:spPr>
          <a:xfrm flipV="1">
            <a:off x="4654060" y="4249544"/>
            <a:ext cx="0" cy="1571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7EC5D66-9AE1-4AA6-964B-57DBE582A27D}"/>
              </a:ext>
            </a:extLst>
          </p:cNvPr>
          <p:cNvSpPr txBox="1"/>
          <p:nvPr/>
        </p:nvSpPr>
        <p:spPr>
          <a:xfrm>
            <a:off x="4660899" y="4160503"/>
            <a:ext cx="761747" cy="369332"/>
          </a:xfrm>
          <a:prstGeom prst="rect">
            <a:avLst/>
          </a:prstGeom>
          <a:noFill/>
        </p:spPr>
        <p:txBody>
          <a:bodyPr wrap="none" rtlCol="0">
            <a:spAutoFit/>
          </a:bodyPr>
          <a:lstStyle/>
          <a:p>
            <a:r>
              <a:rPr lang="sv-SE" dirty="0"/>
              <a:t>16x16</a:t>
            </a:r>
            <a:endParaRPr lang="en-US" dirty="0"/>
          </a:p>
        </p:txBody>
      </p:sp>
      <p:sp>
        <p:nvSpPr>
          <p:cNvPr id="29" name="TextBox 28">
            <a:extLst>
              <a:ext uri="{FF2B5EF4-FFF2-40B4-BE49-F238E27FC236}">
                <a16:creationId xmlns:a16="http://schemas.microsoft.com/office/drawing/2014/main" id="{569BA6B2-AB65-4F97-8699-DD1466D894C9}"/>
              </a:ext>
            </a:extLst>
          </p:cNvPr>
          <p:cNvSpPr txBox="1"/>
          <p:nvPr/>
        </p:nvSpPr>
        <p:spPr>
          <a:xfrm>
            <a:off x="5652427" y="6042679"/>
            <a:ext cx="843436" cy="369332"/>
          </a:xfrm>
          <a:prstGeom prst="rect">
            <a:avLst/>
          </a:prstGeom>
          <a:noFill/>
        </p:spPr>
        <p:txBody>
          <a:bodyPr wrap="none" rtlCol="0">
            <a:spAutoFit/>
          </a:bodyPr>
          <a:lstStyle/>
          <a:p>
            <a:r>
              <a:rPr lang="sv-SE" dirty="0" err="1"/>
              <a:t>Level</a:t>
            </a:r>
            <a:r>
              <a:rPr lang="sv-SE" dirty="0"/>
              <a:t> 0</a:t>
            </a:r>
            <a:endParaRPr lang="en-US" dirty="0"/>
          </a:p>
        </p:txBody>
      </p:sp>
      <p:sp>
        <p:nvSpPr>
          <p:cNvPr id="30" name="TextBox 29">
            <a:extLst>
              <a:ext uri="{FF2B5EF4-FFF2-40B4-BE49-F238E27FC236}">
                <a16:creationId xmlns:a16="http://schemas.microsoft.com/office/drawing/2014/main" id="{A05599EF-3639-4122-88EB-BE64C8DDDEE5}"/>
              </a:ext>
            </a:extLst>
          </p:cNvPr>
          <p:cNvSpPr txBox="1"/>
          <p:nvPr/>
        </p:nvSpPr>
        <p:spPr>
          <a:xfrm>
            <a:off x="2750058" y="5421533"/>
            <a:ext cx="843436" cy="369332"/>
          </a:xfrm>
          <a:prstGeom prst="rect">
            <a:avLst/>
          </a:prstGeom>
          <a:noFill/>
        </p:spPr>
        <p:txBody>
          <a:bodyPr wrap="none" rtlCol="0">
            <a:spAutoFit/>
          </a:bodyPr>
          <a:lstStyle/>
          <a:p>
            <a:r>
              <a:rPr lang="sv-SE" dirty="0" err="1"/>
              <a:t>Level</a:t>
            </a:r>
            <a:r>
              <a:rPr lang="sv-SE" dirty="0"/>
              <a:t> 1</a:t>
            </a:r>
            <a:endParaRPr lang="en-US" dirty="0"/>
          </a:p>
        </p:txBody>
      </p:sp>
      <p:sp>
        <p:nvSpPr>
          <p:cNvPr id="31" name="TextBox 30">
            <a:extLst>
              <a:ext uri="{FF2B5EF4-FFF2-40B4-BE49-F238E27FC236}">
                <a16:creationId xmlns:a16="http://schemas.microsoft.com/office/drawing/2014/main" id="{D81F0B25-AA99-4394-91F0-21AD3F149B2E}"/>
              </a:ext>
            </a:extLst>
          </p:cNvPr>
          <p:cNvSpPr txBox="1"/>
          <p:nvPr/>
        </p:nvSpPr>
        <p:spPr>
          <a:xfrm>
            <a:off x="4928910" y="4928117"/>
            <a:ext cx="843436" cy="369332"/>
          </a:xfrm>
          <a:prstGeom prst="rect">
            <a:avLst/>
          </a:prstGeom>
          <a:noFill/>
        </p:spPr>
        <p:txBody>
          <a:bodyPr wrap="none" rtlCol="0">
            <a:spAutoFit/>
          </a:bodyPr>
          <a:lstStyle/>
          <a:p>
            <a:r>
              <a:rPr lang="sv-SE" dirty="0" err="1"/>
              <a:t>Level</a:t>
            </a:r>
            <a:r>
              <a:rPr lang="sv-SE" dirty="0"/>
              <a:t> 2</a:t>
            </a:r>
            <a:endParaRPr lang="en-US" dirty="0"/>
          </a:p>
        </p:txBody>
      </p:sp>
      <p:sp>
        <p:nvSpPr>
          <p:cNvPr id="32" name="TextBox 31">
            <a:extLst>
              <a:ext uri="{FF2B5EF4-FFF2-40B4-BE49-F238E27FC236}">
                <a16:creationId xmlns:a16="http://schemas.microsoft.com/office/drawing/2014/main" id="{884B5AA6-AF6B-41CA-885D-376629D6AE0E}"/>
              </a:ext>
            </a:extLst>
          </p:cNvPr>
          <p:cNvSpPr txBox="1"/>
          <p:nvPr/>
        </p:nvSpPr>
        <p:spPr>
          <a:xfrm>
            <a:off x="3407101" y="4570060"/>
            <a:ext cx="843436" cy="369332"/>
          </a:xfrm>
          <a:prstGeom prst="rect">
            <a:avLst/>
          </a:prstGeom>
          <a:noFill/>
        </p:spPr>
        <p:txBody>
          <a:bodyPr wrap="none" rtlCol="0">
            <a:spAutoFit/>
          </a:bodyPr>
          <a:lstStyle/>
          <a:p>
            <a:r>
              <a:rPr lang="sv-SE" dirty="0" err="1"/>
              <a:t>Level</a:t>
            </a:r>
            <a:r>
              <a:rPr lang="sv-SE" dirty="0"/>
              <a:t> 3</a:t>
            </a:r>
            <a:endParaRPr lang="en-US" dirty="0"/>
          </a:p>
        </p:txBody>
      </p:sp>
      <p:sp>
        <p:nvSpPr>
          <p:cNvPr id="33" name="TextBox 32">
            <a:extLst>
              <a:ext uri="{FF2B5EF4-FFF2-40B4-BE49-F238E27FC236}">
                <a16:creationId xmlns:a16="http://schemas.microsoft.com/office/drawing/2014/main" id="{9D9E8821-88A3-4DB1-8E05-04F15036D255}"/>
              </a:ext>
            </a:extLst>
          </p:cNvPr>
          <p:cNvSpPr txBox="1"/>
          <p:nvPr/>
        </p:nvSpPr>
        <p:spPr>
          <a:xfrm>
            <a:off x="4623286" y="4383286"/>
            <a:ext cx="843436" cy="369332"/>
          </a:xfrm>
          <a:prstGeom prst="rect">
            <a:avLst/>
          </a:prstGeom>
          <a:noFill/>
        </p:spPr>
        <p:txBody>
          <a:bodyPr wrap="none" rtlCol="0">
            <a:spAutoFit/>
          </a:bodyPr>
          <a:lstStyle/>
          <a:p>
            <a:r>
              <a:rPr lang="sv-SE" dirty="0" err="1"/>
              <a:t>Level</a:t>
            </a:r>
            <a:r>
              <a:rPr lang="sv-SE" dirty="0"/>
              <a:t> 4</a:t>
            </a:r>
            <a:endParaRPr lang="en-US" dirty="0"/>
          </a:p>
        </p:txBody>
      </p:sp>
      <p:sp>
        <p:nvSpPr>
          <p:cNvPr id="34" name="Content Placeholder 2">
            <a:extLst>
              <a:ext uri="{FF2B5EF4-FFF2-40B4-BE49-F238E27FC236}">
                <a16:creationId xmlns:a16="http://schemas.microsoft.com/office/drawing/2014/main" id="{481F8360-E24D-4941-9649-EC3192DCFF5B}"/>
              </a:ext>
            </a:extLst>
          </p:cNvPr>
          <p:cNvSpPr txBox="1">
            <a:spLocks/>
          </p:cNvSpPr>
          <p:nvPr/>
        </p:nvSpPr>
        <p:spPr>
          <a:xfrm>
            <a:off x="457200" y="1602000"/>
            <a:ext cx="8368748" cy="4525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sv-SE" sz="1800" dirty="0" err="1"/>
              <a:t>We</a:t>
            </a:r>
            <a:r>
              <a:rPr lang="sv-SE" sz="1800" dirty="0"/>
              <a:t> start from the full image at </a:t>
            </a:r>
            <a:r>
              <a:rPr lang="sv-SE" sz="1800" dirty="0" err="1"/>
              <a:t>level</a:t>
            </a:r>
            <a:r>
              <a:rPr lang="sv-SE" sz="1800" dirty="0"/>
              <a:t> 0, </a:t>
            </a:r>
            <a:r>
              <a:rPr lang="sv-SE" sz="1800" dirty="0" err="1"/>
              <a:t>where</a:t>
            </a:r>
            <a:r>
              <a:rPr lang="sv-SE" sz="1800" dirty="0"/>
              <a:t> all </a:t>
            </a:r>
            <a:r>
              <a:rPr lang="sv-SE" sz="1800" dirty="0" err="1"/>
              <a:t>details</a:t>
            </a:r>
            <a:r>
              <a:rPr lang="sv-SE" sz="1800" dirty="0"/>
              <a:t> </a:t>
            </a:r>
            <a:r>
              <a:rPr lang="sv-SE" sz="1800" dirty="0" err="1"/>
              <a:t>are</a:t>
            </a:r>
            <a:r>
              <a:rPr lang="sv-SE" sz="1800" dirty="0"/>
              <a:t> present. </a:t>
            </a:r>
          </a:p>
          <a:p>
            <a:pPr lvl="1"/>
            <a:r>
              <a:rPr lang="sv-SE" sz="1400" dirty="0" err="1"/>
              <a:t>We</a:t>
            </a:r>
            <a:r>
              <a:rPr lang="sv-SE" sz="1400" dirty="0"/>
              <a:t> </a:t>
            </a:r>
            <a:r>
              <a:rPr lang="sv-SE" sz="1400" dirty="0" err="1"/>
              <a:t>can</a:t>
            </a:r>
            <a:r>
              <a:rPr lang="sv-SE" sz="1400" dirty="0"/>
              <a:t> </a:t>
            </a:r>
            <a:r>
              <a:rPr lang="sv-SE" sz="1400" dirty="0" err="1"/>
              <a:t>only</a:t>
            </a:r>
            <a:r>
              <a:rPr lang="sv-SE" sz="1400" dirty="0"/>
              <a:t> </a:t>
            </a:r>
            <a:r>
              <a:rPr lang="sv-SE" sz="1400" dirty="0" err="1"/>
              <a:t>detect</a:t>
            </a:r>
            <a:r>
              <a:rPr lang="sv-SE" sz="1400" dirty="0"/>
              <a:t> </a:t>
            </a:r>
            <a:r>
              <a:rPr lang="sv-SE" sz="1400" dirty="0" err="1"/>
              <a:t>minutia</a:t>
            </a:r>
            <a:r>
              <a:rPr lang="sv-SE" sz="1400" dirty="0"/>
              <a:t> </a:t>
            </a:r>
            <a:r>
              <a:rPr lang="sv-SE" sz="1400" dirty="0" err="1"/>
              <a:t>points</a:t>
            </a:r>
            <a:r>
              <a:rPr lang="sv-SE" sz="1400" dirty="0"/>
              <a:t> at </a:t>
            </a:r>
            <a:r>
              <a:rPr lang="sv-SE" sz="1400" dirty="0" err="1"/>
              <a:t>this</a:t>
            </a:r>
            <a:r>
              <a:rPr lang="sv-SE" sz="1400" dirty="0"/>
              <a:t> </a:t>
            </a:r>
            <a:r>
              <a:rPr lang="sv-SE" sz="1400" dirty="0" err="1"/>
              <a:t>level</a:t>
            </a:r>
            <a:r>
              <a:rPr lang="sv-SE" sz="1400" dirty="0"/>
              <a:t>, </a:t>
            </a:r>
            <a:r>
              <a:rPr lang="sv-SE" sz="1400" dirty="0" err="1"/>
              <a:t>since</a:t>
            </a:r>
            <a:r>
              <a:rPr lang="sv-SE" sz="1400" dirty="0"/>
              <a:t> </a:t>
            </a:r>
            <a:r>
              <a:rPr lang="sv-SE" sz="1400" dirty="0" err="1"/>
              <a:t>they</a:t>
            </a:r>
            <a:r>
              <a:rPr lang="sv-SE" sz="1400" dirty="0"/>
              <a:t> </a:t>
            </a:r>
            <a:r>
              <a:rPr lang="sv-SE" sz="1400" dirty="0" err="1"/>
              <a:t>are</a:t>
            </a:r>
            <a:r>
              <a:rPr lang="sv-SE" sz="1400" dirty="0"/>
              <a:t> fine </a:t>
            </a:r>
            <a:r>
              <a:rPr lang="sv-SE" sz="1400" dirty="0" err="1"/>
              <a:t>details</a:t>
            </a:r>
            <a:r>
              <a:rPr lang="sv-SE" sz="1400" dirty="0"/>
              <a:t> in the image</a:t>
            </a:r>
          </a:p>
          <a:p>
            <a:r>
              <a:rPr lang="sv-SE" sz="1800" dirty="0" err="1"/>
              <a:t>We</a:t>
            </a:r>
            <a:r>
              <a:rPr lang="sv-SE" sz="1800" dirty="0"/>
              <a:t> </a:t>
            </a:r>
            <a:r>
              <a:rPr lang="sv-SE" sz="1800" dirty="0" err="1"/>
              <a:t>low</a:t>
            </a:r>
            <a:r>
              <a:rPr lang="sv-SE" sz="1800" dirty="0"/>
              <a:t>-pass filter the image to </a:t>
            </a:r>
            <a:r>
              <a:rPr lang="sv-SE" sz="1800" dirty="0" err="1"/>
              <a:t>remove</a:t>
            </a:r>
            <a:r>
              <a:rPr lang="sv-SE" sz="1800" dirty="0"/>
              <a:t> </a:t>
            </a:r>
            <a:r>
              <a:rPr lang="sv-SE" sz="1800" dirty="0" err="1"/>
              <a:t>details</a:t>
            </a:r>
            <a:r>
              <a:rPr lang="sv-SE" sz="1800" dirty="0"/>
              <a:t> and </a:t>
            </a:r>
            <a:r>
              <a:rPr lang="sv-SE" sz="1800" dirty="0" err="1"/>
              <a:t>then</a:t>
            </a:r>
            <a:r>
              <a:rPr lang="sv-SE" sz="1800" dirty="0"/>
              <a:t> </a:t>
            </a:r>
            <a:r>
              <a:rPr lang="sv-SE" sz="1800" dirty="0" err="1"/>
              <a:t>reduce</a:t>
            </a:r>
            <a:r>
              <a:rPr lang="sv-SE" sz="1800" dirty="0"/>
              <a:t> the </a:t>
            </a:r>
            <a:r>
              <a:rPr lang="sv-SE" sz="1800" dirty="0" err="1"/>
              <a:t>size</a:t>
            </a:r>
            <a:r>
              <a:rPr lang="sv-SE" sz="1800" dirty="0"/>
              <a:t> by </a:t>
            </a:r>
            <a:r>
              <a:rPr lang="sv-SE" sz="1800" dirty="0" err="1"/>
              <a:t>half</a:t>
            </a:r>
            <a:endParaRPr lang="sv-SE" sz="1400" dirty="0"/>
          </a:p>
          <a:p>
            <a:r>
              <a:rPr lang="en-US" sz="1800" dirty="0"/>
              <a:t>In higher levels only global/macro details are present (cores and deltas) and they are easier to detect</a:t>
            </a:r>
          </a:p>
          <a:p>
            <a:r>
              <a:rPr lang="en-US" sz="1800" dirty="0"/>
              <a:t>Once detected in a upper levels we can update their position in lower levels. More accurate than trying to directly detect them at level 0</a:t>
            </a:r>
          </a:p>
        </p:txBody>
      </p:sp>
      <p:sp>
        <p:nvSpPr>
          <p:cNvPr id="36" name="Oval 35">
            <a:extLst>
              <a:ext uri="{FF2B5EF4-FFF2-40B4-BE49-F238E27FC236}">
                <a16:creationId xmlns:a16="http://schemas.microsoft.com/office/drawing/2014/main" id="{D2452C1E-6256-407A-A3F8-EC08113CCD2F}"/>
              </a:ext>
            </a:extLst>
          </p:cNvPr>
          <p:cNvSpPr/>
          <p:nvPr/>
        </p:nvSpPr>
        <p:spPr>
          <a:xfrm>
            <a:off x="4250537" y="4815281"/>
            <a:ext cx="124799" cy="955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1ED9F63B-972D-40EA-9C85-ECF2DDAB81D0}"/>
              </a:ext>
            </a:extLst>
          </p:cNvPr>
          <p:cNvSpPr/>
          <p:nvPr/>
        </p:nvSpPr>
        <p:spPr>
          <a:xfrm>
            <a:off x="4197395" y="5244993"/>
            <a:ext cx="124799" cy="955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FBBC690-C5F4-4571-9D48-1E9E6553AF60}"/>
              </a:ext>
            </a:extLst>
          </p:cNvPr>
          <p:cNvSpPr/>
          <p:nvPr/>
        </p:nvSpPr>
        <p:spPr>
          <a:xfrm>
            <a:off x="4064532" y="5947178"/>
            <a:ext cx="124799" cy="955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32B1AB3-DAFD-4B16-805B-67EF6D8500A5}"/>
              </a:ext>
            </a:extLst>
          </p:cNvPr>
          <p:cNvSpPr/>
          <p:nvPr/>
        </p:nvSpPr>
        <p:spPr>
          <a:xfrm>
            <a:off x="4318711" y="4481368"/>
            <a:ext cx="124799" cy="955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Connector: Elbow 42">
            <a:extLst>
              <a:ext uri="{FF2B5EF4-FFF2-40B4-BE49-F238E27FC236}">
                <a16:creationId xmlns:a16="http://schemas.microsoft.com/office/drawing/2014/main" id="{DB7032D3-10DA-40EB-A904-107BC66E924D}"/>
              </a:ext>
            </a:extLst>
          </p:cNvPr>
          <p:cNvCxnSpPr>
            <a:cxnSpLocks/>
            <a:stCxn id="39" idx="4"/>
            <a:endCxn id="36" idx="0"/>
          </p:cNvCxnSpPr>
          <p:nvPr/>
        </p:nvCxnSpPr>
        <p:spPr>
          <a:xfrm rot="5400000">
            <a:off x="4227818" y="4661988"/>
            <a:ext cx="238412" cy="68174"/>
          </a:xfrm>
          <a:prstGeom prst="bentConnector3">
            <a:avLst>
              <a:gd name="adj1" fmla="val 50000"/>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44" name="Connector: Elbow 43">
            <a:extLst>
              <a:ext uri="{FF2B5EF4-FFF2-40B4-BE49-F238E27FC236}">
                <a16:creationId xmlns:a16="http://schemas.microsoft.com/office/drawing/2014/main" id="{F5B4E208-2B9F-41F7-A26D-4272AC742467}"/>
              </a:ext>
            </a:extLst>
          </p:cNvPr>
          <p:cNvCxnSpPr>
            <a:cxnSpLocks/>
            <a:stCxn id="36" idx="4"/>
            <a:endCxn id="37" idx="0"/>
          </p:cNvCxnSpPr>
          <p:nvPr/>
        </p:nvCxnSpPr>
        <p:spPr>
          <a:xfrm rot="5400000">
            <a:off x="4119261" y="5051316"/>
            <a:ext cx="334211" cy="53142"/>
          </a:xfrm>
          <a:prstGeom prst="bentConnector3">
            <a:avLst>
              <a:gd name="adj1" fmla="val 50000"/>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48" name="Connector: Elbow 47">
            <a:extLst>
              <a:ext uri="{FF2B5EF4-FFF2-40B4-BE49-F238E27FC236}">
                <a16:creationId xmlns:a16="http://schemas.microsoft.com/office/drawing/2014/main" id="{2D1D0EAB-6B5A-4FC5-AEE1-0F8C9190CA31}"/>
              </a:ext>
            </a:extLst>
          </p:cNvPr>
          <p:cNvCxnSpPr>
            <a:cxnSpLocks/>
            <a:stCxn id="37" idx="4"/>
            <a:endCxn id="38" idx="0"/>
          </p:cNvCxnSpPr>
          <p:nvPr/>
        </p:nvCxnSpPr>
        <p:spPr>
          <a:xfrm rot="5400000">
            <a:off x="3890022" y="5577405"/>
            <a:ext cx="606684" cy="132863"/>
          </a:xfrm>
          <a:prstGeom prst="bentConnector3">
            <a:avLst>
              <a:gd name="adj1" fmla="val 50000"/>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423548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B1802-A4AC-4DD4-961D-5C3AB2CFC6AB}"/>
              </a:ext>
            </a:extLst>
          </p:cNvPr>
          <p:cNvSpPr>
            <a:spLocks noGrp="1"/>
          </p:cNvSpPr>
          <p:nvPr>
            <p:ph type="title"/>
          </p:nvPr>
        </p:nvSpPr>
        <p:spPr/>
        <p:txBody>
          <a:bodyPr>
            <a:normAutofit fontScale="90000"/>
          </a:bodyPr>
          <a:lstStyle/>
          <a:p>
            <a:r>
              <a:rPr lang="sv-SE" dirty="0"/>
              <a:t>Fingerprint </a:t>
            </a:r>
            <a:r>
              <a:rPr lang="sv-SE" dirty="0" err="1"/>
              <a:t>Recognition</a:t>
            </a:r>
            <a:r>
              <a:rPr lang="sv-SE" dirty="0"/>
              <a:t>: </a:t>
            </a:r>
            <a:r>
              <a:rPr lang="sv-SE" dirty="0" err="1"/>
              <a:t>summary</a:t>
            </a:r>
            <a:r>
              <a:rPr lang="sv-SE" dirty="0"/>
              <a:t> </a:t>
            </a:r>
            <a:r>
              <a:rPr lang="sv-SE" dirty="0" err="1"/>
              <a:t>of</a:t>
            </a:r>
            <a:r>
              <a:rPr lang="sv-SE" dirty="0"/>
              <a:t> </a:t>
            </a:r>
            <a:r>
              <a:rPr lang="sv-SE" dirty="0" err="1"/>
              <a:t>detection</a:t>
            </a:r>
            <a:r>
              <a:rPr lang="sv-SE" dirty="0"/>
              <a:t> </a:t>
            </a:r>
            <a:r>
              <a:rPr lang="sv-SE" dirty="0" err="1"/>
              <a:t>procedure</a:t>
            </a:r>
            <a:endParaRPr lang="en-US" dirty="0"/>
          </a:p>
        </p:txBody>
      </p:sp>
      <p:sp>
        <p:nvSpPr>
          <p:cNvPr id="3" name="Content Placeholder 2">
            <a:extLst>
              <a:ext uri="{FF2B5EF4-FFF2-40B4-BE49-F238E27FC236}">
                <a16:creationId xmlns:a16="http://schemas.microsoft.com/office/drawing/2014/main" id="{E0FB6476-BF96-49B2-8D6A-2B6329F80E20}"/>
              </a:ext>
            </a:extLst>
          </p:cNvPr>
          <p:cNvSpPr>
            <a:spLocks noGrp="1"/>
          </p:cNvSpPr>
          <p:nvPr>
            <p:ph idx="1"/>
          </p:nvPr>
        </p:nvSpPr>
        <p:spPr/>
        <p:txBody>
          <a:bodyPr>
            <a:noAutofit/>
          </a:bodyPr>
          <a:lstStyle/>
          <a:p>
            <a:r>
              <a:rPr lang="sv-SE" sz="1800" dirty="0" err="1"/>
              <a:t>Cores</a:t>
            </a:r>
            <a:r>
              <a:rPr lang="sv-SE" sz="1800" dirty="0"/>
              <a:t>/delta </a:t>
            </a:r>
            <a:r>
              <a:rPr lang="sv-SE" sz="1800" dirty="0" err="1"/>
              <a:t>points</a:t>
            </a:r>
            <a:r>
              <a:rPr lang="sv-SE" sz="1800" dirty="0"/>
              <a:t>:</a:t>
            </a:r>
          </a:p>
          <a:p>
            <a:pPr lvl="1"/>
            <a:r>
              <a:rPr lang="sv-SE" sz="1800" dirty="0" err="1"/>
              <a:t>Core</a:t>
            </a:r>
            <a:r>
              <a:rPr lang="sv-SE" sz="1800" dirty="0"/>
              <a:t>/delta </a:t>
            </a:r>
            <a:r>
              <a:rPr lang="sv-SE" sz="1800" dirty="0" err="1"/>
              <a:t>points</a:t>
            </a:r>
            <a:r>
              <a:rPr lang="sv-SE" sz="1800" dirty="0"/>
              <a:t> </a:t>
            </a:r>
            <a:r>
              <a:rPr lang="sv-SE" sz="1800" dirty="0" err="1"/>
              <a:t>are</a:t>
            </a:r>
            <a:r>
              <a:rPr lang="sv-SE" sz="1800" dirty="0"/>
              <a:t> </a:t>
            </a:r>
            <a:r>
              <a:rPr lang="sv-SE" sz="1800" dirty="0" err="1"/>
              <a:t>available</a:t>
            </a:r>
            <a:r>
              <a:rPr lang="sv-SE" sz="1800" dirty="0"/>
              <a:t> in all </a:t>
            </a:r>
            <a:r>
              <a:rPr lang="sv-SE" sz="1800" dirty="0" err="1"/>
              <a:t>scales</a:t>
            </a:r>
            <a:r>
              <a:rPr lang="sv-SE" sz="1800" dirty="0"/>
              <a:t> </a:t>
            </a:r>
            <a:r>
              <a:rPr lang="sv-SE" sz="1800" dirty="0" err="1"/>
              <a:t>of</a:t>
            </a:r>
            <a:r>
              <a:rPr lang="sv-SE" sz="1800" dirty="0"/>
              <a:t> the pyramid, </a:t>
            </a:r>
            <a:r>
              <a:rPr lang="sv-SE" sz="1800" dirty="0" err="1"/>
              <a:t>thus</a:t>
            </a:r>
            <a:r>
              <a:rPr lang="sv-SE" sz="1800" dirty="0"/>
              <a:t> </a:t>
            </a:r>
            <a:r>
              <a:rPr lang="sv-SE" sz="1800" dirty="0" err="1"/>
              <a:t>find</a:t>
            </a:r>
            <a:r>
              <a:rPr lang="sv-SE" sz="1800" dirty="0"/>
              <a:t> </a:t>
            </a:r>
            <a:r>
              <a:rPr lang="sv-SE" sz="1800" dirty="0" err="1"/>
              <a:t>them</a:t>
            </a:r>
            <a:r>
              <a:rPr lang="sv-SE" sz="1800" dirty="0"/>
              <a:t> in a </a:t>
            </a:r>
            <a:r>
              <a:rPr lang="sv-SE" sz="1800" dirty="0" err="1"/>
              <a:t>higher</a:t>
            </a:r>
            <a:r>
              <a:rPr lang="sv-SE" sz="1800" dirty="0"/>
              <a:t> </a:t>
            </a:r>
            <a:r>
              <a:rPr lang="sv-SE" sz="1800" dirty="0" err="1"/>
              <a:t>level</a:t>
            </a:r>
            <a:r>
              <a:rPr lang="sv-SE" sz="1800" dirty="0"/>
              <a:t> (</a:t>
            </a:r>
            <a:r>
              <a:rPr lang="sv-SE" sz="1800" dirty="0" err="1"/>
              <a:t>e.g</a:t>
            </a:r>
            <a:r>
              <a:rPr lang="sv-SE" sz="1800" dirty="0"/>
              <a:t> 3)</a:t>
            </a:r>
          </a:p>
          <a:p>
            <a:pPr lvl="1"/>
            <a:r>
              <a:rPr lang="sv-SE" sz="1800" dirty="0" err="1"/>
              <a:t>Then</a:t>
            </a:r>
            <a:r>
              <a:rPr lang="sv-SE" sz="1800" dirty="0"/>
              <a:t> go down to the </a:t>
            </a:r>
            <a:r>
              <a:rPr lang="sv-SE" sz="1800" dirty="0" err="1"/>
              <a:t>lower</a:t>
            </a:r>
            <a:r>
              <a:rPr lang="sv-SE" sz="1800" dirty="0"/>
              <a:t> </a:t>
            </a:r>
            <a:r>
              <a:rPr lang="sv-SE" sz="1800" dirty="0" err="1"/>
              <a:t>scales</a:t>
            </a:r>
            <a:r>
              <a:rPr lang="sv-SE" sz="1800" dirty="0"/>
              <a:t> and </a:t>
            </a:r>
            <a:r>
              <a:rPr lang="sv-SE" sz="1800" dirty="0" err="1"/>
              <a:t>refine</a:t>
            </a:r>
            <a:r>
              <a:rPr lang="sv-SE" sz="1800" dirty="0"/>
              <a:t> the position </a:t>
            </a:r>
            <a:r>
              <a:rPr lang="sv-SE" sz="1800" dirty="0" err="1"/>
              <a:t>of</a:t>
            </a:r>
            <a:r>
              <a:rPr lang="sv-SE" sz="1800" dirty="0"/>
              <a:t> the </a:t>
            </a:r>
            <a:r>
              <a:rPr lang="sv-SE" sz="1800" dirty="0" err="1"/>
              <a:t>detected</a:t>
            </a:r>
            <a:r>
              <a:rPr lang="sv-SE" sz="1800" dirty="0"/>
              <a:t> </a:t>
            </a:r>
            <a:r>
              <a:rPr lang="sv-SE" sz="1800" dirty="0" err="1"/>
              <a:t>core</a:t>
            </a:r>
            <a:r>
              <a:rPr lang="sv-SE" sz="1800" dirty="0"/>
              <a:t>/delta by </a:t>
            </a:r>
            <a:r>
              <a:rPr lang="sv-SE" sz="1800" dirty="0" err="1"/>
              <a:t>looking</a:t>
            </a:r>
            <a:r>
              <a:rPr lang="sv-SE" sz="1800" dirty="0"/>
              <a:t> </a:t>
            </a:r>
            <a:r>
              <a:rPr lang="sv-SE" sz="1800" dirty="0" err="1"/>
              <a:t>around</a:t>
            </a:r>
            <a:r>
              <a:rPr lang="sv-SE" sz="1800" dirty="0"/>
              <a:t> the position from the </a:t>
            </a:r>
            <a:r>
              <a:rPr lang="sv-SE" sz="1800" dirty="0" err="1"/>
              <a:t>previous</a:t>
            </a:r>
            <a:r>
              <a:rPr lang="sv-SE" sz="1800" dirty="0"/>
              <a:t> </a:t>
            </a:r>
            <a:r>
              <a:rPr lang="sv-SE" sz="1800" dirty="0" err="1"/>
              <a:t>scale</a:t>
            </a:r>
            <a:r>
              <a:rPr lang="sv-SE" sz="1800" dirty="0"/>
              <a:t>. Go </a:t>
            </a:r>
            <a:r>
              <a:rPr lang="sv-SE" sz="1800" dirty="0" err="1"/>
              <a:t>until</a:t>
            </a:r>
            <a:r>
              <a:rPr lang="sv-SE" sz="1800" dirty="0"/>
              <a:t> </a:t>
            </a:r>
            <a:r>
              <a:rPr lang="sv-SE" sz="1800" dirty="0" err="1"/>
              <a:t>level</a:t>
            </a:r>
            <a:r>
              <a:rPr lang="sv-SE" sz="1800" dirty="0"/>
              <a:t> 0 (</a:t>
            </a:r>
            <a:r>
              <a:rPr lang="sv-SE" sz="1800" dirty="0" err="1"/>
              <a:t>highest</a:t>
            </a:r>
            <a:r>
              <a:rPr lang="sv-SE" sz="1800" dirty="0"/>
              <a:t> resolution)</a:t>
            </a:r>
          </a:p>
          <a:p>
            <a:endParaRPr lang="sv-SE" sz="1800" dirty="0"/>
          </a:p>
          <a:p>
            <a:r>
              <a:rPr lang="sv-SE" sz="1800" dirty="0" err="1"/>
              <a:t>Minutia</a:t>
            </a:r>
            <a:r>
              <a:rPr lang="sv-SE" sz="1800" dirty="0"/>
              <a:t> </a:t>
            </a:r>
            <a:r>
              <a:rPr lang="sv-SE" sz="1800" dirty="0" err="1"/>
              <a:t>points</a:t>
            </a:r>
            <a:r>
              <a:rPr lang="sv-SE" sz="1800" dirty="0"/>
              <a:t>:</a:t>
            </a:r>
          </a:p>
          <a:p>
            <a:pPr lvl="1"/>
            <a:r>
              <a:rPr lang="sv-SE" sz="1800" dirty="0" err="1"/>
              <a:t>Minutia</a:t>
            </a:r>
            <a:r>
              <a:rPr lang="sv-SE" sz="1800" dirty="0"/>
              <a:t> </a:t>
            </a:r>
            <a:r>
              <a:rPr lang="sv-SE" sz="1800" dirty="0" err="1"/>
              <a:t>points</a:t>
            </a:r>
            <a:r>
              <a:rPr lang="sv-SE" sz="1800" dirty="0"/>
              <a:t> </a:t>
            </a:r>
            <a:r>
              <a:rPr lang="sv-SE" sz="1800" dirty="0" err="1"/>
              <a:t>are</a:t>
            </a:r>
            <a:r>
              <a:rPr lang="sv-SE" sz="1800" dirty="0"/>
              <a:t> </a:t>
            </a:r>
            <a:r>
              <a:rPr lang="sv-SE" sz="1800" dirty="0" err="1"/>
              <a:t>only</a:t>
            </a:r>
            <a:r>
              <a:rPr lang="sv-SE" sz="1800" dirty="0"/>
              <a:t> </a:t>
            </a:r>
            <a:r>
              <a:rPr lang="sv-SE" sz="1800" dirty="0" err="1"/>
              <a:t>available</a:t>
            </a:r>
            <a:r>
              <a:rPr lang="sv-SE" sz="1800" dirty="0"/>
              <a:t> at </a:t>
            </a:r>
            <a:r>
              <a:rPr lang="sv-SE" sz="1800" dirty="0" err="1"/>
              <a:t>lower</a:t>
            </a:r>
            <a:r>
              <a:rPr lang="sv-SE" sz="1800" dirty="0"/>
              <a:t> </a:t>
            </a:r>
            <a:r>
              <a:rPr lang="sv-SE" sz="1800" dirty="0" err="1"/>
              <a:t>scales</a:t>
            </a:r>
            <a:r>
              <a:rPr lang="sv-SE" sz="1800" dirty="0"/>
              <a:t>, </a:t>
            </a:r>
            <a:r>
              <a:rPr lang="sv-SE" sz="1800" dirty="0" err="1"/>
              <a:t>detect</a:t>
            </a:r>
            <a:r>
              <a:rPr lang="sv-SE" sz="1800" dirty="0"/>
              <a:t> </a:t>
            </a:r>
            <a:r>
              <a:rPr lang="sv-SE" sz="1800" dirty="0" err="1"/>
              <a:t>them</a:t>
            </a:r>
            <a:r>
              <a:rPr lang="sv-SE" sz="1800" dirty="0"/>
              <a:t> at the </a:t>
            </a:r>
            <a:r>
              <a:rPr lang="sv-SE" sz="1800" dirty="0" err="1"/>
              <a:t>highest</a:t>
            </a:r>
            <a:r>
              <a:rPr lang="sv-SE" sz="1800" dirty="0"/>
              <a:t> resolution (</a:t>
            </a:r>
            <a:r>
              <a:rPr lang="sv-SE" sz="1800" dirty="0" err="1"/>
              <a:t>scale</a:t>
            </a:r>
            <a:r>
              <a:rPr lang="sv-SE" sz="1800" dirty="0"/>
              <a:t> 0)</a:t>
            </a:r>
          </a:p>
          <a:p>
            <a:pPr lvl="1"/>
            <a:r>
              <a:rPr lang="sv-SE" sz="1800" dirty="0" err="1"/>
              <a:t>Minutia</a:t>
            </a:r>
            <a:r>
              <a:rPr lang="sv-SE" sz="1800" dirty="0"/>
              <a:t> </a:t>
            </a:r>
            <a:r>
              <a:rPr lang="sv-SE" sz="1800" dirty="0" err="1"/>
              <a:t>points</a:t>
            </a:r>
            <a:r>
              <a:rPr lang="sv-SE" sz="1800" dirty="0"/>
              <a:t> </a:t>
            </a:r>
            <a:r>
              <a:rPr lang="sv-SE" sz="1800" dirty="0" err="1"/>
              <a:t>are</a:t>
            </a:r>
            <a:r>
              <a:rPr lang="sv-SE" sz="1800" dirty="0"/>
              <a:t> </a:t>
            </a:r>
            <a:r>
              <a:rPr lang="sv-SE" sz="1800" dirty="0" err="1"/>
              <a:t>difficult</a:t>
            </a:r>
            <a:r>
              <a:rPr lang="sv-SE" sz="1800" dirty="0"/>
              <a:t> to </a:t>
            </a:r>
            <a:r>
              <a:rPr lang="sv-SE" sz="1800" dirty="0" err="1"/>
              <a:t>detect</a:t>
            </a:r>
            <a:r>
              <a:rPr lang="sv-SE" sz="1800" dirty="0"/>
              <a:t> </a:t>
            </a:r>
            <a:r>
              <a:rPr lang="sv-SE" sz="1800" dirty="0" err="1"/>
              <a:t>anyways</a:t>
            </a:r>
            <a:r>
              <a:rPr lang="sv-SE" sz="1800" dirty="0"/>
              <a:t> </a:t>
            </a:r>
            <a:r>
              <a:rPr lang="sv-SE" sz="1800" dirty="0" err="1"/>
              <a:t>if</a:t>
            </a:r>
            <a:r>
              <a:rPr lang="sv-SE" sz="1800" dirty="0"/>
              <a:t> </a:t>
            </a:r>
            <a:r>
              <a:rPr lang="sv-SE" sz="1800" dirty="0" err="1"/>
              <a:t>quality</a:t>
            </a:r>
            <a:r>
              <a:rPr lang="sv-SE" sz="1800" dirty="0"/>
              <a:t> </a:t>
            </a:r>
            <a:r>
              <a:rPr lang="sv-SE" sz="1800" dirty="0" err="1"/>
              <a:t>of</a:t>
            </a:r>
            <a:r>
              <a:rPr lang="sv-SE" sz="1800" dirty="0"/>
              <a:t> the fingerprint is bad</a:t>
            </a:r>
          </a:p>
          <a:p>
            <a:pPr lvl="1"/>
            <a:r>
              <a:rPr lang="sv-SE" sz="1800" dirty="0" err="1"/>
              <a:t>Then</a:t>
            </a:r>
            <a:r>
              <a:rPr lang="sv-SE" sz="1800" dirty="0"/>
              <a:t> it </a:t>
            </a:r>
            <a:r>
              <a:rPr lang="sv-SE" sz="1800" dirty="0" err="1"/>
              <a:t>may</a:t>
            </a:r>
            <a:r>
              <a:rPr lang="sv-SE" sz="1800" dirty="0"/>
              <a:t> be </a:t>
            </a:r>
            <a:r>
              <a:rPr lang="sv-SE" sz="1800" dirty="0" err="1"/>
              <a:t>necessary</a:t>
            </a:r>
            <a:r>
              <a:rPr lang="sv-SE" sz="1800" dirty="0"/>
              <a:t> to </a:t>
            </a:r>
            <a:r>
              <a:rPr lang="sv-SE" sz="1800" dirty="0" err="1"/>
              <a:t>enhance</a:t>
            </a:r>
            <a:r>
              <a:rPr lang="sv-SE" sz="1800" dirty="0"/>
              <a:t> the image </a:t>
            </a:r>
            <a:r>
              <a:rPr lang="sv-SE" sz="1800" dirty="0" err="1"/>
              <a:t>before</a:t>
            </a:r>
            <a:r>
              <a:rPr lang="sv-SE" sz="1800" dirty="0"/>
              <a:t> the gradient is </a:t>
            </a:r>
            <a:r>
              <a:rPr lang="sv-SE" sz="1800" dirty="0" err="1"/>
              <a:t>computed</a:t>
            </a:r>
            <a:r>
              <a:rPr lang="sv-SE" sz="1800" dirty="0"/>
              <a:t> (</a:t>
            </a:r>
            <a:r>
              <a:rPr lang="sv-SE" sz="1800" dirty="0" err="1"/>
              <a:t>will</a:t>
            </a:r>
            <a:r>
              <a:rPr lang="sv-SE" sz="1800" dirty="0"/>
              <a:t> se in the </a:t>
            </a:r>
            <a:r>
              <a:rPr lang="sv-SE" sz="1800" dirty="0" err="1"/>
              <a:t>lab</a:t>
            </a:r>
            <a:r>
              <a:rPr lang="sv-SE" sz="1800" dirty="0"/>
              <a:t> </a:t>
            </a:r>
            <a:r>
              <a:rPr lang="sv-SE" sz="1800" dirty="0" err="1"/>
              <a:t>exercise</a:t>
            </a:r>
            <a:r>
              <a:rPr lang="sv-SE" sz="1800" dirty="0"/>
              <a:t>)</a:t>
            </a:r>
            <a:endParaRPr lang="en-US" sz="1800" dirty="0"/>
          </a:p>
        </p:txBody>
      </p:sp>
    </p:spTree>
    <p:extLst>
      <p:ext uri="{BB962C8B-B14F-4D97-AF65-F5344CB8AC3E}">
        <p14:creationId xmlns:p14="http://schemas.microsoft.com/office/powerpoint/2010/main" val="2049467476"/>
      </p:ext>
    </p:extLst>
  </p:cSld>
  <p:clrMapOvr>
    <a:masterClrMapping/>
  </p:clrMapOvr>
</p:sld>
</file>

<file path=ppt/theme/theme1.xml><?xml version="1.0" encoding="utf-8"?>
<a:theme xmlns:a="http://schemas.openxmlformats.org/drawingml/2006/main" name="HH_Tema 2013-11-21">
  <a:themeElements>
    <a:clrScheme name="HH-mall">
      <a:dk1>
        <a:sysClr val="windowText" lastClr="000000"/>
      </a:dk1>
      <a:lt1>
        <a:sysClr val="window" lastClr="FFFFFF"/>
      </a:lt1>
      <a:dk2>
        <a:srgbClr val="1F497D"/>
      </a:dk2>
      <a:lt2>
        <a:srgbClr val="EEECE1"/>
      </a:lt2>
      <a:accent1>
        <a:srgbClr val="004985"/>
      </a:accent1>
      <a:accent2>
        <a:srgbClr val="22BBEA"/>
      </a:accent2>
      <a:accent3>
        <a:srgbClr val="006DB0"/>
      </a:accent3>
      <a:accent4>
        <a:srgbClr val="96C0E3"/>
      </a:accent4>
      <a:accent5>
        <a:srgbClr val="B81218"/>
      </a:accent5>
      <a:accent6>
        <a:srgbClr val="B0CC3B"/>
      </a:accent6>
      <a:hlink>
        <a:srgbClr val="0000FF"/>
      </a:hlink>
      <a:folHlink>
        <a:srgbClr val="800080"/>
      </a:folHlink>
    </a:clrScheme>
    <a:fontScheme name="HH-PPT">
      <a:majorFont>
        <a:latin typeface="Gill Sans Std"/>
        <a:ea typeface=""/>
        <a:cs typeface=""/>
      </a:majorFont>
      <a:minorFont>
        <a:latin typeface="Gill Sans St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HH - engelsk 2013-12-05.potx" id="{31544C79-F7C1-4CE1-9922-5D384AD6E040}" vid="{9E7DE78F-B962-4191-B2DD-C9FC866B5C03}"/>
    </a:ext>
  </a:extLst>
</a:theme>
</file>

<file path=docProps/app.xml><?xml version="1.0" encoding="utf-8"?>
<Properties xmlns="http://schemas.openxmlformats.org/officeDocument/2006/extended-properties" xmlns:vt="http://schemas.openxmlformats.org/officeDocument/2006/docPropsVTypes">
  <Template>PresentationENG</Template>
  <TotalTime>527</TotalTime>
  <Words>1215</Words>
  <Application>Microsoft Macintosh PowerPoint</Application>
  <PresentationFormat>On-screen Show (4:3)</PresentationFormat>
  <Paragraphs>209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Cambria Math</vt:lpstr>
      <vt:lpstr>Gill Sans Std</vt:lpstr>
      <vt:lpstr>Gill Sans Std Light</vt:lpstr>
      <vt:lpstr>HH_Tema 2013-11-21</vt:lpstr>
      <vt:lpstr>Biometric Recognition Lab  Fingerprint Recognition</vt:lpstr>
      <vt:lpstr>Fingerprint Recognition: Fingerprint Patterns</vt:lpstr>
      <vt:lpstr>Fingerprint Recognition: Fingerprint Patterns</vt:lpstr>
      <vt:lpstr>Fingerprint Recognition: Fingerprint Patterns</vt:lpstr>
      <vt:lpstr>Fingerprint Recognition: Fingerprint Patterns</vt:lpstr>
      <vt:lpstr>Fingerprint Recognition: Fingerprint Patterns</vt:lpstr>
      <vt:lpstr>Fingerprint Recognition: brief reminder of complex numbers</vt:lpstr>
      <vt:lpstr>Fingerprint Recognition: brief reminder of complex numbers</vt:lpstr>
      <vt:lpstr>Fingerprint Recognition: brief reminder of complex numbers</vt:lpstr>
      <vt:lpstr>Fingerprint Recognition: Detecting patterns in the image</vt:lpstr>
      <vt:lpstr>Fingerprint Recognition: Detecting patterns in the image</vt:lpstr>
      <vt:lpstr>Fingerprint Recognition: Detecting patterns in the image</vt:lpstr>
      <vt:lpstr>Fingerprint Recognition: Detecting patterns in the image</vt:lpstr>
      <vt:lpstr>Fingerprint Recognition: Detecting patterns in the image</vt:lpstr>
      <vt:lpstr>Fingerprint Recognition: Detecting patterns in the image</vt:lpstr>
      <vt:lpstr>Fingerprint Recognition: Detecting patterns in the image</vt:lpstr>
      <vt:lpstr>Fingerprint Recognition: Detecting patterns in the image</vt:lpstr>
      <vt:lpstr>Fingerprint Recognition: Detecting minutia points</vt:lpstr>
      <vt:lpstr>Fingerprint Recognition: Detecting minutia points</vt:lpstr>
      <vt:lpstr>Fingerprint Recognition: Pyramid detection</vt:lpstr>
      <vt:lpstr>Fingerprint Recognition: summary of detection procedure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Biometric Recognition Lab  Fingerprint Recognition</dc:title>
  <dc:creator>Kevin Hernández Diaz</dc:creator>
  <cp:lastModifiedBy>Marc Toiflhart</cp:lastModifiedBy>
  <cp:revision>30</cp:revision>
  <dcterms:created xsi:type="dcterms:W3CDTF">2020-10-07T06:26:44Z</dcterms:created>
  <dcterms:modified xsi:type="dcterms:W3CDTF">2025-10-26T15:50:21Z</dcterms:modified>
</cp:coreProperties>
</file>